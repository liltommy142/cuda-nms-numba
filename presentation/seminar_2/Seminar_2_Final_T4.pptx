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ecb14e0eb747cd" /><Relationship Type="http://schemas.openxmlformats.org/officeDocument/2006/relationships/extended-properties" Target="/docProps/app.xml" Id="R88f2a2ac6ff140c4" /><Relationship Type="http://schemas.openxmlformats.org/officeDocument/2006/relationships/officeDocument" Target="/ppt/presentation.xml" Id="R1f80f8b5049749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9feab5978f4366"/>
  </p:sldMasterIdLst>
  <p:notesMasterIdLst>
    <p:notesMasterId xmlns:r="http://schemas.openxmlformats.org/officeDocument/2006/relationships" r:id="R96c905fc78514b50"/>
  </p:notesMasterIdLst>
  <p:sldIdLst>
    <p:sldId xmlns:r="http://schemas.openxmlformats.org/officeDocument/2006/relationships" id="256" r:id="R24652829dc28417b"/>
    <p:sldId xmlns:r="http://schemas.openxmlformats.org/officeDocument/2006/relationships" id="257" r:id="R91e5c55dbf7147db"/>
    <p:sldId xmlns:r="http://schemas.openxmlformats.org/officeDocument/2006/relationships" id="258" r:id="Rbc3aa4ba14d44942"/>
    <p:sldId xmlns:r="http://schemas.openxmlformats.org/officeDocument/2006/relationships" id="259" r:id="R1aa1c3aa53474137"/>
    <p:sldId xmlns:r="http://schemas.openxmlformats.org/officeDocument/2006/relationships" id="260" r:id="R7e5bc12ff8d04f5f"/>
    <p:sldId xmlns:r="http://schemas.openxmlformats.org/officeDocument/2006/relationships" id="261" r:id="R4e1428dc3e0e4a48"/>
    <p:sldId xmlns:r="http://schemas.openxmlformats.org/officeDocument/2006/relationships" id="262" r:id="Ra71a19ee226941f1"/>
    <p:sldId xmlns:r="http://schemas.openxmlformats.org/officeDocument/2006/relationships" id="263" r:id="R67f869e86db24402"/>
    <p:sldId xmlns:r="http://schemas.openxmlformats.org/officeDocument/2006/relationships" id="264" r:id="R5ea059ff53394b9a"/>
    <p:sldId xmlns:r="http://schemas.openxmlformats.org/officeDocument/2006/relationships" id="265" r:id="Re4e713b32efb4db5"/>
    <p:sldId xmlns:r="http://schemas.openxmlformats.org/officeDocument/2006/relationships" id="266" r:id="R261e5e51f8344431"/>
    <p:sldId xmlns:r="http://schemas.openxmlformats.org/officeDocument/2006/relationships" id="267" r:id="R7ed73b396eed4c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66bd3305f94e36" /><Relationship Type="http://schemas.openxmlformats.org/officeDocument/2006/relationships/slideMaster" Target="/ppt/slideMasters/slideMaster1.xml" Id="Ra89feab5978f4366" /><Relationship Type="http://schemas.openxmlformats.org/officeDocument/2006/relationships/notesMaster" Target="/ppt/notesMasters/notesMaster1.xml" Id="R96c905fc78514b50" /><Relationship Type="http://schemas.openxmlformats.org/officeDocument/2006/relationships/presProps" Target="/ppt/presProps.xml" Id="R1edb52212a2945af" /><Relationship Type="http://schemas.openxmlformats.org/officeDocument/2006/relationships/viewProps" Target="/ppt/viewProps.xml" Id="Ra4a1faf1993f456c" /><Relationship Type="http://schemas.openxmlformats.org/officeDocument/2006/relationships/tableStyles" Target="/ppt/tableStyles.xml" Id="R9f8d715300c543f8" /><Relationship Type="http://schemas.openxmlformats.org/officeDocument/2006/relationships/slide" Target="/ppt/slides/slide1.xml" Id="R24652829dc28417b" /><Relationship Type="http://schemas.openxmlformats.org/officeDocument/2006/relationships/slide" Target="/ppt/slides/slide2.xml" Id="R91e5c55dbf7147db" /><Relationship Type="http://schemas.openxmlformats.org/officeDocument/2006/relationships/slide" Target="/ppt/slides/slide3.xml" Id="Rbc3aa4ba14d44942" /><Relationship Type="http://schemas.openxmlformats.org/officeDocument/2006/relationships/slide" Target="/ppt/slides/slide4.xml" Id="R1aa1c3aa53474137" /><Relationship Type="http://schemas.openxmlformats.org/officeDocument/2006/relationships/slide" Target="/ppt/slides/slide5.xml" Id="R7e5bc12ff8d04f5f" /><Relationship Type="http://schemas.openxmlformats.org/officeDocument/2006/relationships/slide" Target="/ppt/slides/slide6.xml" Id="R4e1428dc3e0e4a48" /><Relationship Type="http://schemas.openxmlformats.org/officeDocument/2006/relationships/slide" Target="/ppt/slides/slide7.xml" Id="Ra71a19ee226941f1" /><Relationship Type="http://schemas.openxmlformats.org/officeDocument/2006/relationships/slide" Target="/ppt/slides/slide8.xml" Id="R67f869e86db24402" /><Relationship Type="http://schemas.openxmlformats.org/officeDocument/2006/relationships/slide" Target="/ppt/slides/slide9.xml" Id="R5ea059ff53394b9a" /><Relationship Type="http://schemas.openxmlformats.org/officeDocument/2006/relationships/slide" Target="/ppt/slides/slide10.xml" Id="Re4e713b32efb4db5" /><Relationship Type="http://schemas.openxmlformats.org/officeDocument/2006/relationships/slide" Target="/ppt/slides/slide11.xml" Id="R261e5e51f8344431" /><Relationship Type="http://schemas.openxmlformats.org/officeDocument/2006/relationships/slide" Target="/ppt/slides/slide12.xml" Id="R7ed73b396eed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0abb185e6c4f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9f0538c67a4b60" /><Relationship Type="http://schemas.openxmlformats.org/officeDocument/2006/relationships/notesMaster" Target="/ppt/notesMasters/notesMaster1.xml" Id="Rd09888dc586140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9815f5207a4c6d" /><Relationship Type="http://schemas.openxmlformats.org/officeDocument/2006/relationships/notesMaster" Target="/ppt/notesMasters/notesMaster1.xml" Id="R714d440e5afe4a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88fa1388854c44" /><Relationship Type="http://schemas.openxmlformats.org/officeDocument/2006/relationships/notesMaster" Target="/ppt/notesMasters/notesMaster1.xml" Id="R95d93d31ead647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11c0c12b5748d7" /><Relationship Type="http://schemas.openxmlformats.org/officeDocument/2006/relationships/notesMaster" Target="/ppt/notesMasters/notesMaster1.xml" Id="Rede319d30fb448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f61e03ecd04934" /><Relationship Type="http://schemas.openxmlformats.org/officeDocument/2006/relationships/notesMaster" Target="/ppt/notesMasters/notesMaster1.xml" Id="Rb6319609693347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91c8ea14fb44b0" /><Relationship Type="http://schemas.openxmlformats.org/officeDocument/2006/relationships/notesMaster" Target="/ppt/notesMasters/notesMaster1.xml" Id="R1e947ec4662f41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5b8d7ff0aa4c28" /><Relationship Type="http://schemas.openxmlformats.org/officeDocument/2006/relationships/notesMaster" Target="/ppt/notesMasters/notesMaster1.xml" Id="R784d5deb08d549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bd6b98215046fc" /><Relationship Type="http://schemas.openxmlformats.org/officeDocument/2006/relationships/notesMaster" Target="/ppt/notesMasters/notesMaster1.xml" Id="Rc484349033f94a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294223ce58416f" /><Relationship Type="http://schemas.openxmlformats.org/officeDocument/2006/relationships/notesMaster" Target="/ppt/notesMasters/notesMaster1.xml" Id="R55c48c490abc43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7b5553addc4263" /><Relationship Type="http://schemas.openxmlformats.org/officeDocument/2006/relationships/notesMaster" Target="/ppt/notesMasters/notesMaster1.xml" Id="R34eb0a262f534b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f4e6c61bd043fc" /><Relationship Type="http://schemas.openxmlformats.org/officeDocument/2006/relationships/notesMaster" Target="/ppt/notesMasters/notesMaster1.xml" Id="R2a2f715c425f41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bdad7e07dc43d1" /><Relationship Type="http://schemas.openxmlformats.org/officeDocument/2006/relationships/notesMaster" Target="/ppt/notesMasters/notesMaster1.xml" Id="R6ab7e9096c8349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Seminar 2 presents the hard-NMS line only: the CPU baseline, V1, and V2. The goal is to preserve greedy-NMS output while moving its dominant pairwise work to CUDA.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Track A4 asks for a full detector pipeline, a NumPy greedy reference, CUDA V1/V2, correctness against torchvision, and benchmarks at N=100, 1000, and 10000.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detector produces many candidate boxes. We split candidates by class, then apply greedy NMS inside each class. This prevents boxes from distinct classes suppressing each other.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CPU baseline establishes the observable contract. Its profiling reveals that pairwise IoU is the important hot path, while the final greedy order remains sequential.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 launches one CUDA thread per box pair to build the IoU relation. The CPU then follows the same score order to make the greedy keep/suppress decisions.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V2 stores suppression relations as packed uint64 bitmasks. This reduces host-device transfer compared with a dense IoU matrix, but the final greedy selection is still serial on the CPU.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implementation supports batched inputs and processes each class independently. Batch size is part of the benchmark protocol, not evidence of a result by itself.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 this local macOS machine, the test suite reports 30 passed and 41 CUDA-skipped because an NVIDIA CUDA runtime is unavailable. New CUDA parity must be rerun on the presented commit.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benchmark protocol compares the CPU baseline, V1, and V2 for N=100, 1000, and 10000, with warm-up and repeated measurements. The catalog target is under 5 ms per batch at B=32 and N=10000.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report CUDA performance for this refactored commit until CUDA correctness and timing are rerun. The current evidence is local verification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Known limitation: V1 returns a dense relation and V2 still resolves greedy decisions on the CPU. This seminar is deliberately scoped to baseline, V1, and V2 hard NMS.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repository is organized around baseline, v1, and v2, with compatibility entry points. Reproduce local tests now; produce CUDA correctness and timing on the exact commit before making performance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1e60dd944422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d150869b674d1e" /><Relationship Type="http://schemas.openxmlformats.org/officeDocument/2006/relationships/slideLayout" Target="/ppt/slideLayouts/slideLayout1.xml" Id="R6d497c68df52490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497c68df52490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0408d048a44d9" /><Relationship Type="http://schemas.openxmlformats.org/officeDocument/2006/relationships/notesSlide" Target="/ppt/notesSlides/notesSlide1.xml" Id="R610c0220d2bf46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1d9b01fb64760" /><Relationship Type="http://schemas.openxmlformats.org/officeDocument/2006/relationships/notesSlide" Target="/ppt/notesSlides/notesSlide2.xml" Id="R0d623c58530842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b6145833b4432" /><Relationship Type="http://schemas.openxmlformats.org/officeDocument/2006/relationships/notesSlide" Target="/ppt/notesSlides/notesSlide3.xml" Id="R42869ed2bb6147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cd095ecdf47d5" /><Relationship Type="http://schemas.openxmlformats.org/officeDocument/2006/relationships/notesSlide" Target="/ppt/notesSlides/notesSlide4.xml" Id="Re19e92c4d40140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64a94c93d4cf8" /><Relationship Type="http://schemas.openxmlformats.org/officeDocument/2006/relationships/notesSlide" Target="/ppt/notesSlides/notesSlide5.xml" Id="Rbe659606935d4a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8bbde8cf44679" /><Relationship Type="http://schemas.openxmlformats.org/officeDocument/2006/relationships/notesSlide" Target="/ppt/notesSlides/notesSlide6.xml" Id="R9397d708281348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eda25cd4644eb" /><Relationship Type="http://schemas.openxmlformats.org/officeDocument/2006/relationships/notesSlide" Target="/ppt/notesSlides/notesSlide7.xml" Id="R5aad9fa4649d47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5e8f565f443ba" /><Relationship Type="http://schemas.openxmlformats.org/officeDocument/2006/relationships/notesSlide" Target="/ppt/notesSlides/notesSlide8.xml" Id="R644a4825b75f49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43461cf7746f8" /><Relationship Type="http://schemas.openxmlformats.org/officeDocument/2006/relationships/notesSlide" Target="/ppt/notesSlides/notesSlide9.xml" Id="R904582a6cad34c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8663db4dd4225" /><Relationship Type="http://schemas.openxmlformats.org/officeDocument/2006/relationships/notesSlide" Target="/ppt/notesSlides/notesSlide10.xml" Id="R3998cf87392f4b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715967cef4b58" /><Relationship Type="http://schemas.openxmlformats.org/officeDocument/2006/relationships/notesSlide" Target="/ppt/notesSlides/notesSlide11.xml" Id="Rc69a469cce314c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9165559c34b52" /><Relationship Type="http://schemas.openxmlformats.org/officeDocument/2006/relationships/notesSlide" Target="/ppt/notesSlides/notesSlide12.xml" Id="R50845a73a4c541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3D20E82-C5EA-4D87-ADDB-24A7BAB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4DA180-1E07-4D30-A0DD-105412CA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2D9F85-7802-455A-8E3E-1203F959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54B254D-C399-4D00-8D88-CE10BC74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7D5CE7-1093-4E4E-8C2B-68AC4473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1DE9FF6-E2A5-4C7A-BECF-91301D25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7E25230-573F-45FA-8DD4-9D548018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3B4F79B-EDF6-4E26-A40E-8A6C3BD5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33CBB0C-2BDF-40E5-AEB5-3E890573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97F3C3D-977D-41BB-994B-9FAAF861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FDE3272-E81B-4E7A-8CFA-ED0B06DD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2F8CB6D-3CC9-427F-ABCF-EE182D2A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6A72E28-0A33-4D39-AB77-0E9533F5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B6D7347-74D7-48BA-ADE4-5D26C3F2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CC11C89-02F4-43BB-92D5-9FD8C468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AB163C6-C05D-4000-80DA-5002A37B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A4480C4-029E-48D9-AA34-1FADA459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D2BBED3-1613-4085-8B54-6F9B2F59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2EB02E-3BC1-4F43-9935-E31DBC03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02A6018-54AA-41BE-96F5-977FC4EF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37F9ABE-5F46-4327-9834-D3A0D224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434E17A-ED3F-42E9-8CAA-BC080549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71C9176-8023-4C8F-B0CB-E1F31356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211C770-9315-4C43-9383-61354C5B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287FE35-7798-4711-8C9B-CD493B27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76CF989-C1ED-48DA-9988-0EDB0698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A4ADE9D-84E4-483E-8345-08B046C6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27C86923-DCE7-4C0B-92A6-30394D69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D957F03-D496-43FB-BC95-262F8182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41015F8-7163-47F7-91B6-CB616CDB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964FE24-A054-4AE3-A993-8E5D0504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C83BF9B-2299-4033-B03D-18A56551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EE25F7D-1666-473D-BEB2-1EF109A1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8AA0729-0838-4C16-8D2C-51CFBA3F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CF0EB7D-50D4-44E3-BF94-536B77DC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48EA867-7EE8-4071-BEBA-2D268BFA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2558D31-0C6E-4AF7-B98A-026DAD5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B32798D8-D74E-4DF5-A0FB-EF0F5354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1A3F1305-DF87-4600-BE3F-85B6C747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5EF52C5F-82A4-4AF6-B3F0-7F5D52E9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8001E8E-11A7-4C00-AB66-BC260B6B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A02DA7CF-D2D1-49DB-826E-CAF876B5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B3E6117-E31C-4CA9-94B5-EC2B9A3D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51560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76B900"/>
                </a:solidFill>
              </a:rPr>
              <a:t>Seminar 2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89265511-E6A1-410C-8BD1-BF163239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36192"/>
            <a:ext cx="5760720" cy="1481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461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CUDA Accelerated Hard NMS</a:t>
            </a:r>
          </a:p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Baseline · V1 · V2 with Numba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FAA7813-28E7-4310-B8E2-730BF50C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63240"/>
            <a:ext cx="5303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7C0C9"/>
                </a:solidFill>
              </a:rPr>
              <a:t>Class-aware greedy NMS: from CPU reference to GPU pairwise acceleration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18AD3F0C-B326-4078-83B0-233F8458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703320"/>
            <a:ext cx="3977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</a:ln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B35CF77B-D35B-466F-92C4-E55122DA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977640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7FAFC"/>
                </a:solidFill>
              </a:rPr>
              <a:t>Team: Tuấn · Tân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7FAFC"/>
                </a:solidFill>
              </a:rPr>
              <a:t>Course: Applied Parallel Programming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1A162B3E-D46A-4010-9DC9-13EBDCB2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15968"/>
            <a:ext cx="502920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49F56DA-D3A4-4278-AB89-D93B5073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3712"/>
            <a:ext cx="4617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baseline → V1 full IoU → V2 packed mask → CUDA evidence gate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341E5C48-33B5-4B51-B1FC-3C6C0EF4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16942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8C65645-558D-4137-AE69-FDFCDFA0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93E852-83B2-4722-94D1-FAFC511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DBB651-8DB5-4491-8594-66592E58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509873-F726-457F-BD42-94FD681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Problem Motivation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804E71-AFB8-4D94-81E0-0CFE1DB0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Object detectors produce many overlapping boxes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A67B60-9195-4311-8787-890BDCDF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E989950-453C-4C65-88D7-73E7D210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1600200" cy="7132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FC3E840-E66F-40E0-8869-E36D2862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984248"/>
            <a:ext cx="138074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Input Image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AFD5590-E9AB-4930-87DB-B04C4D06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83080"/>
            <a:ext cx="164592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B1E6F34-CC65-4521-82F9-4D42B96B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1892808"/>
            <a:ext cx="142646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YOLO / SSD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Detector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7579EE7-42FF-43D4-928A-B2DE1528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83080"/>
            <a:ext cx="173736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1881258-108E-4164-91B9-AE2A7211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892808"/>
            <a:ext cx="151790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Up to 10,000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Boxes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9F3129C-B20F-4A5C-AB5F-FAE5FB26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83080"/>
            <a:ext cx="132588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B76A507-91F4-43AA-95E7-05901BBC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1892808"/>
            <a:ext cx="110642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NMS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FEE4832-C017-408C-9693-1FFB5D63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1783080"/>
            <a:ext cx="173736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8D8AE2D-4253-4144-A158-22D118D5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6568" y="1892808"/>
            <a:ext cx="151790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Final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Detections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D0F8840-E16A-498C-930D-626F30E1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231136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DF1392C-BF49-41B9-A84F-305E1035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231136"/>
            <a:ext cx="4114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A05AD33-0E00-4C32-A962-DD9D0D6F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31136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EE89B5A-298B-43F0-9129-D2E2DFEA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31136"/>
            <a:ext cx="594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0BD6051-00F8-427F-AC87-5D9974E1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57600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EB72678-CAB6-4CFD-9D36-E8586CD6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9784" y="3698748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9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0674D80-EA47-4942-AA1D-175765C0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39896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90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4C8D565-9492-4F02-B53E-9F3B2C02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781044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8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A2BAAE6-6173-4DCC-8802-0AD548CC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3822192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C323379-51BF-4D2C-93CE-B1644304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863340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7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1737EF6-766C-4FF0-BD97-1709D7C8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04" y="3904488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70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DEBFBF6-2E48-4FE1-81A9-D7A8A9C2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945636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6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6933B5A-8A19-4EAC-8760-B5F4A3C8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749040"/>
            <a:ext cx="932688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25400">
            <a:solidFill>
              <a:srgbClr val="76B90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DD388C5-5DF3-4141-B017-70548EF8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7488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7FAFC"/>
                </a:solidFill>
              </a:rPr>
              <a:t>NMS removes redundant detections while keeping the highest-confidence box.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C036006-DB84-4163-8C4E-587F0508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04135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3AFFF9-FC7C-40D0-83AD-C9DF323A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0A3991-C32C-422C-AF1C-18C8468A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A28781-6CEC-41A4-9C03-E299F9E9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1699963-0BCC-47E9-A6B7-4453FABB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Greedy NMS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637D869-FA07-41D7-A549-754FD1C6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Baseline algorithm and complexity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A4F0477-0BC2-499B-88F1-AD857FDF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A1106AD-CAEF-4990-963F-534A7FAC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B495B47-E911-4266-A24E-BDCEAA1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 by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confidence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CFA74F-CA2C-4DF7-A92F-1763B4E2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1C89EF9-D377-4D7E-B54B-453CE60F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55C8DFC-3602-4AB0-84BC-1ADE18F6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Pick top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box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9141B30-5227-4E82-B973-2D79AA0F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6C3C6FE-A340-4AC0-AE28-FF669FA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B1D03B7-4014-4382-B475-EC863D32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Compute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F08CB3F-A523-4648-B970-E60A7C4E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7ED7B7E-A54F-40C7-AC11-116F7D3D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DEEDCA7-6710-4D33-B1DD-66E7514F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8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Suppress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overlap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E1D4C08-0334-4056-84A5-D312A820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30803E4-D286-452F-B376-750AFCC1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7A9AC57-9464-4CF4-80E9-781CAD29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Repeat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DC127E1-CC65-4E53-BD83-3E38C672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40480"/>
            <a:ext cx="292608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E1D4F11-1579-4C4A-BA18-1C79F2C0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168" y="3986784"/>
            <a:ext cx="27066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Sorting: O(N log N)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D90E73F-53B1-459B-B43E-6BC76F9C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0480"/>
            <a:ext cx="338328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F8F518A-7022-4834-9865-32E5B270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986784"/>
            <a:ext cx="31638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Greedy suppression: ~ O(N²)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8419FB8-EFF2-48FF-9748-B42AC829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840480"/>
            <a:ext cx="265176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912610-7366-4D11-A961-A0B76768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488" y="3986784"/>
            <a:ext cx="243230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IoU repeated many times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F18EC977-286E-49DC-A8C0-9EC15814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3841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D2D42FB-F7C6-4148-A6EA-0C5CB44F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4C9F8EC-7808-4B06-B686-DC5725E2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877B64C-A9C0-4241-80A5-3DF303A9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DA9BA2-6425-4304-8AE3-63A012F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Baseline Architecture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AEF1F5C-F039-4724-BA99-4D6993F0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End-to-end reference implementation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2D075E9-DC97-4E7D-90BC-60D77762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2D858FE-86A9-408C-8641-38FE4E7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201168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56FED4-63DF-4427-91F3-B5B3168F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09928"/>
            <a:ext cx="179222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Synthetic Boxes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or YOLO Output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9B5D7D5-7787-48A5-877D-B74AAE8F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00200"/>
            <a:ext cx="146304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401642B-65F7-462E-AB33-26FA93C7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709928"/>
            <a:ext cx="124358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NumPy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9E3B06A-E647-4889-8D07-D5261040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536192"/>
            <a:ext cx="1874520" cy="932688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07C00AF-9E8D-4CF3-AF68-A6DDEE11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645920"/>
            <a:ext cx="16550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Python loop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NMS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6F81C30-0B87-4CCB-A2E6-EEA3D002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36192"/>
            <a:ext cx="2057400" cy="932688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420A112-D017-4336-BA93-5048AAA6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8" y="1645920"/>
            <a:ext cx="183794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 one-to-many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NumPy vector ops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88D40EF-BC0A-4286-9F56-C49FBFE3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1600200"/>
            <a:ext cx="114300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9CE61BA-9A2F-4188-9783-22B8ED0A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9608" y="1709928"/>
            <a:ext cx="92354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Keep indices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60BFAF6-CF60-48BE-AA3C-DAFFBD4D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916A5C2-633C-43BA-A55D-B5DE48A0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01168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5BCA24D-2024-4E0E-B637-781AA2B7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01168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12B53DA-BC6C-4CC9-82B0-32BB2800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011680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97DC6B7-3260-476E-910A-C7908D77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WHY THIS MATTERS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95DE3E5-756D-4543-8A9B-561B42CD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7640"/>
            <a:ext cx="9875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00">
                <a:solidFill>
                  <a:srgbClr val="F7FAFC"/>
                </a:solidFill>
              </a:rPr>
              <a:t>CPU baseline is the greedy hard-NMS reference.</a:t>
            </a:r>
          </a:p>
          <a:p xmlns:a="http://schemas.openxmlformats.org/drawingml/2006/main">
            <a:r>
              <a:rPr sz="1600">
                <a:solidFill>
                  <a:srgbClr val="F7FAFC"/>
                </a:solidFill>
              </a:rPr>
              <a:t>Profiling identifies pairwise IoU as the target.</a:t>
            </a:r>
          </a:p>
          <a:p xmlns:a="http://schemas.openxmlformats.org/drawingml/2006/main">
            <a:r>
              <a:rPr sz="1600">
                <a:solidFill>
                  <a:srgbClr val="F7FAFC"/>
                </a:solidFill>
              </a:rPr>
              <a:t>V1/V2 must reproduce this output.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518F3E-DBA7-45B1-81DF-CBAAC963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508721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B70C4E2-2EE6-4D9A-AB5E-A0348B94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6E847A-BFFB-4A16-8B54-E2E277E6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E5744B-C90A-4A77-82E5-8B91947B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AC9B4EC-391D-4F85-A38B-C5351B85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Profiling: Pairwise IoU Is the Target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95513D4-5606-497B-BBAB-57925682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Local CPU · N = 10,000 · cProfile evidence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931F15A-2144-46E4-9B15-FAB9D531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0F6852A-8091-4FDA-88BC-57A91210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43000"/>
            <a:ext cx="196596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A224C9D-8FEC-4798-A893-71304E78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89304"/>
            <a:ext cx="1783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76B900"/>
                </a:solidFill>
              </a:rPr>
              <a:t>18,313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4585563-3A85-404D-AECB-1B8434DF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36776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function calls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E2A1702-F94E-4590-BC9F-83C95D51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2E6E5C0-A1A5-4621-A393-04D1FC15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76B900"/>
                </a:solidFill>
              </a:rPr>
              <a:t>0.449s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0ECBA-3A3D-43D6-994B-E1314024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total runtime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7FA8E25-939B-45B5-8A65-C63EBCD5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CDD073E-0F3C-4C7F-A114-54BF0FA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59E0B"/>
                </a:solidFill>
              </a:rPr>
              <a:t>6,100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B43D237-587E-49B8-8F3E-ADEA40C1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IoU calls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876D88-0702-4547-AF84-271438A0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2779F9B-5F79-4C03-894B-E756575A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59E0B"/>
                </a:solidFill>
              </a:rPr>
              <a:t>40.3%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5A01982-F1A3-45E9-A6BE-B8528FC8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IoU share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4F7B7DB-89AC-4959-B4B0-929CD507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143000"/>
            <a:ext cx="19202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8CECC77-00F5-416A-B190-9C49551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2893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6B7280"/>
                </a:solidFill>
              </a:rPr>
              <a:t>0.001s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F7BC144-2167-45D7-A96A-6E66330A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636776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argsort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2E04105-059F-4B15-B72F-3AA7382A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run_cpu()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9D53C56-5760-40B2-8BBC-F57B639C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816352"/>
            <a:ext cx="56692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BCC4363-237A-4D24-8129-EF52F2DB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77063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0.449s cumulative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7C3D930-5B61-4DD4-8A32-609368E1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3008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iou_one_to_many()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D55242A-98F6-4E51-94D2-FCCB6834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20440"/>
            <a:ext cx="1920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9FA0DD-4435-46FF-B04F-A2CD1DF3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474720"/>
            <a:ext cx="1920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0.181s total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F04B6E8-1A46-4999-BB5E-A161D87A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7952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argsort()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605F6DF-EAE4-4C6F-9567-76A91C4B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215384"/>
            <a:ext cx="164592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12700">
            <a:solidFill>
              <a:srgbClr val="6B728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D6748AF-3EC9-43CA-ADA6-564B212B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169664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0.001s cumulative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49FC0900-5441-4905-8225-4763A51C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418256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8ED837A-906D-48B4-A924-DA9D36D5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68C852A-517E-40DB-86A0-05F11059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80A6CC-EE93-446F-BE1E-90A08E67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FD5B64-0D55-451C-A7A9-4E6EDC05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GPU Version 1 Architecture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F52CB28-DA17-4D66-ACFC-E11FD33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Parallel IoU matrix, CPU greedy suppression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1A3B49-9CC2-4B66-9977-114409C4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459AAFD-455B-4EDF-8AF5-DBF5B845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34440"/>
            <a:ext cx="132588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B983DFB-7EFF-4C62-9DAC-A12F086E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344168"/>
            <a:ext cx="11064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Sorted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Boxes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FEF7C66-E868-4FF5-B060-01C1815E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234440"/>
            <a:ext cx="178308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D106635-0337-46DF-AF66-FF889BDC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344168"/>
            <a:ext cx="15636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cuda.to_device()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B6B6600-5D17-421C-945E-912122B8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170432"/>
            <a:ext cx="16916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89B2105-80B5-45B3-B137-65D5258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280160"/>
            <a:ext cx="14721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Global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Memory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7EB597D-C66E-466B-BD8A-722E2759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70432"/>
            <a:ext cx="16916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B25C70D-98BB-44BE-B9C5-6BB17B96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1280160"/>
            <a:ext cx="14721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CUDA IoU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Kernel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1915CB1-3874-485C-8C31-9E4A3F3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170432"/>
            <a:ext cx="16002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615D0F1-330E-423C-BD65-DC97C1FF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1280160"/>
            <a:ext cx="13807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 Matrix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 × 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994A36E-8A60-4102-8DBB-F8DE8C4B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4343400"/>
            <a:ext cx="201168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2FE187B-22F7-425D-BDF4-BB60831C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4453128"/>
            <a:ext cx="179222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Greedy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NMS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E695CE2-9DA4-48F5-9DDE-65060D39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572768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691A4F3D-C23C-46DF-8360-8F870080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9DAC45B-F3FE-4A58-B42C-AB95168E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72768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02EE4F1-1BE0-4E17-B44A-FDE33813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572768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0EC74F0-89DB-49BA-96B4-50C3DB6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95160" y="1993392"/>
            <a:ext cx="3131820" cy="23500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72BACA4-EDE3-4F35-BC2D-F6A469E3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5643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38BDF8"/>
                </a:solidFill>
              </a:rPr>
              <a:t>copy_to_host()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11A4AD8-0014-49B4-9422-96CC1D6F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715000"/>
            <a:ext cx="3200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AE5071D-384F-4EDB-A065-6494F13D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801868"/>
            <a:ext cx="30175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GPU does the O(N²) pairwise work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44ED512-76E5-40E1-A1BC-A0EE4B5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715000"/>
            <a:ext cx="3200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8BDF8">
              <a:alpha val="92000"/>
            </a:srgbClr>
          </a:solidFill>
          <a:ln xmlns:a="http://schemas.openxmlformats.org/drawingml/2006/main" w="1270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700ED07-9743-41B0-8DCD-171779DA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5801868"/>
            <a:ext cx="30175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CPU keeps simple greedy control flow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55D76EF-9F47-430C-9F55-266B9CF4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715000"/>
            <a:ext cx="29260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A78BFA">
              <a:alpha val="92000"/>
            </a:srgbClr>
          </a:solidFill>
          <a:ln xmlns:a="http://schemas.openxmlformats.org/drawingml/2006/main"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3D8ACBA-E71E-4449-80AA-AF7480F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801868"/>
            <a:ext cx="27432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V1 is easy to test and explain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13B41A-6947-4EDD-8A0C-090174D3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215995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74593C9-0D47-446D-8AD9-467E9AF1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5002F05-49EB-4F50-8332-BE45EA72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D576F0-AE4A-4E6D-9E0E-73FAD6C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D0BE3B2-6DE2-44B8-86C5-E383E869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GPU V2: Batched Packed Suppression Mask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753AC4-4EC6-435A-B1EC-7778A82E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grid = (anchor word, target word, image)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BF8E430-86CD-48D6-B888-6329DD30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09D68B5-B79E-4C05-9D94-BD1BAE64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9418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7C0C9"/>
                </a:solidFill>
              </a:rPr>
              <a:t>Target word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CB1F83D-7D7E-4804-8B73-6428842F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024128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7C0C9"/>
                </a:solidFill>
              </a:rPr>
              <a:t>Anchor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B04F47-BE64-420A-9ED6-2BBCEAC1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931C5C5-6CC2-47CB-AEBA-EEE5C0B0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0055D44-AC55-4935-8ADC-ACD852F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696B7A4-92BD-41E3-AF02-F9F571F7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F92759C-D048-47FE-833C-2CAE45E5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42B6A5B-ABC1-46A0-B380-B278F2B1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4FC0D61-133D-4156-BCBA-DB72485E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5DD3AE-65C4-49C9-AF8A-D99DDAB5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E7E02B3-9A3A-4C27-8800-51D32AD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F3720C7-1773-492A-B37B-624D40A2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4B64D36-2F0A-4A86-98E3-E0AE84AE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E9929CA-0CC8-402D-BEE2-D9B276C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FC20F1A-D896-440B-835A-D1670300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68DEA9D-9472-4CA8-917D-108D44D1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1E7D47F-844A-4D91-B2DE-E04939E7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D96712-2BF0-4FE1-980C-1B074C15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347734B-6B69-4190-A2BC-EA9401AE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A978BE4-C595-4CAB-B36C-5EA07F2E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F128D9AC-1214-4CAA-BE59-CB26F059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18CF641-43A2-417E-9E2C-A6C0ED9A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5AAECD5-962A-46F1-9175-CEF3E04C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93A8B629-4822-423D-8C73-274E14EF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46B599C-2840-475C-AD4C-34F9BC11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A4D3F5E-5DD4-4645-8F40-D05B2141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3493A31-6F54-4768-9CA6-B419249E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D0EE90DB-2D34-43CF-9C58-76664490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A31020C-5973-48A2-884F-BDB04B43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7FAFAA6D-E978-479E-BFC4-56E0595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2808183-A1B0-4AE3-879A-B3D72B27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204E815-D1F5-4796-A0BB-148760D4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4E84820-3F73-46CF-BBE3-95894F41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9A31DBE-3E22-4B45-8C3C-12DAFEA0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07EC800D-10EA-4C8C-9CA5-038D360F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63A67C2D-F67B-42C5-A456-0E0AE92C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3A605AB3-235C-4C50-B062-8445F9A3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764F7DC2-9782-4469-9617-E70DCA25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D2C268F2-C8D6-484B-8BFE-2AA065F6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FBB3A7A-2E52-4509-92E6-7CB81670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11E951C-55A3-4AFD-94F5-844296F9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32D96DCB-7ED9-43C5-A50F-9CEFB899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8CCDF6CA-B132-4514-950D-8AEE64FA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322778F0-2989-4E14-8E38-D8458913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59BC8B2-9FB1-47BC-9970-A16BCDFE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7A29DEB4-D183-46BC-9445-B2139B1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071F99DD-7201-4F61-BEC3-6CCD1B0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6B55F777-878D-42D3-BA77-54ACE71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92A6E4AF-937C-4C32-ADEB-478290D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36F93C59-E20B-4393-8E04-64B8606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E6505901-2B3E-4FEF-BC16-D7FFBD7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70C91F48-5743-4373-AC68-9986309D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3291840" cy="114300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A8E8EAC-F06A-4133-A00E-874F5D36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3072384" cy="923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Thread(anchor)</a:t>
            </a:r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→</a:t>
            </a:r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one uint64 mask word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EBD131E7-2DDD-4FB3-B98E-37AFCEFF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383280"/>
            <a:ext cx="4023360" cy="749808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D29202A8-EB93-42FA-BC69-5736F50E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3529584"/>
            <a:ext cx="38039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blockIdx.x = anchor · y = target · z = image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F55F37A8-C1FF-45B7-B41F-5DD2033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480560"/>
            <a:ext cx="37490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98472"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7FAFC"/>
                </a:solidFill>
              </a:rPr>
              <a:t>SoA layout enables coalesced coordinate reads.</a:t>
            </a:r>
          </a:p>
          <a:p xmlns:a="http://schemas.openxmlformats.org/drawingml/2006/main">
            <a:r>
              <a:rPr sz="1300">
                <a:solidFill>
                  <a:srgbClr val="F7FAFC"/>
                </a:solidFill>
              </a:rPr>
              <a:t>Each block caches 64 target boxes in shared memory.</a:t>
            </a:r>
          </a:p>
          <a:p xmlns:a="http://schemas.openxmlformats.org/drawingml/2006/main">
            <a:r>
              <a:rPr sz="1300">
                <a:solidFill>
                  <a:srgbClr val="F7FAFC"/>
                </a:solidFill>
              </a:rPr>
              <a:t>One bit records whether IoU exceeds the threshold.</a:t>
            </a:r>
          </a:p>
        </p:txBody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F6649023-3BF0-4B1C-ADF8-C2C41EFD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532120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07316B-CE60-4F1B-B47E-7D1A633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187455C-1A88-4562-AB5D-676E20AF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23675B4-809A-419B-BC60-F6FBC405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631B97-AA55-4EAB-AC35-734E4B94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Correctness &amp; Environment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9B3CAD-D899-4C25-A6C4-73F77341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Local correctness is verified; CUDA parity is the next evidence gate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46D47F-552E-4905-9C1C-EA0F00D8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FA1F118-A116-44E7-9EBE-37F3E12B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28800"/>
            <a:ext cx="23774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5E509A3-62DB-4B2C-B189-35654D2A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38528"/>
            <a:ext cx="21579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 /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output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BEC962D-841B-4B3F-8822-CDA3EC9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49040"/>
            <a:ext cx="23774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61F844-12B9-448D-8E8F-83212045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858768"/>
            <a:ext cx="21579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/ torchvision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reference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10DA27F-A4D9-4DAD-BF61-934C96F3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5494E37-8728-448D-BAA9-EDE01B56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89864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Compare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selected boxes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243BBD4-1556-4026-B0A1-B1FD51B6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8892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E132A95-5E6F-40F7-9AEF-44D223EE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8" y="289864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899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B0F12"/>
                </a:solidFill>
              </a:rPr>
              <a:t>30 / 30</a:t>
            </a:r>
          </a:p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B0F12"/>
                </a:solidFill>
              </a:rPr>
              <a:t>LOCAL PASS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CABA4C6-7BA4-4323-AC19-59289A6F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40280"/>
            <a:ext cx="1280160" cy="8229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2A0BEA9-3E96-45A3-8288-42140F9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520440" y="3474720"/>
            <a:ext cx="128016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C9F80F7-5AEB-4F52-BA92-84C662FA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00400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6306DAA-A286-47E0-A20E-C41BFB7A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77840"/>
            <a:ext cx="18288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8BDF8">
              <a:alpha val="92000"/>
            </a:srgbClr>
          </a:solidFill>
          <a:ln xmlns:a="http://schemas.openxmlformats.org/drawingml/2006/main" w="1270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1DECDEE-4F46-4771-94ED-873B40ED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64708"/>
            <a:ext cx="16459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macOS · no NVIDIA CUDA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F42C108-2DB2-4438-A68F-D9BBE38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577840"/>
            <a:ext cx="23317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4B4A335-9153-466B-A653-0321C355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664708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Python 3.12.13 · NumPy 2.0.2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BDDBA20-7823-41F4-BED2-586B675B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577840"/>
            <a:ext cx="27432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A78BFA">
              <a:alpha val="92000"/>
            </a:srgbClr>
          </a:solidFill>
          <a:ln xmlns:a="http://schemas.openxmlformats.org/drawingml/2006/main"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B2B5F06-E183-4BF9-9AB8-1330AC4C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664708"/>
            <a:ext cx="25603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Hard-NMS scope: baseline / V1 / V2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62C0EE1D-311F-4046-9EFA-45A96F5A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19267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7CFBE93-D929-4CF9-854C-555E7057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B72E0B1-0D00-45BF-B737-D9C02F95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567612-B3B7-4EC9-A85E-0B28AA6B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D20F653-5661-4776-B064-EBFD06A7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Benchmark protocol for the next CUDA rerun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860D691-811B-4821-9062-A90A571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Repeatable end-to-end latency after CUDA warmup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3C5DAC-89DB-4998-A907-3DD4444F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EA54752-2056-443A-A194-F49F10D0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35DD73C-784F-4E0A-B6A0-514DA08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B0F12"/>
                </a:solidFill>
              </a:rPr>
              <a:t>Warmup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B0F12"/>
                </a:solidFill>
              </a:rPr>
              <a:t>2 runs; exclude JIT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76F3FD3-A480-4352-B601-02880F0E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9303DE6-D81B-4A3A-B9E0-5BCD91C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1BE000-C460-4544-A759-B8AB18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Repeat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7 measured runs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9F8C82F-6297-4B0D-A988-4ACC26AF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09F4129-A22B-4467-AB53-723B0D86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185B845-DA0E-4153-8B73-FC1603A1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Aggregate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median + stddev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E86ACD-7AAF-4B06-86F8-CB1D2F7F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71BE7C-9B0C-4102-A6B9-357E5611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B6169A9-8CA6-4E92-BD55-C76093DB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Compare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CPU · V1 · V2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1107D56-A6DF-4736-9A79-195AC56F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77640"/>
            <a:ext cx="347472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E6EDEA-DBC6-4BF6-8A02-F0A4B9D0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123944"/>
            <a:ext cx="32552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N ∈ {100, 1,000, 10,000} boxes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81A052-B5B4-490A-BA2E-AA5FB3F2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977640"/>
            <a:ext cx="283464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1C30F7-1062-4BBE-B1DB-5782888E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123944"/>
            <a:ext cx="261518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Single-image + V2 batch 32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8F053F0-BB1A-4F3C-8882-C18C4A02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977640"/>
            <a:ext cx="329184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B95E0B9-4B88-4965-83E3-EB8E3EB2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4123944"/>
            <a:ext cx="307238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NVIDIA CUDA runtime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required for new numbers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13F0D85-83E9-4D91-9EE4-E02D8633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319368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428FA2-1C12-470A-88B4-5D2D9F4A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97E4F3-A033-4055-A28E-CD2C9AFC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62BD44-F372-4125-99B2-E89787F3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BA7F5C-2ABA-49EB-A56C-63EED0F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Batch benchmark: required CUDA evidence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898AB6-C4E1-4290-9C90-272FD71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Candidate protocol: batch 32 × 10,000 boxes · end to end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F417D3-A687-40DC-AA06-126B2277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825220A-CFBF-40E3-8BB8-8CB526B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CURRENT STATUS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025B61-B08F-4CAB-9C83-EEE96DF7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572768"/>
            <a:ext cx="475488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Local verification: 30 passed, 41 CUDA-skipped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Batch input: 32 images × 10,000 boxes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Current CUDA benchmark: pending rerun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No current CUDA number is reported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853DB7-98F2-4108-A562-2F7F784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CATALOG TARGET &amp; EVIDENCE GAP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AC5614B-4A4A-4AC7-B3C9-A298327E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793688D-D7C2-4F54-BAB3-036E92A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Input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32 × 10,000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738AA4-F5E9-499C-81A8-1BBEB26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5CBEB05-0235-49EB-BE64-A1117020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Current CUDA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rerun pending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8D2A5B5-516F-4563-979E-AC5E5C46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572768"/>
            <a:ext cx="150876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853632-A01F-4B28-A12A-24D877A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1008" y="1682496"/>
            <a:ext cx="128930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Catalog target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&lt;5 ms / batch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2D84A01-7FC4-439D-BFBE-64D05371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5B3B63-1B02-415B-B09C-F5C2B8A8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E14655A-8DDB-49A4-A77B-A45A2B0B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835DA6-756C-4075-9554-CDCBB7CF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20954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O(B·N²) pairwise work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69BB62-A78D-466D-845D-09A5762F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2336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5FBF598-ABF4-4D69-84F9-E4B57D0A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16966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Packed mask copied to host · greedy resolution on CPU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A0076A3-636B-4B93-B542-D209E566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3172" y="6446520"/>
            <a:ext cx="3429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27686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428FA2-1C12-470A-88B4-5D2D9F4A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97E4F3-A033-4055-A28E-CD2C9AFC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62BD44-F372-4125-99B2-E89787F3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BA7F5C-2ABA-49EB-A56C-63EED0F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Limitations / Honest Conclusion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898AB6-C4E1-4290-9C90-272FD71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Evidence gap and serial greedy dependency remain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F417D3-A687-40DC-AA06-126B2277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825220A-CFBF-40E3-8BB8-8CB526B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CURRENT LIMITATIONS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025B61-B08F-4CAB-9C83-EEE96DF7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572768"/>
            <a:ext cx="475488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V1 transfers the full IoU matrix GPU → CPU.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V2 packs uint64 masks, but final greedy decisions stay on CPU.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This dependency is the remaining hard-NMS limit.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853DB7-98F2-4108-A562-2F7F784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WHAT IS STILL REQUIRED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AC5614B-4A4A-4AC7-B3C9-A298327E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793688D-D7C2-4F54-BAB3-036E92A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V1 CUDA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rerun pending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738AA4-F5E9-499C-81A8-1BBEB26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5CBEB05-0235-49EB-BE64-A1117020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V2 CUDA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rerun pending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8D2A5B5-516F-4563-979E-AC5E5C46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572768"/>
            <a:ext cx="150876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853632-A01F-4B28-A12A-24D877A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1008" y="1682496"/>
            <a:ext cx="128930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B=32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rerun pending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2D84A01-7FC4-439D-BFBE-64D05371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5B3B63-1B02-415B-B09C-F5C2B8A8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E14655A-8DDB-49A4-A77B-A45A2B0B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835DA6-756C-4075-9554-CDCBB7CF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20954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CUDA correctness and timing must be rerun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69BB62-A78D-466D-845D-09A5762F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2336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5FBF598-ABF4-4D69-84F9-E4B57D0A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16966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Greedy resolution stays on CPU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A0076A3-636B-4B93-B542-D209E566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276861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6CA912-6DC0-4F8F-A19A-15A3FBD9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035FAE-62B7-4A19-BB2E-59F363FC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96F0FA-7029-4F93-99FC-360D82B2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6D28380-5670-4A4F-9A95-14FF22EE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References &amp; Reproducibility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1A018E4-AE09-40F5-B74C-D5EDE22D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Code, correctness evidence, and measured results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2121BC4-56DD-4731-873A-4F1E0D50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7069FCD-EB96-40AC-8F4D-53DD7807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996696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Applied Parallel Programming — Track A4: Real-Time Non-Maximum Suppression.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Current modules: baseline/, v1/, v2/ and compatibility entry points.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Greedy reference: CPU baseline and per-class torchvision.ops.nms.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The seminar scope is baseline, v1, and v2 hard-NMS.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New CUDA evidence must be produced on the commit being presented.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4719C5-E44D-4EC3-A68F-F8FDAD96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2040"/>
            <a:ext cx="24688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D351F45-B64B-43BC-8F8F-8E04B70B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78908"/>
            <a:ext cx="22860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Thank you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FB1DEB3-AA33-4B12-B67E-E4697366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132835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2026-08-06T21:09:59.7610000Z</dcterms:created>
  <dcterms:modified xsi:type="dcterms:W3CDTF">2026-08-06T21:09:59.7610000Z</dcterms:modified>
</coreProperties>
</file>