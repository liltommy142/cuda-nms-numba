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giới thiệu đây là Seminar 2 của project CUDA NMS. Nhấn mạnh nhóm đang đi theo quy trình của môn: làm CPU baseline trước, profile để tìm bottleneck, sau đó chỉ GPU hóa phần bottleneck bằng CUDA/Numba.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nhanh roadmap: bài trình bày không chỉ nói có GPU, mà sẽ đi từ bài toán, CPU baseline, profiling, thiết kế GPU V1, correctness, benchmark, rồi kết thúc bằng hạn chế và hướng 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detector như YOLO thường tạo nhiều bounding box chồng lên cùng một vật thể. NMS là bước hậu xử lý dùng để giữ lại box tốt nhất và loại bỏ các box trùng lặp.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Liên hệ với yêu cầu môn: project này bám sát nguyên tắc Partial GPU. Nhóm không viết lại toàn bộ detector, mà chỉ target phần NMS, cụ thể là tính IoU.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thuật toán CPU: sort các box theo confidence, lấy box điểm cao nhất, tính IoU với các box còn lại, suppress box có overlap cao, rồi lặp lại. Vấn đề nằm ở phần tính IoU lặp lại nhiều lần.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CPU baseline không phải chỉ để so sánh tốc độ. Nó là reference correctness. Mọi version GPU đều phải so với output từ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quan trọng. Dòng đầu cho biết toàn bộ run_cpu mất 0.289s. Hàm iou_one_to_many được gọi 6100 lần và tốn khoảng 98ms, tức khoảng 34%. Vì vậy IoU là target hợp lý để đưa lên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lý do thiết kế: không đưa toàn bộ Greedy lên GPU ở V1 vì muốn có phiên bản đơn giản, dễ kiểm chứng. Phần IoU là song song tự nhiên vì mỗi cặp box độc lập.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bày pipeline GPU V1: trước tiên sort box trên CPU, copy boxes lên GPU, kernel tính toàn bộ ma trận IoU, copy kết quả về CPU, sau đó CPU dùng ma trận này để greedy suppression.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Dùng ma trận để giải thích trực quan. Trục dọc là box i, trục ngang là box j. Mỗi ô trong ma trận là một cặp box và được xử lý bởi một CUDA thread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công thức IoU: diện tích giao chia cho diện tích hợp. Kernel không thay đổi công thức, chỉ thay đổi cách thực thi: thay vì CPU tính lần lượt, GPU tính nhiều cặp song song.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chi phí memory transfer. V1 chỉ upload boxes một lần và download ma trận IoU một lần, nhưng ma trận này có kích thước N bình phương, đây là hạn chế lớn khi N tăng.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benchmark sẽ vô nghĩa nếu GPU cho kết quả sai. Vì vậy bước correctness luôn đặt trước benchmark. Test so sánh indices được giữ lại giữa CPU baseline và GPU 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Benchmark phải có warmup vì Numba CUDA thường có JIT compile và kernel đầu tiên có thể chậm bất thường. Sau warmup, chạy nhiều lần và lấy trung bình hoặc median.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để thay số thật sau khi chạy benchmark. Khi nói, không đọc từng số mà nói xu hướng: N nhỏ có thể GPU chưa thắng vì overhead, N lớn thì lợi thế song song rõ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kết quả: GPU không phải lúc nào cũng nhanh. Với N nhỏ, kernel launch và copy memory có thể lớn hơn lợi ích song song. Với N lớn, số cặp IoU tăng nhanh nên GPU có lợi thế. Tuy nhiên V1 tạo ma trận N bình phương nên memory sẽ trở thành vấn đề.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phần kỹ thuật bằng hạn chế. Đây không phải điểm yếu đáng sợ, mà là lộ trình tự nhiên: V1 chứng minh correctness và baseline GPU, V2/V3 sẽ tối ưu memory và đưa thêm suppression logic lên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bằng checkpoint: nhóm đã có CPU baseline, đã profile, đã có GPU V1, đã chuẩn bị correctness và benchmark. Mốc tiếp theo là tối ưu V2/V3.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Dùng slide này nếu giảng viên hỏi. Có thể chuyển nhanh tới đây sau phần kết luận.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nếu cần đi sâu vào pseudocode. Điểm khác biệt chính là GPU V1 tính trước toàn bộ ma trận IoU.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bằng tài liệu tham khảo. Nếu slide bị giới hạn thời gian, có thể bỏ qua references trong lúc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2"/>
          </a:solidFill>
          <a:ln w="12700">
            <a:solidFill>
              <a:srgbClr val="0B0F12"/>
            </a:solidFill>
            <a:prstDash val="solid"/>
          </a:ln>
        </p:spPr>
      </p:sp>
      <p:sp>
        <p:nvSpPr>
          <p:cNvPr id="3" name="Shape 1"/>
          <p:cNvSpPr/>
          <p:nvPr/>
        </p:nvSpPr>
        <p:spPr>
          <a:xfrm>
            <a:off x="6400800" y="1143000"/>
            <a:ext cx="347472" cy="237744"/>
          </a:xfrm>
          <a:prstGeom prst="roundRect">
            <a:avLst>
              <a:gd name="adj" fmla="val 15385"/>
            </a:avLst>
          </a:prstGeom>
          <a:solidFill>
            <a:srgbClr val="76B900">
              <a:alpha val="75000"/>
            </a:srgbClr>
          </a:solidFill>
          <a:ln w="12700">
            <a:solidFill>
              <a:srgbClr val="76B900">
                <a:alpha val="60000"/>
              </a:srgbClr>
            </a:solidFill>
            <a:prstDash val="solid"/>
          </a:ln>
        </p:spPr>
      </p:sp>
      <p:sp>
        <p:nvSpPr>
          <p:cNvPr id="4" name="Shape 2"/>
          <p:cNvSpPr/>
          <p:nvPr/>
        </p:nvSpPr>
        <p:spPr>
          <a:xfrm>
            <a:off x="6400800" y="1673352"/>
            <a:ext cx="347472" cy="237744"/>
          </a:xfrm>
          <a:prstGeom prst="roundRect">
            <a:avLst>
              <a:gd name="adj" fmla="val 15385"/>
            </a:avLst>
          </a:prstGeom>
          <a:solidFill>
            <a:srgbClr val="76B900">
              <a:alpha val="72000"/>
            </a:srgbClr>
          </a:solidFill>
          <a:ln w="12700">
            <a:solidFill>
              <a:srgbClr val="76B900">
                <a:alpha val="60000"/>
              </a:srgbClr>
            </a:solidFill>
            <a:prstDash val="solid"/>
          </a:ln>
        </p:spPr>
      </p:sp>
      <p:sp>
        <p:nvSpPr>
          <p:cNvPr id="5" name="Shape 3"/>
          <p:cNvSpPr/>
          <p:nvPr/>
        </p:nvSpPr>
        <p:spPr>
          <a:xfrm>
            <a:off x="6400800" y="2203704"/>
            <a:ext cx="347472" cy="237744"/>
          </a:xfrm>
          <a:prstGeom prst="roundRect">
            <a:avLst>
              <a:gd name="adj" fmla="val 15385"/>
            </a:avLst>
          </a:prstGeom>
          <a:solidFill>
            <a:srgbClr val="76B900">
              <a:alpha val="69000"/>
            </a:srgbClr>
          </a:solidFill>
          <a:ln w="12700">
            <a:solidFill>
              <a:srgbClr val="76B900">
                <a:alpha val="60000"/>
              </a:srgbClr>
            </a:solidFill>
            <a:prstDash val="solid"/>
          </a:ln>
        </p:spPr>
      </p:sp>
      <p:sp>
        <p:nvSpPr>
          <p:cNvPr id="6" name="Shape 4"/>
          <p:cNvSpPr/>
          <p:nvPr/>
        </p:nvSpPr>
        <p:spPr>
          <a:xfrm>
            <a:off x="6400800" y="2734056"/>
            <a:ext cx="347472" cy="237744"/>
          </a:xfrm>
          <a:prstGeom prst="roundRect">
            <a:avLst>
              <a:gd name="adj" fmla="val 15385"/>
            </a:avLst>
          </a:prstGeom>
          <a:solidFill>
            <a:srgbClr val="76B900">
              <a:alpha val="66000"/>
            </a:srgbClr>
          </a:solidFill>
          <a:ln w="12700">
            <a:solidFill>
              <a:srgbClr val="76B900">
                <a:alpha val="60000"/>
              </a:srgbClr>
            </a:solidFill>
            <a:prstDash val="solid"/>
          </a:ln>
        </p:spPr>
      </p:sp>
      <p:sp>
        <p:nvSpPr>
          <p:cNvPr id="7" name="Shape 5"/>
          <p:cNvSpPr/>
          <p:nvPr/>
        </p:nvSpPr>
        <p:spPr>
          <a:xfrm>
            <a:off x="6400800" y="3264408"/>
            <a:ext cx="347472" cy="237744"/>
          </a:xfrm>
          <a:prstGeom prst="roundRect">
            <a:avLst>
              <a:gd name="adj" fmla="val 15385"/>
            </a:avLst>
          </a:prstGeom>
          <a:solidFill>
            <a:srgbClr val="76B900">
              <a:alpha val="63000"/>
            </a:srgbClr>
          </a:solidFill>
          <a:ln w="12700">
            <a:solidFill>
              <a:srgbClr val="76B900">
                <a:alpha val="60000"/>
              </a:srgbClr>
            </a:solidFill>
            <a:prstDash val="solid"/>
          </a:ln>
        </p:spPr>
      </p:sp>
      <p:sp>
        <p:nvSpPr>
          <p:cNvPr id="8" name="Shape 6"/>
          <p:cNvSpPr/>
          <p:nvPr/>
        </p:nvSpPr>
        <p:spPr>
          <a:xfrm>
            <a:off x="7004304" y="1143000"/>
            <a:ext cx="347472" cy="237744"/>
          </a:xfrm>
          <a:prstGeom prst="roundRect">
            <a:avLst>
              <a:gd name="adj" fmla="val 15385"/>
            </a:avLst>
          </a:prstGeom>
          <a:solidFill>
            <a:srgbClr val="76B900">
              <a:alpha val="72000"/>
            </a:srgbClr>
          </a:solidFill>
          <a:ln w="12700">
            <a:solidFill>
              <a:srgbClr val="76B900">
                <a:alpha val="60000"/>
              </a:srgbClr>
            </a:solidFill>
            <a:prstDash val="solid"/>
          </a:ln>
        </p:spPr>
      </p:sp>
      <p:sp>
        <p:nvSpPr>
          <p:cNvPr id="9" name="Shape 7"/>
          <p:cNvSpPr/>
          <p:nvPr/>
        </p:nvSpPr>
        <p:spPr>
          <a:xfrm>
            <a:off x="7004304" y="1673352"/>
            <a:ext cx="347472" cy="237744"/>
          </a:xfrm>
          <a:prstGeom prst="roundRect">
            <a:avLst>
              <a:gd name="adj" fmla="val 15385"/>
            </a:avLst>
          </a:prstGeom>
          <a:solidFill>
            <a:srgbClr val="76B900">
              <a:alpha val="69000"/>
            </a:srgbClr>
          </a:solidFill>
          <a:ln w="12700">
            <a:solidFill>
              <a:srgbClr val="76B900">
                <a:alpha val="60000"/>
              </a:srgbClr>
            </a:solidFill>
            <a:prstDash val="solid"/>
          </a:ln>
        </p:spPr>
      </p:sp>
      <p:sp>
        <p:nvSpPr>
          <p:cNvPr id="10" name="Shape 8"/>
          <p:cNvSpPr/>
          <p:nvPr/>
        </p:nvSpPr>
        <p:spPr>
          <a:xfrm>
            <a:off x="7004304" y="2203704"/>
            <a:ext cx="347472" cy="237744"/>
          </a:xfrm>
          <a:prstGeom prst="roundRect">
            <a:avLst>
              <a:gd name="adj" fmla="val 15385"/>
            </a:avLst>
          </a:prstGeom>
          <a:solidFill>
            <a:srgbClr val="76B900">
              <a:alpha val="66000"/>
            </a:srgbClr>
          </a:solidFill>
          <a:ln w="12700">
            <a:solidFill>
              <a:srgbClr val="76B900">
                <a:alpha val="60000"/>
              </a:srgbClr>
            </a:solidFill>
            <a:prstDash val="solid"/>
          </a:ln>
        </p:spPr>
      </p:sp>
      <p:sp>
        <p:nvSpPr>
          <p:cNvPr id="11" name="Shape 9"/>
          <p:cNvSpPr/>
          <p:nvPr/>
        </p:nvSpPr>
        <p:spPr>
          <a:xfrm>
            <a:off x="7004304" y="2734056"/>
            <a:ext cx="347472" cy="237744"/>
          </a:xfrm>
          <a:prstGeom prst="roundRect">
            <a:avLst>
              <a:gd name="adj" fmla="val 15385"/>
            </a:avLst>
          </a:prstGeom>
          <a:solidFill>
            <a:srgbClr val="76B900">
              <a:alpha val="63000"/>
            </a:srgbClr>
          </a:solidFill>
          <a:ln w="12700">
            <a:solidFill>
              <a:srgbClr val="76B900">
                <a:alpha val="60000"/>
              </a:srgbClr>
            </a:solidFill>
            <a:prstDash val="solid"/>
          </a:ln>
        </p:spPr>
      </p:sp>
      <p:sp>
        <p:nvSpPr>
          <p:cNvPr id="12" name="Shape 10"/>
          <p:cNvSpPr/>
          <p:nvPr/>
        </p:nvSpPr>
        <p:spPr>
          <a:xfrm>
            <a:off x="7004304" y="3264408"/>
            <a:ext cx="347472" cy="237744"/>
          </a:xfrm>
          <a:prstGeom prst="roundRect">
            <a:avLst>
              <a:gd name="adj" fmla="val 15385"/>
            </a:avLst>
          </a:prstGeom>
          <a:solidFill>
            <a:srgbClr val="76B900">
              <a:alpha val="60000"/>
            </a:srgbClr>
          </a:solidFill>
          <a:ln w="12700">
            <a:solidFill>
              <a:srgbClr val="76B900">
                <a:alpha val="60000"/>
              </a:srgbClr>
            </a:solidFill>
            <a:prstDash val="solid"/>
          </a:ln>
        </p:spPr>
      </p:sp>
      <p:sp>
        <p:nvSpPr>
          <p:cNvPr id="13" name="Shape 11"/>
          <p:cNvSpPr/>
          <p:nvPr/>
        </p:nvSpPr>
        <p:spPr>
          <a:xfrm>
            <a:off x="7607808" y="1143000"/>
            <a:ext cx="347472" cy="237744"/>
          </a:xfrm>
          <a:prstGeom prst="roundRect">
            <a:avLst>
              <a:gd name="adj" fmla="val 15385"/>
            </a:avLst>
          </a:prstGeom>
          <a:solidFill>
            <a:srgbClr val="76B900">
              <a:alpha val="69000"/>
            </a:srgbClr>
          </a:solidFill>
          <a:ln w="12700">
            <a:solidFill>
              <a:srgbClr val="76B900">
                <a:alpha val="60000"/>
              </a:srgbClr>
            </a:solidFill>
            <a:prstDash val="solid"/>
          </a:ln>
        </p:spPr>
      </p:sp>
      <p:sp>
        <p:nvSpPr>
          <p:cNvPr id="14" name="Shape 12"/>
          <p:cNvSpPr/>
          <p:nvPr/>
        </p:nvSpPr>
        <p:spPr>
          <a:xfrm>
            <a:off x="7607808" y="1673352"/>
            <a:ext cx="347472" cy="237744"/>
          </a:xfrm>
          <a:prstGeom prst="roundRect">
            <a:avLst>
              <a:gd name="adj" fmla="val 15385"/>
            </a:avLst>
          </a:prstGeom>
          <a:solidFill>
            <a:srgbClr val="76B900">
              <a:alpha val="66000"/>
            </a:srgbClr>
          </a:solidFill>
          <a:ln w="12700">
            <a:solidFill>
              <a:srgbClr val="76B900">
                <a:alpha val="60000"/>
              </a:srgbClr>
            </a:solidFill>
            <a:prstDash val="solid"/>
          </a:ln>
        </p:spPr>
      </p:sp>
      <p:sp>
        <p:nvSpPr>
          <p:cNvPr id="15" name="Shape 13"/>
          <p:cNvSpPr/>
          <p:nvPr/>
        </p:nvSpPr>
        <p:spPr>
          <a:xfrm>
            <a:off x="7607808" y="2203704"/>
            <a:ext cx="347472" cy="237744"/>
          </a:xfrm>
          <a:prstGeom prst="roundRect">
            <a:avLst>
              <a:gd name="adj" fmla="val 15385"/>
            </a:avLst>
          </a:prstGeom>
          <a:solidFill>
            <a:srgbClr val="76B900">
              <a:alpha val="63000"/>
            </a:srgbClr>
          </a:solidFill>
          <a:ln w="12700">
            <a:solidFill>
              <a:srgbClr val="76B900">
                <a:alpha val="60000"/>
              </a:srgbClr>
            </a:solidFill>
            <a:prstDash val="solid"/>
          </a:ln>
        </p:spPr>
      </p:sp>
      <p:sp>
        <p:nvSpPr>
          <p:cNvPr id="16" name="Shape 14"/>
          <p:cNvSpPr/>
          <p:nvPr/>
        </p:nvSpPr>
        <p:spPr>
          <a:xfrm>
            <a:off x="7607808" y="2734056"/>
            <a:ext cx="347472" cy="237744"/>
          </a:xfrm>
          <a:prstGeom prst="roundRect">
            <a:avLst>
              <a:gd name="adj" fmla="val 15385"/>
            </a:avLst>
          </a:prstGeom>
          <a:solidFill>
            <a:srgbClr val="76B900">
              <a:alpha val="60000"/>
            </a:srgbClr>
          </a:solidFill>
          <a:ln w="12700">
            <a:solidFill>
              <a:srgbClr val="76B900">
                <a:alpha val="60000"/>
              </a:srgbClr>
            </a:solidFill>
            <a:prstDash val="solid"/>
          </a:ln>
        </p:spPr>
      </p:sp>
      <p:sp>
        <p:nvSpPr>
          <p:cNvPr id="17" name="Shape 15"/>
          <p:cNvSpPr/>
          <p:nvPr/>
        </p:nvSpPr>
        <p:spPr>
          <a:xfrm>
            <a:off x="7607808" y="3264408"/>
            <a:ext cx="347472" cy="237744"/>
          </a:xfrm>
          <a:prstGeom prst="roundRect">
            <a:avLst>
              <a:gd name="adj" fmla="val 15385"/>
            </a:avLst>
          </a:prstGeom>
          <a:solidFill>
            <a:srgbClr val="76B900">
              <a:alpha val="57000"/>
            </a:srgbClr>
          </a:solidFill>
          <a:ln w="12700">
            <a:solidFill>
              <a:srgbClr val="76B900">
                <a:alpha val="60000"/>
              </a:srgbClr>
            </a:solidFill>
            <a:prstDash val="solid"/>
          </a:ln>
        </p:spPr>
      </p:sp>
      <p:sp>
        <p:nvSpPr>
          <p:cNvPr id="18" name="Shape 16"/>
          <p:cNvSpPr/>
          <p:nvPr/>
        </p:nvSpPr>
        <p:spPr>
          <a:xfrm>
            <a:off x="8211312" y="1143000"/>
            <a:ext cx="347472" cy="237744"/>
          </a:xfrm>
          <a:prstGeom prst="roundRect">
            <a:avLst>
              <a:gd name="adj" fmla="val 15385"/>
            </a:avLst>
          </a:prstGeom>
          <a:solidFill>
            <a:srgbClr val="76B900">
              <a:alpha val="66000"/>
            </a:srgbClr>
          </a:solidFill>
          <a:ln w="12700">
            <a:solidFill>
              <a:srgbClr val="76B900">
                <a:alpha val="60000"/>
              </a:srgbClr>
            </a:solidFill>
            <a:prstDash val="solid"/>
          </a:ln>
        </p:spPr>
      </p:sp>
      <p:sp>
        <p:nvSpPr>
          <p:cNvPr id="19" name="Shape 17"/>
          <p:cNvSpPr/>
          <p:nvPr/>
        </p:nvSpPr>
        <p:spPr>
          <a:xfrm>
            <a:off x="8211312" y="1673352"/>
            <a:ext cx="347472" cy="237744"/>
          </a:xfrm>
          <a:prstGeom prst="roundRect">
            <a:avLst>
              <a:gd name="adj" fmla="val 15385"/>
            </a:avLst>
          </a:prstGeom>
          <a:solidFill>
            <a:srgbClr val="76B900">
              <a:alpha val="63000"/>
            </a:srgbClr>
          </a:solidFill>
          <a:ln w="12700">
            <a:solidFill>
              <a:srgbClr val="76B900">
                <a:alpha val="60000"/>
              </a:srgbClr>
            </a:solidFill>
            <a:prstDash val="solid"/>
          </a:ln>
        </p:spPr>
      </p:sp>
      <p:sp>
        <p:nvSpPr>
          <p:cNvPr id="20" name="Shape 18"/>
          <p:cNvSpPr/>
          <p:nvPr/>
        </p:nvSpPr>
        <p:spPr>
          <a:xfrm>
            <a:off x="8211312" y="2203704"/>
            <a:ext cx="347472" cy="237744"/>
          </a:xfrm>
          <a:prstGeom prst="roundRect">
            <a:avLst>
              <a:gd name="adj" fmla="val 15385"/>
            </a:avLst>
          </a:prstGeom>
          <a:solidFill>
            <a:srgbClr val="76B900">
              <a:alpha val="60000"/>
            </a:srgbClr>
          </a:solidFill>
          <a:ln w="12700">
            <a:solidFill>
              <a:srgbClr val="76B900">
                <a:alpha val="60000"/>
              </a:srgbClr>
            </a:solidFill>
            <a:prstDash val="solid"/>
          </a:ln>
        </p:spPr>
      </p:sp>
      <p:sp>
        <p:nvSpPr>
          <p:cNvPr id="21" name="Shape 19"/>
          <p:cNvSpPr/>
          <p:nvPr/>
        </p:nvSpPr>
        <p:spPr>
          <a:xfrm>
            <a:off x="8211312" y="2734056"/>
            <a:ext cx="347472" cy="237744"/>
          </a:xfrm>
          <a:prstGeom prst="roundRect">
            <a:avLst>
              <a:gd name="adj" fmla="val 15385"/>
            </a:avLst>
          </a:prstGeom>
          <a:solidFill>
            <a:srgbClr val="76B900">
              <a:alpha val="57000"/>
            </a:srgbClr>
          </a:solidFill>
          <a:ln w="12700">
            <a:solidFill>
              <a:srgbClr val="76B900">
                <a:alpha val="60000"/>
              </a:srgbClr>
            </a:solidFill>
            <a:prstDash val="solid"/>
          </a:ln>
        </p:spPr>
      </p:sp>
      <p:sp>
        <p:nvSpPr>
          <p:cNvPr id="22" name="Shape 20"/>
          <p:cNvSpPr/>
          <p:nvPr/>
        </p:nvSpPr>
        <p:spPr>
          <a:xfrm>
            <a:off x="8211312" y="3264408"/>
            <a:ext cx="347472" cy="237744"/>
          </a:xfrm>
          <a:prstGeom prst="roundRect">
            <a:avLst>
              <a:gd name="adj" fmla="val 15385"/>
            </a:avLst>
          </a:prstGeom>
          <a:solidFill>
            <a:srgbClr val="76B900">
              <a:alpha val="54000"/>
            </a:srgbClr>
          </a:solidFill>
          <a:ln w="12700">
            <a:solidFill>
              <a:srgbClr val="76B900">
                <a:alpha val="60000"/>
              </a:srgbClr>
            </a:solidFill>
            <a:prstDash val="solid"/>
          </a:ln>
        </p:spPr>
      </p:sp>
      <p:sp>
        <p:nvSpPr>
          <p:cNvPr id="23" name="Shape 21"/>
          <p:cNvSpPr/>
          <p:nvPr/>
        </p:nvSpPr>
        <p:spPr>
          <a:xfrm>
            <a:off x="8814816" y="1143000"/>
            <a:ext cx="347472" cy="237744"/>
          </a:xfrm>
          <a:prstGeom prst="roundRect">
            <a:avLst>
              <a:gd name="adj" fmla="val 15385"/>
            </a:avLst>
          </a:prstGeom>
          <a:solidFill>
            <a:srgbClr val="76B900">
              <a:alpha val="63000"/>
            </a:srgbClr>
          </a:solidFill>
          <a:ln w="12700">
            <a:solidFill>
              <a:srgbClr val="76B900">
                <a:alpha val="60000"/>
              </a:srgbClr>
            </a:solidFill>
            <a:prstDash val="solid"/>
          </a:ln>
        </p:spPr>
      </p:sp>
      <p:sp>
        <p:nvSpPr>
          <p:cNvPr id="24" name="Shape 22"/>
          <p:cNvSpPr/>
          <p:nvPr/>
        </p:nvSpPr>
        <p:spPr>
          <a:xfrm>
            <a:off x="8814816" y="1673352"/>
            <a:ext cx="347472" cy="237744"/>
          </a:xfrm>
          <a:prstGeom prst="roundRect">
            <a:avLst>
              <a:gd name="adj" fmla="val 15385"/>
            </a:avLst>
          </a:prstGeom>
          <a:solidFill>
            <a:srgbClr val="76B900">
              <a:alpha val="60000"/>
            </a:srgbClr>
          </a:solidFill>
          <a:ln w="12700">
            <a:solidFill>
              <a:srgbClr val="76B900">
                <a:alpha val="60000"/>
              </a:srgbClr>
            </a:solidFill>
            <a:prstDash val="solid"/>
          </a:ln>
        </p:spPr>
      </p:sp>
      <p:sp>
        <p:nvSpPr>
          <p:cNvPr id="25" name="Shape 23"/>
          <p:cNvSpPr/>
          <p:nvPr/>
        </p:nvSpPr>
        <p:spPr>
          <a:xfrm>
            <a:off x="8814816" y="2203704"/>
            <a:ext cx="347472" cy="237744"/>
          </a:xfrm>
          <a:prstGeom prst="roundRect">
            <a:avLst>
              <a:gd name="adj" fmla="val 15385"/>
            </a:avLst>
          </a:prstGeom>
          <a:solidFill>
            <a:srgbClr val="76B900">
              <a:alpha val="57000"/>
            </a:srgbClr>
          </a:solidFill>
          <a:ln w="12700">
            <a:solidFill>
              <a:srgbClr val="76B900">
                <a:alpha val="60000"/>
              </a:srgbClr>
            </a:solidFill>
            <a:prstDash val="solid"/>
          </a:ln>
        </p:spPr>
      </p:sp>
      <p:sp>
        <p:nvSpPr>
          <p:cNvPr id="26" name="Shape 24"/>
          <p:cNvSpPr/>
          <p:nvPr/>
        </p:nvSpPr>
        <p:spPr>
          <a:xfrm>
            <a:off x="8814816" y="2734056"/>
            <a:ext cx="347472" cy="237744"/>
          </a:xfrm>
          <a:prstGeom prst="roundRect">
            <a:avLst>
              <a:gd name="adj" fmla="val 15385"/>
            </a:avLst>
          </a:prstGeom>
          <a:solidFill>
            <a:srgbClr val="76B900">
              <a:alpha val="54000"/>
            </a:srgbClr>
          </a:solidFill>
          <a:ln w="12700">
            <a:solidFill>
              <a:srgbClr val="76B900">
                <a:alpha val="60000"/>
              </a:srgbClr>
            </a:solidFill>
            <a:prstDash val="solid"/>
          </a:ln>
        </p:spPr>
      </p:sp>
      <p:sp>
        <p:nvSpPr>
          <p:cNvPr id="27" name="Shape 25"/>
          <p:cNvSpPr/>
          <p:nvPr/>
        </p:nvSpPr>
        <p:spPr>
          <a:xfrm>
            <a:off x="8814816" y="3264408"/>
            <a:ext cx="347472" cy="237744"/>
          </a:xfrm>
          <a:prstGeom prst="roundRect">
            <a:avLst>
              <a:gd name="adj" fmla="val 15385"/>
            </a:avLst>
          </a:prstGeom>
          <a:solidFill>
            <a:srgbClr val="76B900">
              <a:alpha val="51000"/>
            </a:srgbClr>
          </a:solidFill>
          <a:ln w="12700">
            <a:solidFill>
              <a:srgbClr val="76B900">
                <a:alpha val="60000"/>
              </a:srgbClr>
            </a:solidFill>
            <a:prstDash val="solid"/>
          </a:ln>
        </p:spPr>
      </p:sp>
      <p:sp>
        <p:nvSpPr>
          <p:cNvPr id="28" name="Shape 26"/>
          <p:cNvSpPr/>
          <p:nvPr/>
        </p:nvSpPr>
        <p:spPr>
          <a:xfrm>
            <a:off x="9418320" y="1143000"/>
            <a:ext cx="347472" cy="237744"/>
          </a:xfrm>
          <a:prstGeom prst="roundRect">
            <a:avLst>
              <a:gd name="adj" fmla="val 15385"/>
            </a:avLst>
          </a:prstGeom>
          <a:solidFill>
            <a:srgbClr val="76B900">
              <a:alpha val="60000"/>
            </a:srgbClr>
          </a:solidFill>
          <a:ln w="12700">
            <a:solidFill>
              <a:srgbClr val="76B900">
                <a:alpha val="60000"/>
              </a:srgbClr>
            </a:solidFill>
            <a:prstDash val="solid"/>
          </a:ln>
        </p:spPr>
      </p:sp>
      <p:sp>
        <p:nvSpPr>
          <p:cNvPr id="29" name="Shape 27"/>
          <p:cNvSpPr/>
          <p:nvPr/>
        </p:nvSpPr>
        <p:spPr>
          <a:xfrm>
            <a:off x="9418320" y="1673352"/>
            <a:ext cx="347472" cy="237744"/>
          </a:xfrm>
          <a:prstGeom prst="roundRect">
            <a:avLst>
              <a:gd name="adj" fmla="val 15385"/>
            </a:avLst>
          </a:prstGeom>
          <a:solidFill>
            <a:srgbClr val="76B900">
              <a:alpha val="57000"/>
            </a:srgbClr>
          </a:solidFill>
          <a:ln w="12700">
            <a:solidFill>
              <a:srgbClr val="76B900">
                <a:alpha val="60000"/>
              </a:srgbClr>
            </a:solidFill>
            <a:prstDash val="solid"/>
          </a:ln>
        </p:spPr>
      </p:sp>
      <p:sp>
        <p:nvSpPr>
          <p:cNvPr id="30" name="Shape 28"/>
          <p:cNvSpPr/>
          <p:nvPr/>
        </p:nvSpPr>
        <p:spPr>
          <a:xfrm>
            <a:off x="9418320" y="2203704"/>
            <a:ext cx="347472" cy="237744"/>
          </a:xfrm>
          <a:prstGeom prst="roundRect">
            <a:avLst>
              <a:gd name="adj" fmla="val 15385"/>
            </a:avLst>
          </a:prstGeom>
          <a:solidFill>
            <a:srgbClr val="76B900">
              <a:alpha val="54000"/>
            </a:srgbClr>
          </a:solidFill>
          <a:ln w="12700">
            <a:solidFill>
              <a:srgbClr val="76B900">
                <a:alpha val="60000"/>
              </a:srgbClr>
            </a:solidFill>
            <a:prstDash val="solid"/>
          </a:ln>
        </p:spPr>
      </p:sp>
      <p:sp>
        <p:nvSpPr>
          <p:cNvPr id="31" name="Shape 29"/>
          <p:cNvSpPr/>
          <p:nvPr/>
        </p:nvSpPr>
        <p:spPr>
          <a:xfrm>
            <a:off x="9418320" y="2734056"/>
            <a:ext cx="347472" cy="237744"/>
          </a:xfrm>
          <a:prstGeom prst="roundRect">
            <a:avLst>
              <a:gd name="adj" fmla="val 15385"/>
            </a:avLst>
          </a:prstGeom>
          <a:solidFill>
            <a:srgbClr val="76B900">
              <a:alpha val="51000"/>
            </a:srgbClr>
          </a:solidFill>
          <a:ln w="12700">
            <a:solidFill>
              <a:srgbClr val="76B900">
                <a:alpha val="60000"/>
              </a:srgbClr>
            </a:solidFill>
            <a:prstDash val="solid"/>
          </a:ln>
        </p:spPr>
      </p:sp>
      <p:sp>
        <p:nvSpPr>
          <p:cNvPr id="32" name="Shape 30"/>
          <p:cNvSpPr/>
          <p:nvPr/>
        </p:nvSpPr>
        <p:spPr>
          <a:xfrm>
            <a:off x="9418320" y="3264408"/>
            <a:ext cx="347472" cy="237744"/>
          </a:xfrm>
          <a:prstGeom prst="roundRect">
            <a:avLst>
              <a:gd name="adj" fmla="val 15385"/>
            </a:avLst>
          </a:prstGeom>
          <a:solidFill>
            <a:srgbClr val="76B900">
              <a:alpha val="48000"/>
            </a:srgbClr>
          </a:solidFill>
          <a:ln w="12700">
            <a:solidFill>
              <a:srgbClr val="76B900">
                <a:alpha val="60000"/>
              </a:srgbClr>
            </a:solidFill>
            <a:prstDash val="solid"/>
          </a:ln>
        </p:spPr>
      </p:sp>
      <p:sp>
        <p:nvSpPr>
          <p:cNvPr id="33" name="Shape 31"/>
          <p:cNvSpPr/>
          <p:nvPr/>
        </p:nvSpPr>
        <p:spPr>
          <a:xfrm>
            <a:off x="10021824" y="1143000"/>
            <a:ext cx="347472" cy="237744"/>
          </a:xfrm>
          <a:prstGeom prst="roundRect">
            <a:avLst>
              <a:gd name="adj" fmla="val 15385"/>
            </a:avLst>
          </a:prstGeom>
          <a:solidFill>
            <a:srgbClr val="76B900">
              <a:alpha val="57000"/>
            </a:srgbClr>
          </a:solidFill>
          <a:ln w="12700">
            <a:solidFill>
              <a:srgbClr val="76B900">
                <a:alpha val="60000"/>
              </a:srgbClr>
            </a:solidFill>
            <a:prstDash val="solid"/>
          </a:ln>
        </p:spPr>
      </p:sp>
      <p:sp>
        <p:nvSpPr>
          <p:cNvPr id="34" name="Shape 32"/>
          <p:cNvSpPr/>
          <p:nvPr/>
        </p:nvSpPr>
        <p:spPr>
          <a:xfrm>
            <a:off x="10021824" y="1673352"/>
            <a:ext cx="347472" cy="237744"/>
          </a:xfrm>
          <a:prstGeom prst="roundRect">
            <a:avLst>
              <a:gd name="adj" fmla="val 15385"/>
            </a:avLst>
          </a:prstGeom>
          <a:solidFill>
            <a:srgbClr val="76B900">
              <a:alpha val="54000"/>
            </a:srgbClr>
          </a:solidFill>
          <a:ln w="12700">
            <a:solidFill>
              <a:srgbClr val="76B900">
                <a:alpha val="60000"/>
              </a:srgbClr>
            </a:solidFill>
            <a:prstDash val="solid"/>
          </a:ln>
        </p:spPr>
      </p:sp>
      <p:sp>
        <p:nvSpPr>
          <p:cNvPr id="35" name="Shape 33"/>
          <p:cNvSpPr/>
          <p:nvPr/>
        </p:nvSpPr>
        <p:spPr>
          <a:xfrm>
            <a:off x="10021824" y="2203704"/>
            <a:ext cx="347472" cy="237744"/>
          </a:xfrm>
          <a:prstGeom prst="roundRect">
            <a:avLst>
              <a:gd name="adj" fmla="val 15385"/>
            </a:avLst>
          </a:prstGeom>
          <a:solidFill>
            <a:srgbClr val="76B900">
              <a:alpha val="51000"/>
            </a:srgbClr>
          </a:solidFill>
          <a:ln w="12700">
            <a:solidFill>
              <a:srgbClr val="76B900">
                <a:alpha val="60000"/>
              </a:srgbClr>
            </a:solidFill>
            <a:prstDash val="solid"/>
          </a:ln>
        </p:spPr>
      </p:sp>
      <p:sp>
        <p:nvSpPr>
          <p:cNvPr id="36" name="Shape 34"/>
          <p:cNvSpPr/>
          <p:nvPr/>
        </p:nvSpPr>
        <p:spPr>
          <a:xfrm>
            <a:off x="10021824" y="2734056"/>
            <a:ext cx="347472" cy="237744"/>
          </a:xfrm>
          <a:prstGeom prst="roundRect">
            <a:avLst>
              <a:gd name="adj" fmla="val 15385"/>
            </a:avLst>
          </a:prstGeom>
          <a:solidFill>
            <a:srgbClr val="76B900">
              <a:alpha val="48000"/>
            </a:srgbClr>
          </a:solidFill>
          <a:ln w="12700">
            <a:solidFill>
              <a:srgbClr val="76B900">
                <a:alpha val="60000"/>
              </a:srgbClr>
            </a:solidFill>
            <a:prstDash val="solid"/>
          </a:ln>
        </p:spPr>
      </p:sp>
      <p:sp>
        <p:nvSpPr>
          <p:cNvPr id="37" name="Shape 35"/>
          <p:cNvSpPr/>
          <p:nvPr/>
        </p:nvSpPr>
        <p:spPr>
          <a:xfrm>
            <a:off x="10021824" y="3264408"/>
            <a:ext cx="347472" cy="237744"/>
          </a:xfrm>
          <a:prstGeom prst="roundRect">
            <a:avLst>
              <a:gd name="adj" fmla="val 15385"/>
            </a:avLst>
          </a:prstGeom>
          <a:solidFill>
            <a:srgbClr val="76B900">
              <a:alpha val="45000"/>
            </a:srgbClr>
          </a:solidFill>
          <a:ln w="12700">
            <a:solidFill>
              <a:srgbClr val="76B900">
                <a:alpha val="60000"/>
              </a:srgbClr>
            </a:solidFill>
            <a:prstDash val="solid"/>
          </a:ln>
        </p:spPr>
      </p:sp>
      <p:sp>
        <p:nvSpPr>
          <p:cNvPr id="38" name="Shape 36"/>
          <p:cNvSpPr/>
          <p:nvPr/>
        </p:nvSpPr>
        <p:spPr>
          <a:xfrm>
            <a:off x="10625328" y="1143000"/>
            <a:ext cx="347472" cy="237744"/>
          </a:xfrm>
          <a:prstGeom prst="roundRect">
            <a:avLst>
              <a:gd name="adj" fmla="val 15385"/>
            </a:avLst>
          </a:prstGeom>
          <a:solidFill>
            <a:srgbClr val="76B900">
              <a:alpha val="54000"/>
            </a:srgbClr>
          </a:solidFill>
          <a:ln w="12700">
            <a:solidFill>
              <a:srgbClr val="76B900">
                <a:alpha val="60000"/>
              </a:srgbClr>
            </a:solidFill>
            <a:prstDash val="solid"/>
          </a:ln>
        </p:spPr>
      </p:sp>
      <p:sp>
        <p:nvSpPr>
          <p:cNvPr id="39" name="Shape 37"/>
          <p:cNvSpPr/>
          <p:nvPr/>
        </p:nvSpPr>
        <p:spPr>
          <a:xfrm>
            <a:off x="10625328" y="1673352"/>
            <a:ext cx="347472" cy="237744"/>
          </a:xfrm>
          <a:prstGeom prst="roundRect">
            <a:avLst>
              <a:gd name="adj" fmla="val 15385"/>
            </a:avLst>
          </a:prstGeom>
          <a:solidFill>
            <a:srgbClr val="76B900">
              <a:alpha val="51000"/>
            </a:srgbClr>
          </a:solidFill>
          <a:ln w="12700">
            <a:solidFill>
              <a:srgbClr val="76B900">
                <a:alpha val="60000"/>
              </a:srgbClr>
            </a:solidFill>
            <a:prstDash val="solid"/>
          </a:ln>
        </p:spPr>
      </p:sp>
      <p:sp>
        <p:nvSpPr>
          <p:cNvPr id="40" name="Shape 38"/>
          <p:cNvSpPr/>
          <p:nvPr/>
        </p:nvSpPr>
        <p:spPr>
          <a:xfrm>
            <a:off x="10625328" y="2203704"/>
            <a:ext cx="347472" cy="237744"/>
          </a:xfrm>
          <a:prstGeom prst="roundRect">
            <a:avLst>
              <a:gd name="adj" fmla="val 15385"/>
            </a:avLst>
          </a:prstGeom>
          <a:solidFill>
            <a:srgbClr val="76B900">
              <a:alpha val="48000"/>
            </a:srgbClr>
          </a:solidFill>
          <a:ln w="12700">
            <a:solidFill>
              <a:srgbClr val="76B900">
                <a:alpha val="60000"/>
              </a:srgbClr>
            </a:solidFill>
            <a:prstDash val="solid"/>
          </a:ln>
        </p:spPr>
      </p:sp>
      <p:sp>
        <p:nvSpPr>
          <p:cNvPr id="41" name="Shape 39"/>
          <p:cNvSpPr/>
          <p:nvPr/>
        </p:nvSpPr>
        <p:spPr>
          <a:xfrm>
            <a:off x="10625328" y="2734056"/>
            <a:ext cx="347472" cy="237744"/>
          </a:xfrm>
          <a:prstGeom prst="roundRect">
            <a:avLst>
              <a:gd name="adj" fmla="val 15385"/>
            </a:avLst>
          </a:prstGeom>
          <a:solidFill>
            <a:srgbClr val="76B900">
              <a:alpha val="45000"/>
            </a:srgbClr>
          </a:solidFill>
          <a:ln w="12700">
            <a:solidFill>
              <a:srgbClr val="76B900">
                <a:alpha val="60000"/>
              </a:srgbClr>
            </a:solidFill>
            <a:prstDash val="solid"/>
          </a:ln>
        </p:spPr>
      </p:sp>
      <p:sp>
        <p:nvSpPr>
          <p:cNvPr id="42" name="Shape 40"/>
          <p:cNvSpPr/>
          <p:nvPr/>
        </p:nvSpPr>
        <p:spPr>
          <a:xfrm>
            <a:off x="10625328" y="3264408"/>
            <a:ext cx="347472" cy="237744"/>
          </a:xfrm>
          <a:prstGeom prst="roundRect">
            <a:avLst>
              <a:gd name="adj" fmla="val 15385"/>
            </a:avLst>
          </a:prstGeom>
          <a:solidFill>
            <a:srgbClr val="76B900">
              <a:alpha val="42000"/>
            </a:srgbClr>
          </a:solidFill>
          <a:ln w="12700">
            <a:solidFill>
              <a:srgbClr val="76B900">
                <a:alpha val="60000"/>
              </a:srgbClr>
            </a:solidFill>
            <a:prstDash val="solid"/>
          </a:ln>
        </p:spPr>
      </p:sp>
      <p:sp>
        <p:nvSpPr>
          <p:cNvPr id="43" name="Shape 41"/>
          <p:cNvSpPr/>
          <p:nvPr/>
        </p:nvSpPr>
        <p:spPr>
          <a:xfrm>
            <a:off x="0" y="0"/>
            <a:ext cx="146304" cy="6858000"/>
          </a:xfrm>
          <a:prstGeom prst="rect">
            <a:avLst/>
          </a:prstGeom>
          <a:solidFill>
            <a:srgbClr val="76B900"/>
          </a:solidFill>
          <a:ln w="12700">
            <a:solidFill>
              <a:srgbClr val="76B900"/>
            </a:solidFill>
            <a:prstDash val="solid"/>
          </a:ln>
        </p:spPr>
      </p:sp>
      <p:sp>
        <p:nvSpPr>
          <p:cNvPr id="44" name="Text 42"/>
          <p:cNvSpPr/>
          <p:nvPr/>
        </p:nvSpPr>
        <p:spPr>
          <a:xfrm>
            <a:off x="594360" y="1051560"/>
            <a:ext cx="1828800" cy="320040"/>
          </a:xfrm>
          <a:prstGeom prst="rect">
            <a:avLst/>
          </a:prstGeom>
          <a:noFill/>
          <a:ln/>
        </p:spPr>
        <p:txBody>
          <a:bodyPr wrap="square" lIns="0" tIns="0" rIns="0" bIns="0" rtlCol="0" anchor="ctr"/>
          <a:lstStyle/>
          <a:p>
            <a:pPr indent="0" marL="0">
              <a:buNone/>
            </a:pPr>
            <a:r>
              <a:rPr lang="en-US" sz="1600" b="1" dirty="0">
                <a:solidFill>
                  <a:srgbClr val="76B900"/>
                </a:solidFill>
              </a:rPr>
              <a:t>Seminar 2</a:t>
            </a:r>
            <a:endParaRPr lang="en-US" sz="1600" dirty="0"/>
          </a:p>
        </p:txBody>
      </p:sp>
      <p:sp>
        <p:nvSpPr>
          <p:cNvPr id="45" name="Text 43"/>
          <p:cNvSpPr/>
          <p:nvPr/>
        </p:nvSpPr>
        <p:spPr>
          <a:xfrm>
            <a:off x="594360" y="1536192"/>
            <a:ext cx="5760720" cy="1481328"/>
          </a:xfrm>
          <a:prstGeom prst="rect">
            <a:avLst/>
          </a:prstGeom>
          <a:noFill/>
          <a:ln/>
        </p:spPr>
        <p:txBody>
          <a:bodyPr wrap="square" lIns="0" tIns="0" rIns="0" bIns="0" rtlCol="0" anchor="ctr">
            <a:normAutofit/>
          </a:bodyPr>
          <a:lstStyle/>
          <a:p>
            <a:pPr indent="0" marL="0">
              <a:buNone/>
            </a:pPr>
            <a:r>
              <a:rPr lang="en-US" sz="3600" b="1" dirty="0">
                <a:solidFill>
                  <a:srgbClr val="F7FAFC"/>
                </a:solidFill>
                <a:latin typeface="Aptos Display" pitchFamily="34" charset="0"/>
                <a:ea typeface="Aptos Display" pitchFamily="34" charset="-122"/>
                <a:cs typeface="Aptos Display" pitchFamily="34" charset="-120"/>
              </a:rPr>
              <a:t>CUDA Accelerated Non-Maximum Suppression using Numba</a:t>
            </a:r>
            <a:endParaRPr lang="en-US" sz="3600" dirty="0"/>
          </a:p>
        </p:txBody>
      </p:sp>
      <p:sp>
        <p:nvSpPr>
          <p:cNvPr id="46" name="Text 44"/>
          <p:cNvSpPr/>
          <p:nvPr/>
        </p:nvSpPr>
        <p:spPr>
          <a:xfrm>
            <a:off x="621792" y="3063240"/>
            <a:ext cx="5303520" cy="320040"/>
          </a:xfrm>
          <a:prstGeom prst="rect">
            <a:avLst/>
          </a:prstGeom>
          <a:noFill/>
          <a:ln/>
        </p:spPr>
        <p:txBody>
          <a:bodyPr wrap="square" lIns="0" tIns="0" rIns="0" bIns="0" rtlCol="0" anchor="ctr"/>
          <a:lstStyle/>
          <a:p>
            <a:pPr indent="0" marL="0">
              <a:buNone/>
            </a:pPr>
            <a:r>
              <a:rPr lang="en-US" sz="1500" dirty="0">
                <a:solidFill>
                  <a:srgbClr val="B7C0C9"/>
                </a:solidFill>
              </a:rPr>
              <a:t>Applied Parallel Programming · Real-Time Object Detection Post-processing</a:t>
            </a:r>
            <a:endParaRPr lang="en-US" sz="1500" dirty="0"/>
          </a:p>
        </p:txBody>
      </p:sp>
      <p:sp>
        <p:nvSpPr>
          <p:cNvPr id="47" name="Shape 45"/>
          <p:cNvSpPr/>
          <p:nvPr/>
        </p:nvSpPr>
        <p:spPr>
          <a:xfrm>
            <a:off x="621792" y="3703320"/>
            <a:ext cx="3977640" cy="0"/>
          </a:xfrm>
          <a:prstGeom prst="line">
            <a:avLst/>
          </a:prstGeom>
          <a:noFill/>
          <a:ln w="25400">
            <a:solidFill>
              <a:srgbClr val="76B900"/>
            </a:solidFill>
            <a:prstDash val="solid"/>
          </a:ln>
        </p:spPr>
      </p:sp>
      <p:sp>
        <p:nvSpPr>
          <p:cNvPr id="48" name="Text 46"/>
          <p:cNvSpPr/>
          <p:nvPr/>
        </p:nvSpPr>
        <p:spPr>
          <a:xfrm>
            <a:off x="621792" y="3977640"/>
            <a:ext cx="4572000" cy="777240"/>
          </a:xfrm>
          <a:prstGeom prst="rect">
            <a:avLst/>
          </a:prstGeom>
          <a:noFill/>
          <a:ln/>
        </p:spPr>
        <p:txBody>
          <a:bodyPr wrap="square" lIns="254" tIns="254" rIns="254" bIns="254" rtlCol="0" anchor="ctr"/>
          <a:lstStyle/>
          <a:p>
            <a:pPr indent="0" marL="0">
              <a:buNone/>
            </a:pPr>
            <a:r>
              <a:rPr lang="en-US" sz="1400" dirty="0">
                <a:solidFill>
                  <a:srgbClr val="F7FAFC"/>
                </a:solidFill>
              </a:rPr>
              <a:t>Team members: &lt;fill names&gt;</a:t>
            </a:r>
            <a:endParaRPr lang="en-US" sz="1400" dirty="0"/>
          </a:p>
          <a:p>
            <a:pPr indent="0" marL="0">
              <a:buNone/>
            </a:pPr>
            <a:r>
              <a:rPr lang="en-US" sz="1400" dirty="0">
                <a:solidFill>
                  <a:srgbClr val="F7FAFC"/>
                </a:solidFill>
              </a:rPr>
              <a:t>Course: Applied Parallel Programming</a:t>
            </a:r>
            <a:endParaRPr lang="en-US" sz="1400" dirty="0"/>
          </a:p>
        </p:txBody>
      </p:sp>
      <p:sp>
        <p:nvSpPr>
          <p:cNvPr id="49" name="Shape 47"/>
          <p:cNvSpPr/>
          <p:nvPr/>
        </p:nvSpPr>
        <p:spPr>
          <a:xfrm>
            <a:off x="6446520" y="4315968"/>
            <a:ext cx="5029200" cy="914400"/>
          </a:xfrm>
          <a:prstGeom prst="roundRect">
            <a:avLst>
              <a:gd name="adj" fmla="val 12000"/>
            </a:avLst>
          </a:prstGeom>
          <a:solidFill>
            <a:srgbClr val="16202A"/>
          </a:solidFill>
          <a:ln w="12700">
            <a:solidFill>
              <a:srgbClr val="334155">
                <a:alpha val="75000"/>
              </a:srgbClr>
            </a:solidFill>
            <a:prstDash val="solid"/>
          </a:ln>
        </p:spPr>
      </p:sp>
      <p:sp>
        <p:nvSpPr>
          <p:cNvPr id="50" name="Text 48"/>
          <p:cNvSpPr/>
          <p:nvPr/>
        </p:nvSpPr>
        <p:spPr>
          <a:xfrm>
            <a:off x="6629400" y="4553712"/>
            <a:ext cx="4617720" cy="310896"/>
          </a:xfrm>
          <a:prstGeom prst="rect">
            <a:avLst/>
          </a:prstGeom>
          <a:noFill/>
          <a:ln/>
        </p:spPr>
        <p:txBody>
          <a:bodyPr wrap="square" lIns="0" tIns="0" rIns="0" bIns="0" rtlCol="0" anchor="ctr"/>
          <a:lstStyle/>
          <a:p>
            <a:pPr algn="ctr" indent="0" marL="0">
              <a:buNone/>
            </a:pPr>
            <a:r>
              <a:rPr lang="en-US" sz="1400" b="1" dirty="0">
                <a:solidFill>
                  <a:srgbClr val="F7FAFC"/>
                </a:solidFill>
              </a:rPr>
              <a:t>CPU baseline → profiling → custom CUDA kernel → correctness → benchmark</a:t>
            </a:r>
            <a:endParaRPr lang="en-US" sz="1400" dirty="0"/>
          </a:p>
        </p:txBody>
      </p:sp>
      <p:sp>
        <p:nvSpPr>
          <p:cNvPr id="52" name="Text 49"/>
          <p:cNvSpPr/>
          <p:nvPr/>
        </p:nvSpPr>
        <p:spPr>
          <a:xfrm>
            <a:off x="11777472"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2"/>
          </a:solidFill>
          <a:ln w="12700">
            <a:solidFill>
              <a:srgbClr val="0B0F12">
                <a:alpha val="0"/>
              </a:srgbClr>
            </a:solidFill>
            <a:prstDash val="solid"/>
          </a:ln>
        </p:spPr>
      </p:sp>
      <p:sp>
        <p:nvSpPr>
          <p:cNvPr id="3" name="Shape 1"/>
          <p:cNvSpPr/>
          <p:nvPr/>
        </p:nvSpPr>
        <p:spPr>
          <a:xfrm>
            <a:off x="0" y="0"/>
            <a:ext cx="109728" cy="6858000"/>
          </a:xfrm>
          <a:prstGeom prst="rect">
            <a:avLst/>
          </a:prstGeom>
          <a:solidFill>
            <a:srgbClr val="76B900"/>
          </a:solidFill>
          <a:ln w="12700">
            <a:solidFill>
              <a:srgbClr val="76B900"/>
            </a:solidFill>
            <a:prstDash val="solid"/>
          </a:ln>
        </p:spPr>
      </p:sp>
      <p:sp>
        <p:nvSpPr>
          <p:cNvPr id="4" name="Shape 2"/>
          <p:cNvSpPr/>
          <p:nvPr/>
        </p:nvSpPr>
        <p:spPr>
          <a:xfrm>
            <a:off x="146304" y="0"/>
            <a:ext cx="12045391" cy="73152"/>
          </a:xfrm>
          <a:prstGeom prst="rect">
            <a:avLst/>
          </a:prstGeom>
          <a:solidFill>
            <a:srgbClr val="76B900">
              <a:alpha val="85000"/>
            </a:srgbClr>
          </a:solidFill>
          <a:ln w="12700">
            <a:solidFill>
              <a:srgbClr val="76B900">
                <a:alpha val="0"/>
              </a:srgbClr>
            </a:solidFill>
            <a:prstDash val="solid"/>
          </a:ln>
        </p:spPr>
      </p:sp>
      <p:sp>
        <p:nvSpPr>
          <p:cNvPr id="5" name="Text 3"/>
          <p:cNvSpPr/>
          <p:nvPr/>
        </p:nvSpPr>
        <p:spPr>
          <a:xfrm>
            <a:off x="438912" y="256032"/>
            <a:ext cx="9692640" cy="384048"/>
          </a:xfrm>
          <a:prstGeom prst="rect">
            <a:avLst/>
          </a:prstGeom>
          <a:noFill/>
          <a:ln/>
        </p:spPr>
        <p:txBody>
          <a:bodyPr wrap="square" lIns="0" tIns="0" rIns="0" bIns="0" rtlCol="0" anchor="ctr"/>
          <a:lstStyle/>
          <a:p>
            <a:pPr indent="0" marL="0">
              <a:buNone/>
            </a:pPr>
            <a:r>
              <a:rPr lang="en-US" sz="2500" b="1" dirty="0">
                <a:solidFill>
                  <a:srgbClr val="F7FAFC"/>
                </a:solidFill>
                <a:latin typeface="Aptos Display" pitchFamily="34" charset="0"/>
                <a:ea typeface="Aptos Display" pitchFamily="34" charset="-122"/>
                <a:cs typeface="Aptos Display" pitchFamily="34" charset="-120"/>
              </a:rPr>
              <a:t>Seminar Roadmap</a:t>
            </a:r>
            <a:endParaRPr lang="en-US" sz="2500" dirty="0"/>
          </a:p>
        </p:txBody>
      </p:sp>
      <p:sp>
        <p:nvSpPr>
          <p:cNvPr id="6" name="Text 4"/>
          <p:cNvSpPr/>
          <p:nvPr/>
        </p:nvSpPr>
        <p:spPr>
          <a:xfrm>
            <a:off x="438912" y="658368"/>
            <a:ext cx="8686800" cy="256032"/>
          </a:xfrm>
          <a:prstGeom prst="rect">
            <a:avLst/>
          </a:prstGeom>
          <a:noFill/>
          <a:ln/>
        </p:spPr>
        <p:txBody>
          <a:bodyPr wrap="square" lIns="0" tIns="0" rIns="0" bIns="0" rtlCol="0" anchor="ctr"/>
          <a:lstStyle/>
          <a:p>
            <a:pPr indent="0" marL="0">
              <a:buNone/>
            </a:pPr>
            <a:r>
              <a:rPr lang="en-US" sz="1050" dirty="0">
                <a:solidFill>
                  <a:srgbClr val="B7C0C9"/>
                </a:solidFill>
              </a:rPr>
              <a:t>What we will show today</a:t>
            </a:r>
            <a:endParaRPr lang="en-US" sz="1050" dirty="0"/>
          </a:p>
        </p:txBody>
      </p:sp>
      <p:sp>
        <p:nvSpPr>
          <p:cNvPr id="7" name="Text 5"/>
          <p:cNvSpPr/>
          <p:nvPr/>
        </p:nvSpPr>
        <p:spPr>
          <a:xfrm>
            <a:off x="9738360" y="6446520"/>
            <a:ext cx="1965960" cy="201168"/>
          </a:xfrm>
          <a:prstGeom prst="rect">
            <a:avLst/>
          </a:prstGeom>
          <a:noFill/>
          <a:ln/>
        </p:spPr>
        <p:txBody>
          <a:bodyPr wrap="square" lIns="0" tIns="0" rIns="0" bIns="0" rtlCol="0" anchor="ctr"/>
          <a:lstStyle/>
          <a:p>
            <a:pPr algn="r" indent="0" marL="0">
              <a:buNone/>
            </a:pPr>
            <a:r>
              <a:rPr lang="en-US" sz="850" dirty="0">
                <a:solidFill>
                  <a:srgbClr val="6B7280"/>
                </a:solidFill>
              </a:rPr>
              <a:t>CUDA NMS · Seminar 2</a:t>
            </a:r>
            <a:endParaRPr lang="en-US" sz="850" dirty="0"/>
          </a:p>
        </p:txBody>
      </p:sp>
      <p:sp>
        <p:nvSpPr>
          <p:cNvPr id="8" name="Shape 6"/>
          <p:cNvSpPr/>
          <p:nvPr/>
        </p:nvSpPr>
        <p:spPr>
          <a:xfrm>
            <a:off x="731520" y="1965960"/>
            <a:ext cx="1691640" cy="1508760"/>
          </a:xfrm>
          <a:prstGeom prst="roundRect">
            <a:avLst>
              <a:gd name="adj" fmla="val 9697"/>
            </a:avLst>
          </a:prstGeom>
          <a:solidFill>
            <a:srgbClr val="16202A"/>
          </a:solidFill>
          <a:ln w="12700">
            <a:solidFill>
              <a:srgbClr val="334155">
                <a:alpha val="80000"/>
              </a:srgbClr>
            </a:solidFill>
            <a:prstDash val="solid"/>
          </a:ln>
        </p:spPr>
      </p:sp>
      <p:sp>
        <p:nvSpPr>
          <p:cNvPr id="9" name="Text 7"/>
          <p:cNvSpPr/>
          <p:nvPr/>
        </p:nvSpPr>
        <p:spPr>
          <a:xfrm>
            <a:off x="822960" y="2112264"/>
            <a:ext cx="1508760" cy="384048"/>
          </a:xfrm>
          <a:prstGeom prst="rect">
            <a:avLst/>
          </a:prstGeom>
          <a:noFill/>
          <a:ln/>
        </p:spPr>
        <p:txBody>
          <a:bodyPr wrap="square" lIns="0" tIns="0" rIns="0" bIns="0" rtlCol="0" anchor="ctr"/>
          <a:lstStyle/>
          <a:p>
            <a:pPr algn="ctr" indent="0" marL="0">
              <a:buNone/>
            </a:pPr>
            <a:r>
              <a:rPr lang="en-US" sz="2400" b="1" dirty="0">
                <a:solidFill>
                  <a:srgbClr val="76B900"/>
                </a:solidFill>
              </a:rPr>
              <a:t>1</a:t>
            </a:r>
            <a:endParaRPr lang="en-US" sz="2400" dirty="0"/>
          </a:p>
        </p:txBody>
      </p:sp>
      <p:sp>
        <p:nvSpPr>
          <p:cNvPr id="10" name="Text 8"/>
          <p:cNvSpPr/>
          <p:nvPr/>
        </p:nvSpPr>
        <p:spPr>
          <a:xfrm>
            <a:off x="868680" y="2697480"/>
            <a:ext cx="1417320" cy="228600"/>
          </a:xfrm>
          <a:prstGeom prst="rect">
            <a:avLst/>
          </a:prstGeom>
          <a:noFill/>
          <a:ln/>
        </p:spPr>
        <p:txBody>
          <a:bodyPr wrap="square" lIns="0" tIns="0" rIns="0" bIns="0" rtlCol="0" anchor="ctr"/>
          <a:lstStyle/>
          <a:p>
            <a:pPr algn="ctr" indent="0" marL="0">
              <a:buNone/>
            </a:pPr>
            <a:r>
              <a:rPr lang="en-US" sz="1400" b="1" dirty="0">
                <a:solidFill>
                  <a:srgbClr val="F7FAFC"/>
                </a:solidFill>
              </a:rPr>
              <a:t>Problem</a:t>
            </a:r>
            <a:endParaRPr lang="en-US" sz="1400" dirty="0"/>
          </a:p>
        </p:txBody>
      </p:sp>
      <p:sp>
        <p:nvSpPr>
          <p:cNvPr id="11" name="Text 9"/>
          <p:cNvSpPr/>
          <p:nvPr/>
        </p:nvSpPr>
        <p:spPr>
          <a:xfrm>
            <a:off x="868680" y="3035808"/>
            <a:ext cx="1417320" cy="274320"/>
          </a:xfrm>
          <a:prstGeom prst="rect">
            <a:avLst/>
          </a:prstGeom>
          <a:noFill/>
          <a:ln/>
        </p:spPr>
        <p:txBody>
          <a:bodyPr wrap="square" lIns="0" tIns="0" rIns="0" bIns="0" rtlCol="0" anchor="ctr">
            <a:normAutofit/>
          </a:bodyPr>
          <a:lstStyle/>
          <a:p>
            <a:pPr algn="ctr" indent="0" marL="0">
              <a:buNone/>
            </a:pPr>
            <a:r>
              <a:rPr lang="en-US" sz="980" dirty="0">
                <a:solidFill>
                  <a:srgbClr val="B7C0C9"/>
                </a:solidFill>
              </a:rPr>
              <a:t>Why NMS matters</a:t>
            </a:r>
            <a:endParaRPr lang="en-US" sz="980" dirty="0"/>
          </a:p>
        </p:txBody>
      </p:sp>
      <p:sp>
        <p:nvSpPr>
          <p:cNvPr id="12" name="Shape 10"/>
          <p:cNvSpPr/>
          <p:nvPr/>
        </p:nvSpPr>
        <p:spPr>
          <a:xfrm>
            <a:off x="2423160" y="2724912"/>
            <a:ext cx="347472" cy="0"/>
          </a:xfrm>
          <a:prstGeom prst="line">
            <a:avLst/>
          </a:prstGeom>
          <a:noFill/>
          <a:ln w="17780">
            <a:solidFill>
              <a:srgbClr val="76B900"/>
            </a:solidFill>
            <a:prstDash val="solid"/>
            <a:headEnd type="none"/>
            <a:tailEnd type="triangle"/>
          </a:ln>
        </p:spPr>
      </p:sp>
      <p:sp>
        <p:nvSpPr>
          <p:cNvPr id="13" name="Shape 11"/>
          <p:cNvSpPr/>
          <p:nvPr/>
        </p:nvSpPr>
        <p:spPr>
          <a:xfrm>
            <a:off x="2971800" y="1965960"/>
            <a:ext cx="1691640" cy="1508760"/>
          </a:xfrm>
          <a:prstGeom prst="roundRect">
            <a:avLst>
              <a:gd name="adj" fmla="val 9697"/>
            </a:avLst>
          </a:prstGeom>
          <a:solidFill>
            <a:srgbClr val="16202A"/>
          </a:solidFill>
          <a:ln w="12700">
            <a:solidFill>
              <a:srgbClr val="334155">
                <a:alpha val="80000"/>
              </a:srgbClr>
            </a:solidFill>
            <a:prstDash val="solid"/>
          </a:ln>
        </p:spPr>
      </p:sp>
      <p:sp>
        <p:nvSpPr>
          <p:cNvPr id="14" name="Text 12"/>
          <p:cNvSpPr/>
          <p:nvPr/>
        </p:nvSpPr>
        <p:spPr>
          <a:xfrm>
            <a:off x="3063240" y="2112264"/>
            <a:ext cx="1508760" cy="384048"/>
          </a:xfrm>
          <a:prstGeom prst="rect">
            <a:avLst/>
          </a:prstGeom>
          <a:noFill/>
          <a:ln/>
        </p:spPr>
        <p:txBody>
          <a:bodyPr wrap="square" lIns="0" tIns="0" rIns="0" bIns="0" rtlCol="0" anchor="ctr"/>
          <a:lstStyle/>
          <a:p>
            <a:pPr algn="ctr" indent="0" marL="0">
              <a:buNone/>
            </a:pPr>
            <a:r>
              <a:rPr lang="en-US" sz="2400" b="1" dirty="0">
                <a:solidFill>
                  <a:srgbClr val="76B900"/>
                </a:solidFill>
              </a:rPr>
              <a:t>2</a:t>
            </a:r>
            <a:endParaRPr lang="en-US" sz="2400" dirty="0"/>
          </a:p>
        </p:txBody>
      </p:sp>
      <p:sp>
        <p:nvSpPr>
          <p:cNvPr id="15" name="Text 13"/>
          <p:cNvSpPr/>
          <p:nvPr/>
        </p:nvSpPr>
        <p:spPr>
          <a:xfrm>
            <a:off x="3108960" y="2697480"/>
            <a:ext cx="1417320" cy="228600"/>
          </a:xfrm>
          <a:prstGeom prst="rect">
            <a:avLst/>
          </a:prstGeom>
          <a:noFill/>
          <a:ln/>
        </p:spPr>
        <p:txBody>
          <a:bodyPr wrap="square" lIns="0" tIns="0" rIns="0" bIns="0" rtlCol="0" anchor="ctr"/>
          <a:lstStyle/>
          <a:p>
            <a:pPr algn="ctr" indent="0" marL="0">
              <a:buNone/>
            </a:pPr>
            <a:r>
              <a:rPr lang="en-US" sz="1400" b="1" dirty="0">
                <a:solidFill>
                  <a:srgbClr val="F7FAFC"/>
                </a:solidFill>
              </a:rPr>
              <a:t>CPU Baseline</a:t>
            </a:r>
            <a:endParaRPr lang="en-US" sz="1400" dirty="0"/>
          </a:p>
        </p:txBody>
      </p:sp>
      <p:sp>
        <p:nvSpPr>
          <p:cNvPr id="16" name="Text 14"/>
          <p:cNvSpPr/>
          <p:nvPr/>
        </p:nvSpPr>
        <p:spPr>
          <a:xfrm>
            <a:off x="3108960" y="3035808"/>
            <a:ext cx="1417320" cy="274320"/>
          </a:xfrm>
          <a:prstGeom prst="rect">
            <a:avLst/>
          </a:prstGeom>
          <a:noFill/>
          <a:ln/>
        </p:spPr>
        <p:txBody>
          <a:bodyPr wrap="square" lIns="0" tIns="0" rIns="0" bIns="0" rtlCol="0" anchor="ctr">
            <a:normAutofit/>
          </a:bodyPr>
          <a:lstStyle/>
          <a:p>
            <a:pPr algn="ctr" indent="0" marL="0">
              <a:buNone/>
            </a:pPr>
            <a:r>
              <a:rPr lang="en-US" sz="980" dirty="0">
                <a:solidFill>
                  <a:srgbClr val="B7C0C9"/>
                </a:solidFill>
              </a:rPr>
              <a:t>Greedy NMS + profiling</a:t>
            </a:r>
            <a:endParaRPr lang="en-US" sz="980" dirty="0"/>
          </a:p>
        </p:txBody>
      </p:sp>
      <p:sp>
        <p:nvSpPr>
          <p:cNvPr id="17" name="Shape 15"/>
          <p:cNvSpPr/>
          <p:nvPr/>
        </p:nvSpPr>
        <p:spPr>
          <a:xfrm>
            <a:off x="4663440" y="2724912"/>
            <a:ext cx="347472" cy="0"/>
          </a:xfrm>
          <a:prstGeom prst="line">
            <a:avLst/>
          </a:prstGeom>
          <a:noFill/>
          <a:ln w="17780">
            <a:solidFill>
              <a:srgbClr val="76B900"/>
            </a:solidFill>
            <a:prstDash val="solid"/>
            <a:headEnd type="none"/>
            <a:tailEnd type="triangle"/>
          </a:ln>
        </p:spPr>
      </p:sp>
      <p:sp>
        <p:nvSpPr>
          <p:cNvPr id="18" name="Shape 16"/>
          <p:cNvSpPr/>
          <p:nvPr/>
        </p:nvSpPr>
        <p:spPr>
          <a:xfrm>
            <a:off x="5212080" y="1965960"/>
            <a:ext cx="1691640" cy="1508760"/>
          </a:xfrm>
          <a:prstGeom prst="roundRect">
            <a:avLst>
              <a:gd name="adj" fmla="val 9697"/>
            </a:avLst>
          </a:prstGeom>
          <a:solidFill>
            <a:srgbClr val="16202A"/>
          </a:solidFill>
          <a:ln w="12700">
            <a:solidFill>
              <a:srgbClr val="334155">
                <a:alpha val="80000"/>
              </a:srgbClr>
            </a:solidFill>
            <a:prstDash val="solid"/>
          </a:ln>
        </p:spPr>
      </p:sp>
      <p:sp>
        <p:nvSpPr>
          <p:cNvPr id="19" name="Text 17"/>
          <p:cNvSpPr/>
          <p:nvPr/>
        </p:nvSpPr>
        <p:spPr>
          <a:xfrm>
            <a:off x="5303520" y="2112264"/>
            <a:ext cx="1508760" cy="384048"/>
          </a:xfrm>
          <a:prstGeom prst="rect">
            <a:avLst/>
          </a:prstGeom>
          <a:noFill/>
          <a:ln/>
        </p:spPr>
        <p:txBody>
          <a:bodyPr wrap="square" lIns="0" tIns="0" rIns="0" bIns="0" rtlCol="0" anchor="ctr"/>
          <a:lstStyle/>
          <a:p>
            <a:pPr algn="ctr" indent="0" marL="0">
              <a:buNone/>
            </a:pPr>
            <a:r>
              <a:rPr lang="en-US" sz="2400" b="1" dirty="0">
                <a:solidFill>
                  <a:srgbClr val="76B900"/>
                </a:solidFill>
              </a:rPr>
              <a:t>3</a:t>
            </a:r>
            <a:endParaRPr lang="en-US" sz="2400" dirty="0"/>
          </a:p>
        </p:txBody>
      </p:sp>
      <p:sp>
        <p:nvSpPr>
          <p:cNvPr id="20" name="Text 18"/>
          <p:cNvSpPr/>
          <p:nvPr/>
        </p:nvSpPr>
        <p:spPr>
          <a:xfrm>
            <a:off x="5349240" y="2697480"/>
            <a:ext cx="1417320" cy="228600"/>
          </a:xfrm>
          <a:prstGeom prst="rect">
            <a:avLst/>
          </a:prstGeom>
          <a:noFill/>
          <a:ln/>
        </p:spPr>
        <p:txBody>
          <a:bodyPr wrap="square" lIns="0" tIns="0" rIns="0" bIns="0" rtlCol="0" anchor="ctr"/>
          <a:lstStyle/>
          <a:p>
            <a:pPr algn="ctr" indent="0" marL="0">
              <a:buNone/>
            </a:pPr>
            <a:r>
              <a:rPr lang="en-US" sz="1400" b="1" dirty="0">
                <a:solidFill>
                  <a:srgbClr val="F7FAFC"/>
                </a:solidFill>
              </a:rPr>
              <a:t>GPU V1</a:t>
            </a:r>
            <a:endParaRPr lang="en-US" sz="1400" dirty="0"/>
          </a:p>
        </p:txBody>
      </p:sp>
      <p:sp>
        <p:nvSpPr>
          <p:cNvPr id="21" name="Text 19"/>
          <p:cNvSpPr/>
          <p:nvPr/>
        </p:nvSpPr>
        <p:spPr>
          <a:xfrm>
            <a:off x="5349240" y="3035808"/>
            <a:ext cx="1417320" cy="274320"/>
          </a:xfrm>
          <a:prstGeom prst="rect">
            <a:avLst/>
          </a:prstGeom>
          <a:noFill/>
          <a:ln/>
        </p:spPr>
        <p:txBody>
          <a:bodyPr wrap="square" lIns="0" tIns="0" rIns="0" bIns="0" rtlCol="0" anchor="ctr">
            <a:normAutofit/>
          </a:bodyPr>
          <a:lstStyle/>
          <a:p>
            <a:pPr algn="ctr" indent="0" marL="0">
              <a:buNone/>
            </a:pPr>
            <a:r>
              <a:rPr lang="en-US" sz="980" dirty="0">
                <a:solidFill>
                  <a:srgbClr val="B7C0C9"/>
                </a:solidFill>
              </a:rPr>
              <a:t>Parallel IoU matrix kernel</a:t>
            </a:r>
            <a:endParaRPr lang="en-US" sz="980" dirty="0"/>
          </a:p>
        </p:txBody>
      </p:sp>
      <p:sp>
        <p:nvSpPr>
          <p:cNvPr id="22" name="Shape 20"/>
          <p:cNvSpPr/>
          <p:nvPr/>
        </p:nvSpPr>
        <p:spPr>
          <a:xfrm>
            <a:off x="6903720" y="2724912"/>
            <a:ext cx="347472" cy="0"/>
          </a:xfrm>
          <a:prstGeom prst="line">
            <a:avLst/>
          </a:prstGeom>
          <a:noFill/>
          <a:ln w="17780">
            <a:solidFill>
              <a:srgbClr val="76B900"/>
            </a:solidFill>
            <a:prstDash val="solid"/>
            <a:headEnd type="none"/>
            <a:tailEnd type="triangle"/>
          </a:ln>
        </p:spPr>
      </p:sp>
      <p:sp>
        <p:nvSpPr>
          <p:cNvPr id="23" name="Shape 21"/>
          <p:cNvSpPr/>
          <p:nvPr/>
        </p:nvSpPr>
        <p:spPr>
          <a:xfrm>
            <a:off x="7452360" y="1965960"/>
            <a:ext cx="1691640" cy="1508760"/>
          </a:xfrm>
          <a:prstGeom prst="roundRect">
            <a:avLst>
              <a:gd name="adj" fmla="val 9697"/>
            </a:avLst>
          </a:prstGeom>
          <a:solidFill>
            <a:srgbClr val="16202A"/>
          </a:solidFill>
          <a:ln w="12700">
            <a:solidFill>
              <a:srgbClr val="334155">
                <a:alpha val="80000"/>
              </a:srgbClr>
            </a:solidFill>
            <a:prstDash val="solid"/>
          </a:ln>
        </p:spPr>
      </p:sp>
      <p:sp>
        <p:nvSpPr>
          <p:cNvPr id="24" name="Text 22"/>
          <p:cNvSpPr/>
          <p:nvPr/>
        </p:nvSpPr>
        <p:spPr>
          <a:xfrm>
            <a:off x="7543800" y="2112264"/>
            <a:ext cx="1508760" cy="384048"/>
          </a:xfrm>
          <a:prstGeom prst="rect">
            <a:avLst/>
          </a:prstGeom>
          <a:noFill/>
          <a:ln/>
        </p:spPr>
        <p:txBody>
          <a:bodyPr wrap="square" lIns="0" tIns="0" rIns="0" bIns="0" rtlCol="0" anchor="ctr"/>
          <a:lstStyle/>
          <a:p>
            <a:pPr algn="ctr" indent="0" marL="0">
              <a:buNone/>
            </a:pPr>
            <a:r>
              <a:rPr lang="en-US" sz="2400" b="1" dirty="0">
                <a:solidFill>
                  <a:srgbClr val="76B900"/>
                </a:solidFill>
              </a:rPr>
              <a:t>4</a:t>
            </a:r>
            <a:endParaRPr lang="en-US" sz="2400" dirty="0"/>
          </a:p>
        </p:txBody>
      </p:sp>
      <p:sp>
        <p:nvSpPr>
          <p:cNvPr id="25" name="Text 23"/>
          <p:cNvSpPr/>
          <p:nvPr/>
        </p:nvSpPr>
        <p:spPr>
          <a:xfrm>
            <a:off x="7589520" y="2697480"/>
            <a:ext cx="1417320" cy="228600"/>
          </a:xfrm>
          <a:prstGeom prst="rect">
            <a:avLst/>
          </a:prstGeom>
          <a:noFill/>
          <a:ln/>
        </p:spPr>
        <p:txBody>
          <a:bodyPr wrap="square" lIns="0" tIns="0" rIns="0" bIns="0" rtlCol="0" anchor="ctr"/>
          <a:lstStyle/>
          <a:p>
            <a:pPr algn="ctr" indent="0" marL="0">
              <a:buNone/>
            </a:pPr>
            <a:r>
              <a:rPr lang="en-US" sz="1400" b="1" dirty="0">
                <a:solidFill>
                  <a:srgbClr val="F7FAFC"/>
                </a:solidFill>
              </a:rPr>
              <a:t>Validation</a:t>
            </a:r>
            <a:endParaRPr lang="en-US" sz="1400" dirty="0"/>
          </a:p>
        </p:txBody>
      </p:sp>
      <p:sp>
        <p:nvSpPr>
          <p:cNvPr id="26" name="Text 24"/>
          <p:cNvSpPr/>
          <p:nvPr/>
        </p:nvSpPr>
        <p:spPr>
          <a:xfrm>
            <a:off x="7589520" y="3035808"/>
            <a:ext cx="1417320" cy="274320"/>
          </a:xfrm>
          <a:prstGeom prst="rect">
            <a:avLst/>
          </a:prstGeom>
          <a:noFill/>
          <a:ln/>
        </p:spPr>
        <p:txBody>
          <a:bodyPr wrap="square" lIns="0" tIns="0" rIns="0" bIns="0" rtlCol="0" anchor="ctr">
            <a:normAutofit/>
          </a:bodyPr>
          <a:lstStyle/>
          <a:p>
            <a:pPr algn="ctr" indent="0" marL="0">
              <a:buNone/>
            </a:pPr>
            <a:r>
              <a:rPr lang="en-US" sz="980" dirty="0">
                <a:solidFill>
                  <a:srgbClr val="B7C0C9"/>
                </a:solidFill>
              </a:rPr>
              <a:t>Correctness + benchmark</a:t>
            </a:r>
            <a:endParaRPr lang="en-US" sz="980" dirty="0"/>
          </a:p>
        </p:txBody>
      </p:sp>
      <p:sp>
        <p:nvSpPr>
          <p:cNvPr id="27" name="Shape 25"/>
          <p:cNvSpPr/>
          <p:nvPr/>
        </p:nvSpPr>
        <p:spPr>
          <a:xfrm>
            <a:off x="9144000" y="2724912"/>
            <a:ext cx="347472" cy="0"/>
          </a:xfrm>
          <a:prstGeom prst="line">
            <a:avLst/>
          </a:prstGeom>
          <a:noFill/>
          <a:ln w="17780">
            <a:solidFill>
              <a:srgbClr val="76B900"/>
            </a:solidFill>
            <a:prstDash val="solid"/>
            <a:headEnd type="none"/>
            <a:tailEnd type="triangle"/>
          </a:ln>
        </p:spPr>
      </p:sp>
      <p:sp>
        <p:nvSpPr>
          <p:cNvPr id="28" name="Shape 26"/>
          <p:cNvSpPr/>
          <p:nvPr/>
        </p:nvSpPr>
        <p:spPr>
          <a:xfrm>
            <a:off x="9692640" y="1965960"/>
            <a:ext cx="1691640" cy="1508760"/>
          </a:xfrm>
          <a:prstGeom prst="roundRect">
            <a:avLst>
              <a:gd name="adj" fmla="val 9697"/>
            </a:avLst>
          </a:prstGeom>
          <a:solidFill>
            <a:srgbClr val="16202A"/>
          </a:solidFill>
          <a:ln w="12700">
            <a:solidFill>
              <a:srgbClr val="334155">
                <a:alpha val="80000"/>
              </a:srgbClr>
            </a:solidFill>
            <a:prstDash val="solid"/>
          </a:ln>
        </p:spPr>
      </p:sp>
      <p:sp>
        <p:nvSpPr>
          <p:cNvPr id="29" name="Text 27"/>
          <p:cNvSpPr/>
          <p:nvPr/>
        </p:nvSpPr>
        <p:spPr>
          <a:xfrm>
            <a:off x="9784080" y="2112264"/>
            <a:ext cx="1508760" cy="384048"/>
          </a:xfrm>
          <a:prstGeom prst="rect">
            <a:avLst/>
          </a:prstGeom>
          <a:noFill/>
          <a:ln/>
        </p:spPr>
        <p:txBody>
          <a:bodyPr wrap="square" lIns="0" tIns="0" rIns="0" bIns="0" rtlCol="0" anchor="ctr"/>
          <a:lstStyle/>
          <a:p>
            <a:pPr algn="ctr" indent="0" marL="0">
              <a:buNone/>
            </a:pPr>
            <a:r>
              <a:rPr lang="en-US" sz="2400" b="1" dirty="0">
                <a:solidFill>
                  <a:srgbClr val="76B900"/>
                </a:solidFill>
              </a:rPr>
              <a:t>5</a:t>
            </a:r>
            <a:endParaRPr lang="en-US" sz="2400" dirty="0"/>
          </a:p>
        </p:txBody>
      </p:sp>
      <p:sp>
        <p:nvSpPr>
          <p:cNvPr id="30" name="Text 28"/>
          <p:cNvSpPr/>
          <p:nvPr/>
        </p:nvSpPr>
        <p:spPr>
          <a:xfrm>
            <a:off x="9829800" y="2697480"/>
            <a:ext cx="1417320" cy="228600"/>
          </a:xfrm>
          <a:prstGeom prst="rect">
            <a:avLst/>
          </a:prstGeom>
          <a:noFill/>
          <a:ln/>
        </p:spPr>
        <p:txBody>
          <a:bodyPr wrap="square" lIns="0" tIns="0" rIns="0" bIns="0" rtlCol="0" anchor="ctr"/>
          <a:lstStyle/>
          <a:p>
            <a:pPr algn="ctr" indent="0" marL="0">
              <a:buNone/>
            </a:pPr>
            <a:r>
              <a:rPr lang="en-US" sz="1400" b="1" dirty="0">
                <a:solidFill>
                  <a:srgbClr val="F7FAFC"/>
                </a:solidFill>
              </a:rPr>
              <a:t>Next Steps</a:t>
            </a:r>
            <a:endParaRPr lang="en-US" sz="1400" dirty="0"/>
          </a:p>
        </p:txBody>
      </p:sp>
      <p:sp>
        <p:nvSpPr>
          <p:cNvPr id="31" name="Text 29"/>
          <p:cNvSpPr/>
          <p:nvPr/>
        </p:nvSpPr>
        <p:spPr>
          <a:xfrm>
            <a:off x="9829800" y="3035808"/>
            <a:ext cx="1417320" cy="274320"/>
          </a:xfrm>
          <a:prstGeom prst="rect">
            <a:avLst/>
          </a:prstGeom>
          <a:noFill/>
          <a:ln/>
        </p:spPr>
        <p:txBody>
          <a:bodyPr wrap="square" lIns="0" tIns="0" rIns="0" bIns="0" rtlCol="0" anchor="ctr">
            <a:normAutofit/>
          </a:bodyPr>
          <a:lstStyle/>
          <a:p>
            <a:pPr algn="ctr" indent="0" marL="0">
              <a:buNone/>
            </a:pPr>
            <a:r>
              <a:rPr lang="en-US" sz="980" dirty="0">
                <a:solidFill>
                  <a:srgbClr val="B7C0C9"/>
                </a:solidFill>
              </a:rPr>
              <a:t>Limitations + V2 plan</a:t>
            </a:r>
            <a:endParaRPr lang="en-US" sz="980" dirty="0"/>
          </a:p>
        </p:txBody>
      </p:sp>
      <p:sp>
        <p:nvSpPr>
          <p:cNvPr id="33" name="Text 30"/>
          <p:cNvSpPr/>
          <p:nvPr/>
        </p:nvSpPr>
        <p:spPr>
          <a:xfrm>
            <a:off x="11777472"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2"/>
          </a:solidFill>
          <a:ln w="12700">
            <a:solidFill>
              <a:srgbClr val="0B0F12">
                <a:alpha val="0"/>
              </a:srgbClr>
            </a:solidFill>
            <a:prstDash val="solid"/>
          </a:ln>
        </p:spPr>
      </p:sp>
      <p:sp>
        <p:nvSpPr>
          <p:cNvPr id="3" name="Shape 1"/>
          <p:cNvSpPr/>
          <p:nvPr/>
        </p:nvSpPr>
        <p:spPr>
          <a:xfrm>
            <a:off x="0" y="0"/>
            <a:ext cx="109728" cy="6858000"/>
          </a:xfrm>
          <a:prstGeom prst="rect">
            <a:avLst/>
          </a:prstGeom>
          <a:solidFill>
            <a:srgbClr val="76B900"/>
          </a:solidFill>
          <a:ln w="12700">
            <a:solidFill>
              <a:srgbClr val="76B900"/>
            </a:solidFill>
            <a:prstDash val="solid"/>
          </a:ln>
        </p:spPr>
      </p:sp>
      <p:sp>
        <p:nvSpPr>
          <p:cNvPr id="4" name="Shape 2"/>
          <p:cNvSpPr/>
          <p:nvPr/>
        </p:nvSpPr>
        <p:spPr>
          <a:xfrm>
            <a:off x="146304" y="0"/>
            <a:ext cx="12045391" cy="73152"/>
          </a:xfrm>
          <a:prstGeom prst="rect">
            <a:avLst/>
          </a:prstGeom>
          <a:solidFill>
            <a:srgbClr val="76B900">
              <a:alpha val="85000"/>
            </a:srgbClr>
          </a:solidFill>
          <a:ln w="12700">
            <a:solidFill>
              <a:srgbClr val="76B900">
                <a:alpha val="0"/>
              </a:srgbClr>
            </a:solidFill>
            <a:prstDash val="solid"/>
          </a:ln>
        </p:spPr>
      </p:sp>
      <p:sp>
        <p:nvSpPr>
          <p:cNvPr id="5" name="Text 3"/>
          <p:cNvSpPr/>
          <p:nvPr/>
        </p:nvSpPr>
        <p:spPr>
          <a:xfrm>
            <a:off x="438912" y="256032"/>
            <a:ext cx="9692640" cy="384048"/>
          </a:xfrm>
          <a:prstGeom prst="rect">
            <a:avLst/>
          </a:prstGeom>
          <a:noFill/>
          <a:ln/>
        </p:spPr>
        <p:txBody>
          <a:bodyPr wrap="square" lIns="0" tIns="0" rIns="0" bIns="0" rtlCol="0" anchor="ctr"/>
          <a:lstStyle/>
          <a:p>
            <a:pPr indent="0" marL="0">
              <a:buNone/>
            </a:pPr>
            <a:r>
              <a:rPr lang="en-US" sz="2500" b="1" dirty="0">
                <a:solidFill>
                  <a:srgbClr val="F7FAFC"/>
                </a:solidFill>
                <a:latin typeface="Aptos Display" pitchFamily="34" charset="0"/>
                <a:ea typeface="Aptos Display" pitchFamily="34" charset="-122"/>
                <a:cs typeface="Aptos Display" pitchFamily="34" charset="-120"/>
              </a:rPr>
              <a:t>Problem Motivation</a:t>
            </a:r>
            <a:endParaRPr lang="en-US" sz="2500" dirty="0"/>
          </a:p>
        </p:txBody>
      </p:sp>
      <p:sp>
        <p:nvSpPr>
          <p:cNvPr id="6" name="Text 4"/>
          <p:cNvSpPr/>
          <p:nvPr/>
        </p:nvSpPr>
        <p:spPr>
          <a:xfrm>
            <a:off x="438912" y="658368"/>
            <a:ext cx="8686800" cy="256032"/>
          </a:xfrm>
          <a:prstGeom prst="rect">
            <a:avLst/>
          </a:prstGeom>
          <a:noFill/>
          <a:ln/>
        </p:spPr>
        <p:txBody>
          <a:bodyPr wrap="square" lIns="0" tIns="0" rIns="0" bIns="0" rtlCol="0" anchor="ctr"/>
          <a:lstStyle/>
          <a:p>
            <a:pPr indent="0" marL="0">
              <a:buNone/>
            </a:pPr>
            <a:r>
              <a:rPr lang="en-US" sz="1050" dirty="0">
                <a:solidFill>
                  <a:srgbClr val="B7C0C9"/>
                </a:solidFill>
              </a:rPr>
              <a:t>Object detectors produce many overlapping boxes</a:t>
            </a:r>
            <a:endParaRPr lang="en-US" sz="1050" dirty="0"/>
          </a:p>
        </p:txBody>
      </p:sp>
      <p:sp>
        <p:nvSpPr>
          <p:cNvPr id="7" name="Text 5"/>
          <p:cNvSpPr/>
          <p:nvPr/>
        </p:nvSpPr>
        <p:spPr>
          <a:xfrm>
            <a:off x="9738360" y="6446520"/>
            <a:ext cx="1965960" cy="201168"/>
          </a:xfrm>
          <a:prstGeom prst="rect">
            <a:avLst/>
          </a:prstGeom>
          <a:noFill/>
          <a:ln/>
        </p:spPr>
        <p:txBody>
          <a:bodyPr wrap="square" lIns="0" tIns="0" rIns="0" bIns="0" rtlCol="0" anchor="ctr"/>
          <a:lstStyle/>
          <a:p>
            <a:pPr algn="r" indent="0" marL="0">
              <a:buNone/>
            </a:pPr>
            <a:r>
              <a:rPr lang="en-US" sz="850" dirty="0">
                <a:solidFill>
                  <a:srgbClr val="6B7280"/>
                </a:solidFill>
              </a:rPr>
              <a:t>CUDA NMS · Seminar 2</a:t>
            </a:r>
            <a:endParaRPr lang="en-US" sz="850" dirty="0"/>
          </a:p>
        </p:txBody>
      </p:sp>
      <p:sp>
        <p:nvSpPr>
          <p:cNvPr id="8" name="Shape 6"/>
          <p:cNvSpPr/>
          <p:nvPr/>
        </p:nvSpPr>
        <p:spPr>
          <a:xfrm>
            <a:off x="777240" y="1874520"/>
            <a:ext cx="1600200" cy="713232"/>
          </a:xfrm>
          <a:prstGeom prst="roundRect">
            <a:avLst>
              <a:gd name="adj" fmla="val 15385"/>
            </a:avLst>
          </a:prstGeom>
          <a:solidFill>
            <a:srgbClr val="202B36"/>
          </a:solidFill>
          <a:ln w="12700">
            <a:solidFill>
              <a:srgbClr val="334155"/>
            </a:solidFill>
            <a:prstDash val="solid"/>
          </a:ln>
        </p:spPr>
      </p:sp>
      <p:sp>
        <p:nvSpPr>
          <p:cNvPr id="9" name="Text 7"/>
          <p:cNvSpPr/>
          <p:nvPr/>
        </p:nvSpPr>
        <p:spPr>
          <a:xfrm>
            <a:off x="886968" y="1984248"/>
            <a:ext cx="1380744" cy="493776"/>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Input Image</a:t>
            </a:r>
            <a:endParaRPr lang="en-US" sz="1400" dirty="0"/>
          </a:p>
        </p:txBody>
      </p:sp>
      <p:sp>
        <p:nvSpPr>
          <p:cNvPr id="10" name="Shape 8"/>
          <p:cNvSpPr/>
          <p:nvPr/>
        </p:nvSpPr>
        <p:spPr>
          <a:xfrm>
            <a:off x="2743200" y="1783080"/>
            <a:ext cx="1645920" cy="896112"/>
          </a:xfrm>
          <a:prstGeom prst="roundRect">
            <a:avLst>
              <a:gd name="adj" fmla="val 12245"/>
            </a:avLst>
          </a:prstGeom>
          <a:solidFill>
            <a:srgbClr val="202B36"/>
          </a:solidFill>
          <a:ln w="12700">
            <a:solidFill>
              <a:srgbClr val="334155"/>
            </a:solidFill>
            <a:prstDash val="solid"/>
          </a:ln>
        </p:spPr>
      </p:sp>
      <p:sp>
        <p:nvSpPr>
          <p:cNvPr id="11" name="Text 9"/>
          <p:cNvSpPr/>
          <p:nvPr/>
        </p:nvSpPr>
        <p:spPr>
          <a:xfrm>
            <a:off x="2852928" y="1892808"/>
            <a:ext cx="1426464" cy="676656"/>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YOLO / SSD</a:t>
            </a:r>
            <a:endParaRPr lang="en-US" sz="1400" dirty="0"/>
          </a:p>
          <a:p>
            <a:pPr algn="ctr" indent="0" marL="0">
              <a:buNone/>
            </a:pPr>
            <a:r>
              <a:rPr lang="en-US" sz="1400" b="1" dirty="0">
                <a:solidFill>
                  <a:srgbClr val="F7FAFC"/>
                </a:solidFill>
              </a:rPr>
              <a:t>Detector</a:t>
            </a:r>
            <a:endParaRPr lang="en-US" sz="1400" dirty="0"/>
          </a:p>
        </p:txBody>
      </p:sp>
      <p:sp>
        <p:nvSpPr>
          <p:cNvPr id="12" name="Shape 10"/>
          <p:cNvSpPr/>
          <p:nvPr/>
        </p:nvSpPr>
        <p:spPr>
          <a:xfrm>
            <a:off x="4800600" y="1783080"/>
            <a:ext cx="1737360" cy="896112"/>
          </a:xfrm>
          <a:prstGeom prst="roundRect">
            <a:avLst>
              <a:gd name="adj" fmla="val 12245"/>
            </a:avLst>
          </a:prstGeom>
          <a:solidFill>
            <a:srgbClr val="202B36"/>
          </a:solidFill>
          <a:ln w="12700">
            <a:solidFill>
              <a:srgbClr val="334155"/>
            </a:solidFill>
            <a:prstDash val="solid"/>
          </a:ln>
        </p:spPr>
      </p:sp>
      <p:sp>
        <p:nvSpPr>
          <p:cNvPr id="13" name="Text 11"/>
          <p:cNvSpPr/>
          <p:nvPr/>
        </p:nvSpPr>
        <p:spPr>
          <a:xfrm>
            <a:off x="4910328" y="1892808"/>
            <a:ext cx="1517904" cy="676656"/>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Hundreds of</a:t>
            </a:r>
            <a:endParaRPr lang="en-US" sz="1400" dirty="0"/>
          </a:p>
          <a:p>
            <a:pPr algn="ctr" indent="0" marL="0">
              <a:buNone/>
            </a:pPr>
            <a:r>
              <a:rPr lang="en-US" sz="1400" b="1" dirty="0">
                <a:solidFill>
                  <a:srgbClr val="F7FAFC"/>
                </a:solidFill>
              </a:rPr>
              <a:t>Boxes</a:t>
            </a:r>
            <a:endParaRPr lang="en-US" sz="1400" dirty="0"/>
          </a:p>
        </p:txBody>
      </p:sp>
      <p:sp>
        <p:nvSpPr>
          <p:cNvPr id="14" name="Shape 12"/>
          <p:cNvSpPr/>
          <p:nvPr/>
        </p:nvSpPr>
        <p:spPr>
          <a:xfrm>
            <a:off x="7086600" y="1783080"/>
            <a:ext cx="1325880" cy="896112"/>
          </a:xfrm>
          <a:prstGeom prst="roundRect">
            <a:avLst>
              <a:gd name="adj" fmla="val 12245"/>
            </a:avLst>
          </a:prstGeom>
          <a:solidFill>
            <a:srgbClr val="76B900"/>
          </a:solidFill>
          <a:ln w="12700">
            <a:solidFill>
              <a:srgbClr val="334155"/>
            </a:solidFill>
            <a:prstDash val="solid"/>
          </a:ln>
        </p:spPr>
      </p:sp>
      <p:sp>
        <p:nvSpPr>
          <p:cNvPr id="15" name="Text 13"/>
          <p:cNvSpPr/>
          <p:nvPr/>
        </p:nvSpPr>
        <p:spPr>
          <a:xfrm>
            <a:off x="7196328" y="1892808"/>
            <a:ext cx="1106424" cy="676656"/>
          </a:xfrm>
          <a:prstGeom prst="rect">
            <a:avLst/>
          </a:prstGeom>
          <a:noFill/>
          <a:ln/>
        </p:spPr>
        <p:txBody>
          <a:bodyPr wrap="square" lIns="254" tIns="254" rIns="254" bIns="254" rtlCol="0" anchor="ctr">
            <a:normAutofit/>
          </a:bodyPr>
          <a:lstStyle/>
          <a:p>
            <a:pPr algn="ctr" indent="0" marL="0">
              <a:buNone/>
            </a:pPr>
            <a:r>
              <a:rPr lang="en-US" sz="1400" b="1" dirty="0">
                <a:solidFill>
                  <a:srgbClr val="0B0F12"/>
                </a:solidFill>
              </a:rPr>
              <a:t>NMS</a:t>
            </a:r>
            <a:endParaRPr lang="en-US" sz="1400" dirty="0"/>
          </a:p>
        </p:txBody>
      </p:sp>
      <p:sp>
        <p:nvSpPr>
          <p:cNvPr id="16" name="Shape 14"/>
          <p:cNvSpPr/>
          <p:nvPr/>
        </p:nvSpPr>
        <p:spPr>
          <a:xfrm>
            <a:off x="9006840" y="1783080"/>
            <a:ext cx="1737360" cy="896112"/>
          </a:xfrm>
          <a:prstGeom prst="roundRect">
            <a:avLst>
              <a:gd name="adj" fmla="val 12245"/>
            </a:avLst>
          </a:prstGeom>
          <a:solidFill>
            <a:srgbClr val="202B36"/>
          </a:solidFill>
          <a:ln w="12700">
            <a:solidFill>
              <a:srgbClr val="334155"/>
            </a:solidFill>
            <a:prstDash val="solid"/>
          </a:ln>
        </p:spPr>
      </p:sp>
      <p:sp>
        <p:nvSpPr>
          <p:cNvPr id="17" name="Text 15"/>
          <p:cNvSpPr/>
          <p:nvPr/>
        </p:nvSpPr>
        <p:spPr>
          <a:xfrm>
            <a:off x="9116568" y="1892808"/>
            <a:ext cx="1517904" cy="676656"/>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Final</a:t>
            </a:r>
            <a:endParaRPr lang="en-US" sz="1400" dirty="0"/>
          </a:p>
          <a:p>
            <a:pPr algn="ctr" indent="0" marL="0">
              <a:buNone/>
            </a:pPr>
            <a:r>
              <a:rPr lang="en-US" sz="1400" b="1" dirty="0">
                <a:solidFill>
                  <a:srgbClr val="F7FAFC"/>
                </a:solidFill>
              </a:rPr>
              <a:t>Detections</a:t>
            </a:r>
            <a:endParaRPr lang="en-US" sz="1400" dirty="0"/>
          </a:p>
        </p:txBody>
      </p:sp>
      <p:sp>
        <p:nvSpPr>
          <p:cNvPr id="18" name="Shape 16"/>
          <p:cNvSpPr/>
          <p:nvPr/>
        </p:nvSpPr>
        <p:spPr>
          <a:xfrm>
            <a:off x="2377440" y="2231136"/>
            <a:ext cx="365760" cy="0"/>
          </a:xfrm>
          <a:prstGeom prst="line">
            <a:avLst/>
          </a:prstGeom>
          <a:noFill/>
          <a:ln w="25400">
            <a:solidFill>
              <a:srgbClr val="76B900"/>
            </a:solidFill>
            <a:prstDash val="solid"/>
            <a:headEnd type="none"/>
            <a:tailEnd type="triangle"/>
          </a:ln>
        </p:spPr>
      </p:sp>
      <p:sp>
        <p:nvSpPr>
          <p:cNvPr id="19" name="Shape 17"/>
          <p:cNvSpPr/>
          <p:nvPr/>
        </p:nvSpPr>
        <p:spPr>
          <a:xfrm>
            <a:off x="4389120" y="2231136"/>
            <a:ext cx="411480" cy="0"/>
          </a:xfrm>
          <a:prstGeom prst="line">
            <a:avLst/>
          </a:prstGeom>
          <a:noFill/>
          <a:ln w="25400">
            <a:solidFill>
              <a:srgbClr val="76B900"/>
            </a:solidFill>
            <a:prstDash val="solid"/>
            <a:headEnd type="none"/>
            <a:tailEnd type="triangle"/>
          </a:ln>
        </p:spPr>
      </p:sp>
      <p:sp>
        <p:nvSpPr>
          <p:cNvPr id="20" name="Shape 18"/>
          <p:cNvSpPr/>
          <p:nvPr/>
        </p:nvSpPr>
        <p:spPr>
          <a:xfrm>
            <a:off x="6537960" y="2231136"/>
            <a:ext cx="548640" cy="0"/>
          </a:xfrm>
          <a:prstGeom prst="line">
            <a:avLst/>
          </a:prstGeom>
          <a:noFill/>
          <a:ln w="25400">
            <a:solidFill>
              <a:srgbClr val="76B900"/>
            </a:solidFill>
            <a:prstDash val="solid"/>
            <a:headEnd type="none"/>
            <a:tailEnd type="triangle"/>
          </a:ln>
        </p:spPr>
      </p:sp>
      <p:sp>
        <p:nvSpPr>
          <p:cNvPr id="21" name="Shape 19"/>
          <p:cNvSpPr/>
          <p:nvPr/>
        </p:nvSpPr>
        <p:spPr>
          <a:xfrm>
            <a:off x="8412480" y="2231136"/>
            <a:ext cx="594360" cy="0"/>
          </a:xfrm>
          <a:prstGeom prst="line">
            <a:avLst/>
          </a:prstGeom>
          <a:noFill/>
          <a:ln w="25400">
            <a:solidFill>
              <a:srgbClr val="76B900"/>
            </a:solidFill>
            <a:prstDash val="solid"/>
            <a:headEnd type="none"/>
            <a:tailEnd type="triangle"/>
          </a:ln>
        </p:spPr>
      </p:sp>
      <p:sp>
        <p:nvSpPr>
          <p:cNvPr id="22" name="Shape 20"/>
          <p:cNvSpPr/>
          <p:nvPr/>
        </p:nvSpPr>
        <p:spPr>
          <a:xfrm>
            <a:off x="5074920" y="3657600"/>
            <a:ext cx="868680" cy="566928"/>
          </a:xfrm>
          <a:prstGeom prst="rect">
            <a:avLst/>
          </a:prstGeom>
          <a:solidFill>
            <a:srgbClr val="0B0F12">
              <a:alpha val="0"/>
            </a:srgbClr>
          </a:solidFill>
          <a:ln w="15240">
            <a:solidFill>
              <a:srgbClr val="38BDF8"/>
            </a:solidFill>
            <a:prstDash val="solid"/>
          </a:ln>
        </p:spPr>
      </p:sp>
      <p:sp>
        <p:nvSpPr>
          <p:cNvPr id="23" name="Shape 21"/>
          <p:cNvSpPr/>
          <p:nvPr/>
        </p:nvSpPr>
        <p:spPr>
          <a:xfrm>
            <a:off x="5129784" y="3698748"/>
            <a:ext cx="868680" cy="566928"/>
          </a:xfrm>
          <a:prstGeom prst="rect">
            <a:avLst/>
          </a:prstGeom>
          <a:solidFill>
            <a:srgbClr val="0B0F12">
              <a:alpha val="0"/>
            </a:srgbClr>
          </a:solidFill>
          <a:ln w="15240">
            <a:solidFill>
              <a:srgbClr val="76B900">
                <a:alpha val="95000"/>
              </a:srgbClr>
            </a:solidFill>
            <a:prstDash val="solid"/>
          </a:ln>
        </p:spPr>
      </p:sp>
      <p:sp>
        <p:nvSpPr>
          <p:cNvPr id="24" name="Shape 22"/>
          <p:cNvSpPr/>
          <p:nvPr/>
        </p:nvSpPr>
        <p:spPr>
          <a:xfrm>
            <a:off x="5184648" y="3739896"/>
            <a:ext cx="868680" cy="566928"/>
          </a:xfrm>
          <a:prstGeom prst="rect">
            <a:avLst/>
          </a:prstGeom>
          <a:solidFill>
            <a:srgbClr val="0B0F12">
              <a:alpha val="0"/>
            </a:srgbClr>
          </a:solidFill>
          <a:ln w="15240">
            <a:solidFill>
              <a:srgbClr val="38BDF8">
                <a:alpha val="90000"/>
              </a:srgbClr>
            </a:solidFill>
            <a:prstDash val="solid"/>
          </a:ln>
        </p:spPr>
      </p:sp>
      <p:sp>
        <p:nvSpPr>
          <p:cNvPr id="25" name="Shape 23"/>
          <p:cNvSpPr/>
          <p:nvPr/>
        </p:nvSpPr>
        <p:spPr>
          <a:xfrm>
            <a:off x="5239512" y="3781044"/>
            <a:ext cx="868680" cy="566928"/>
          </a:xfrm>
          <a:prstGeom prst="rect">
            <a:avLst/>
          </a:prstGeom>
          <a:solidFill>
            <a:srgbClr val="0B0F12">
              <a:alpha val="0"/>
            </a:srgbClr>
          </a:solidFill>
          <a:ln w="15240">
            <a:solidFill>
              <a:srgbClr val="76B900">
                <a:alpha val="85000"/>
              </a:srgbClr>
            </a:solidFill>
            <a:prstDash val="solid"/>
          </a:ln>
        </p:spPr>
      </p:sp>
      <p:sp>
        <p:nvSpPr>
          <p:cNvPr id="26" name="Shape 24"/>
          <p:cNvSpPr/>
          <p:nvPr/>
        </p:nvSpPr>
        <p:spPr>
          <a:xfrm>
            <a:off x="5294376" y="3822192"/>
            <a:ext cx="868680" cy="566928"/>
          </a:xfrm>
          <a:prstGeom prst="rect">
            <a:avLst/>
          </a:prstGeom>
          <a:solidFill>
            <a:srgbClr val="0B0F12">
              <a:alpha val="0"/>
            </a:srgbClr>
          </a:solidFill>
          <a:ln w="15240">
            <a:solidFill>
              <a:srgbClr val="38BDF8">
                <a:alpha val="80000"/>
              </a:srgbClr>
            </a:solidFill>
            <a:prstDash val="solid"/>
          </a:ln>
        </p:spPr>
      </p:sp>
      <p:sp>
        <p:nvSpPr>
          <p:cNvPr id="27" name="Shape 25"/>
          <p:cNvSpPr/>
          <p:nvPr/>
        </p:nvSpPr>
        <p:spPr>
          <a:xfrm>
            <a:off x="5349240" y="3863340"/>
            <a:ext cx="868680" cy="566928"/>
          </a:xfrm>
          <a:prstGeom prst="rect">
            <a:avLst/>
          </a:prstGeom>
          <a:solidFill>
            <a:srgbClr val="0B0F12">
              <a:alpha val="0"/>
            </a:srgbClr>
          </a:solidFill>
          <a:ln w="15240">
            <a:solidFill>
              <a:srgbClr val="76B900">
                <a:alpha val="75000"/>
              </a:srgbClr>
            </a:solidFill>
            <a:prstDash val="solid"/>
          </a:ln>
        </p:spPr>
      </p:sp>
      <p:sp>
        <p:nvSpPr>
          <p:cNvPr id="28" name="Shape 26"/>
          <p:cNvSpPr/>
          <p:nvPr/>
        </p:nvSpPr>
        <p:spPr>
          <a:xfrm>
            <a:off x="5404104" y="3904488"/>
            <a:ext cx="868680" cy="566928"/>
          </a:xfrm>
          <a:prstGeom prst="rect">
            <a:avLst/>
          </a:prstGeom>
          <a:solidFill>
            <a:srgbClr val="0B0F12">
              <a:alpha val="0"/>
            </a:srgbClr>
          </a:solidFill>
          <a:ln w="15240">
            <a:solidFill>
              <a:srgbClr val="38BDF8">
                <a:alpha val="70000"/>
              </a:srgbClr>
            </a:solidFill>
            <a:prstDash val="solid"/>
          </a:ln>
        </p:spPr>
      </p:sp>
      <p:sp>
        <p:nvSpPr>
          <p:cNvPr id="29" name="Shape 27"/>
          <p:cNvSpPr/>
          <p:nvPr/>
        </p:nvSpPr>
        <p:spPr>
          <a:xfrm>
            <a:off x="5458968" y="3945636"/>
            <a:ext cx="868680" cy="566928"/>
          </a:xfrm>
          <a:prstGeom prst="rect">
            <a:avLst/>
          </a:prstGeom>
          <a:solidFill>
            <a:srgbClr val="0B0F12">
              <a:alpha val="0"/>
            </a:srgbClr>
          </a:solidFill>
          <a:ln w="15240">
            <a:solidFill>
              <a:srgbClr val="76B900">
                <a:alpha val="65000"/>
              </a:srgbClr>
            </a:solidFill>
            <a:prstDash val="solid"/>
          </a:ln>
        </p:spPr>
      </p:sp>
      <p:sp>
        <p:nvSpPr>
          <p:cNvPr id="30" name="Shape 28"/>
          <p:cNvSpPr/>
          <p:nvPr/>
        </p:nvSpPr>
        <p:spPr>
          <a:xfrm>
            <a:off x="9345168" y="3749040"/>
            <a:ext cx="932688" cy="585216"/>
          </a:xfrm>
          <a:prstGeom prst="rect">
            <a:avLst/>
          </a:prstGeom>
          <a:solidFill>
            <a:srgbClr val="0B0F12">
              <a:alpha val="0"/>
            </a:srgbClr>
          </a:solidFill>
          <a:ln w="25400">
            <a:solidFill>
              <a:srgbClr val="76B900"/>
            </a:solidFill>
            <a:prstDash val="solid"/>
          </a:ln>
        </p:spPr>
      </p:sp>
      <p:sp>
        <p:nvSpPr>
          <p:cNvPr id="31" name="Text 29"/>
          <p:cNvSpPr/>
          <p:nvPr/>
        </p:nvSpPr>
        <p:spPr>
          <a:xfrm>
            <a:off x="914400" y="5047488"/>
            <a:ext cx="10058400" cy="310896"/>
          </a:xfrm>
          <a:prstGeom prst="rect">
            <a:avLst/>
          </a:prstGeom>
          <a:noFill/>
          <a:ln/>
        </p:spPr>
        <p:txBody>
          <a:bodyPr wrap="square" lIns="0" tIns="0" rIns="0" bIns="0" rtlCol="0" anchor="ctr"/>
          <a:lstStyle/>
          <a:p>
            <a:pPr algn="ctr" indent="0" marL="0">
              <a:buNone/>
            </a:pPr>
            <a:r>
              <a:rPr lang="en-US" sz="1600" b="1" dirty="0">
                <a:solidFill>
                  <a:srgbClr val="F7FAFC"/>
                </a:solidFill>
              </a:rPr>
              <a:t>NMS removes redundant detections while keeping the highest-confidence box.</a:t>
            </a:r>
            <a:endParaRPr lang="en-US" sz="1600" dirty="0"/>
          </a:p>
        </p:txBody>
      </p:sp>
      <p:sp>
        <p:nvSpPr>
          <p:cNvPr id="33" name="Text 30"/>
          <p:cNvSpPr/>
          <p:nvPr/>
        </p:nvSpPr>
        <p:spPr>
          <a:xfrm>
            <a:off x="11777472"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2"/>
          </a:solidFill>
          <a:ln w="12700">
            <a:solidFill>
              <a:srgbClr val="0B0F12">
                <a:alpha val="0"/>
              </a:srgbClr>
            </a:solidFill>
            <a:prstDash val="solid"/>
          </a:ln>
        </p:spPr>
      </p:sp>
      <p:sp>
        <p:nvSpPr>
          <p:cNvPr id="3" name="Shape 1"/>
          <p:cNvSpPr/>
          <p:nvPr/>
        </p:nvSpPr>
        <p:spPr>
          <a:xfrm>
            <a:off x="0" y="0"/>
            <a:ext cx="109728" cy="6858000"/>
          </a:xfrm>
          <a:prstGeom prst="rect">
            <a:avLst/>
          </a:prstGeom>
          <a:solidFill>
            <a:srgbClr val="76B900"/>
          </a:solidFill>
          <a:ln w="12700">
            <a:solidFill>
              <a:srgbClr val="76B900"/>
            </a:solidFill>
            <a:prstDash val="solid"/>
          </a:ln>
        </p:spPr>
      </p:sp>
      <p:sp>
        <p:nvSpPr>
          <p:cNvPr id="4" name="Shape 2"/>
          <p:cNvSpPr/>
          <p:nvPr/>
        </p:nvSpPr>
        <p:spPr>
          <a:xfrm>
            <a:off x="146304" y="0"/>
            <a:ext cx="12045391" cy="73152"/>
          </a:xfrm>
          <a:prstGeom prst="rect">
            <a:avLst/>
          </a:prstGeom>
          <a:solidFill>
            <a:srgbClr val="76B900">
              <a:alpha val="85000"/>
            </a:srgbClr>
          </a:solidFill>
          <a:ln w="12700">
            <a:solidFill>
              <a:srgbClr val="76B900">
                <a:alpha val="0"/>
              </a:srgbClr>
            </a:solidFill>
            <a:prstDash val="solid"/>
          </a:ln>
        </p:spPr>
      </p:sp>
      <p:sp>
        <p:nvSpPr>
          <p:cNvPr id="5" name="Text 3"/>
          <p:cNvSpPr/>
          <p:nvPr/>
        </p:nvSpPr>
        <p:spPr>
          <a:xfrm>
            <a:off x="438912" y="256032"/>
            <a:ext cx="9692640" cy="384048"/>
          </a:xfrm>
          <a:prstGeom prst="rect">
            <a:avLst/>
          </a:prstGeom>
          <a:noFill/>
          <a:ln/>
        </p:spPr>
        <p:txBody>
          <a:bodyPr wrap="square" lIns="0" tIns="0" rIns="0" bIns="0" rtlCol="0" anchor="ctr"/>
          <a:lstStyle/>
          <a:p>
            <a:pPr indent="0" marL="0">
              <a:buNone/>
            </a:pPr>
            <a:r>
              <a:rPr lang="en-US" sz="2500" b="1" dirty="0">
                <a:solidFill>
                  <a:srgbClr val="F7FAFC"/>
                </a:solidFill>
                <a:latin typeface="Aptos Display" pitchFamily="34" charset="0"/>
                <a:ea typeface="Aptos Display" pitchFamily="34" charset="-122"/>
                <a:cs typeface="Aptos Display" pitchFamily="34" charset="-120"/>
              </a:rPr>
              <a:t>Project Scope: Real-Time NMS</a:t>
            </a:r>
            <a:endParaRPr lang="en-US" sz="2500" dirty="0"/>
          </a:p>
        </p:txBody>
      </p:sp>
      <p:sp>
        <p:nvSpPr>
          <p:cNvPr id="6" name="Text 4"/>
          <p:cNvSpPr/>
          <p:nvPr/>
        </p:nvSpPr>
        <p:spPr>
          <a:xfrm>
            <a:off x="438912" y="658368"/>
            <a:ext cx="8686800" cy="256032"/>
          </a:xfrm>
          <a:prstGeom prst="rect">
            <a:avLst/>
          </a:prstGeom>
          <a:noFill/>
          <a:ln/>
        </p:spPr>
        <p:txBody>
          <a:bodyPr wrap="square" lIns="0" tIns="0" rIns="0" bIns="0" rtlCol="0" anchor="ctr"/>
          <a:lstStyle/>
          <a:p>
            <a:pPr indent="0" marL="0">
              <a:buNone/>
            </a:pPr>
            <a:r>
              <a:rPr lang="en-US" sz="1050" dirty="0">
                <a:solidFill>
                  <a:srgbClr val="B7C0C9"/>
                </a:solidFill>
              </a:rPr>
              <a:t>Track A4 · Computer Vision post-processing</a:t>
            </a:r>
            <a:endParaRPr lang="en-US" sz="1050" dirty="0"/>
          </a:p>
        </p:txBody>
      </p:sp>
      <p:sp>
        <p:nvSpPr>
          <p:cNvPr id="7" name="Text 5"/>
          <p:cNvSpPr/>
          <p:nvPr/>
        </p:nvSpPr>
        <p:spPr>
          <a:xfrm>
            <a:off x="9738360" y="6446520"/>
            <a:ext cx="1965960" cy="201168"/>
          </a:xfrm>
          <a:prstGeom prst="rect">
            <a:avLst/>
          </a:prstGeom>
          <a:noFill/>
          <a:ln/>
        </p:spPr>
        <p:txBody>
          <a:bodyPr wrap="square" lIns="0" tIns="0" rIns="0" bIns="0" rtlCol="0" anchor="ctr"/>
          <a:lstStyle/>
          <a:p>
            <a:pPr algn="r" indent="0" marL="0">
              <a:buNone/>
            </a:pPr>
            <a:r>
              <a:rPr lang="en-US" sz="850" dirty="0">
                <a:solidFill>
                  <a:srgbClr val="6B7280"/>
                </a:solidFill>
              </a:rPr>
              <a:t>CUDA NMS · Seminar 2</a:t>
            </a:r>
            <a:endParaRPr lang="en-US" sz="850" dirty="0"/>
          </a:p>
        </p:txBody>
      </p:sp>
      <p:sp>
        <p:nvSpPr>
          <p:cNvPr id="8" name="Shape 6"/>
          <p:cNvSpPr/>
          <p:nvPr/>
        </p:nvSpPr>
        <p:spPr>
          <a:xfrm>
            <a:off x="777240" y="1508760"/>
            <a:ext cx="1828800" cy="822960"/>
          </a:xfrm>
          <a:prstGeom prst="roundRect">
            <a:avLst>
              <a:gd name="adj" fmla="val 13333"/>
            </a:avLst>
          </a:prstGeom>
          <a:solidFill>
            <a:srgbClr val="16202A"/>
          </a:solidFill>
          <a:ln w="12700">
            <a:solidFill>
              <a:srgbClr val="334155"/>
            </a:solidFill>
            <a:prstDash val="solid"/>
          </a:ln>
        </p:spPr>
      </p:sp>
      <p:sp>
        <p:nvSpPr>
          <p:cNvPr id="9" name="Text 7"/>
          <p:cNvSpPr/>
          <p:nvPr/>
        </p:nvSpPr>
        <p:spPr>
          <a:xfrm>
            <a:off x="886968" y="1618488"/>
            <a:ext cx="1609344" cy="603504"/>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CPU Pipeline</a:t>
            </a:r>
            <a:endParaRPr lang="en-US" sz="1400" dirty="0"/>
          </a:p>
          <a:p>
            <a:pPr algn="ctr" indent="0" marL="0">
              <a:buNone/>
            </a:pPr>
            <a:r>
              <a:rPr lang="en-US" sz="1400" b="1" dirty="0">
                <a:solidFill>
                  <a:srgbClr val="F7FAFC"/>
                </a:solidFill>
              </a:rPr>
              <a:t>first</a:t>
            </a:r>
            <a:endParaRPr lang="en-US" sz="1400" dirty="0"/>
          </a:p>
        </p:txBody>
      </p:sp>
      <p:sp>
        <p:nvSpPr>
          <p:cNvPr id="10" name="Shape 8"/>
          <p:cNvSpPr/>
          <p:nvPr/>
        </p:nvSpPr>
        <p:spPr>
          <a:xfrm>
            <a:off x="3063240" y="1508760"/>
            <a:ext cx="1828800" cy="822960"/>
          </a:xfrm>
          <a:prstGeom prst="roundRect">
            <a:avLst>
              <a:gd name="adj" fmla="val 13333"/>
            </a:avLst>
          </a:prstGeom>
          <a:solidFill>
            <a:srgbClr val="16202A"/>
          </a:solidFill>
          <a:ln w="12700">
            <a:solidFill>
              <a:srgbClr val="334155"/>
            </a:solidFill>
            <a:prstDash val="solid"/>
          </a:ln>
        </p:spPr>
      </p:sp>
      <p:sp>
        <p:nvSpPr>
          <p:cNvPr id="11" name="Text 9"/>
          <p:cNvSpPr/>
          <p:nvPr/>
        </p:nvSpPr>
        <p:spPr>
          <a:xfrm>
            <a:off x="3172968" y="1618488"/>
            <a:ext cx="1609344" cy="603504"/>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Profile</a:t>
            </a:r>
            <a:endParaRPr lang="en-US" sz="1400" dirty="0"/>
          </a:p>
          <a:p>
            <a:pPr algn="ctr" indent="0" marL="0">
              <a:buNone/>
            </a:pPr>
            <a:r>
              <a:rPr lang="en-US" sz="1400" b="1" dirty="0">
                <a:solidFill>
                  <a:srgbClr val="F7FAFC"/>
                </a:solidFill>
              </a:rPr>
              <a:t>with cProfile</a:t>
            </a:r>
            <a:endParaRPr lang="en-US" sz="1400" dirty="0"/>
          </a:p>
        </p:txBody>
      </p:sp>
      <p:sp>
        <p:nvSpPr>
          <p:cNvPr id="12" name="Shape 10"/>
          <p:cNvSpPr/>
          <p:nvPr/>
        </p:nvSpPr>
        <p:spPr>
          <a:xfrm>
            <a:off x="5349240" y="1508760"/>
            <a:ext cx="1828800" cy="822960"/>
          </a:xfrm>
          <a:prstGeom prst="roundRect">
            <a:avLst>
              <a:gd name="adj" fmla="val 13333"/>
            </a:avLst>
          </a:prstGeom>
          <a:solidFill>
            <a:srgbClr val="16202A"/>
          </a:solidFill>
          <a:ln w="12700">
            <a:solidFill>
              <a:srgbClr val="334155"/>
            </a:solidFill>
            <a:prstDash val="solid"/>
          </a:ln>
        </p:spPr>
      </p:sp>
      <p:sp>
        <p:nvSpPr>
          <p:cNvPr id="13" name="Text 11"/>
          <p:cNvSpPr/>
          <p:nvPr/>
        </p:nvSpPr>
        <p:spPr>
          <a:xfrm>
            <a:off x="5458968" y="1618488"/>
            <a:ext cx="1609344" cy="603504"/>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Custom CUDA</a:t>
            </a:r>
            <a:endParaRPr lang="en-US" sz="1400" dirty="0"/>
          </a:p>
          <a:p>
            <a:pPr algn="ctr" indent="0" marL="0">
              <a:buNone/>
            </a:pPr>
            <a:r>
              <a:rPr lang="en-US" sz="1400" b="1" dirty="0">
                <a:solidFill>
                  <a:srgbClr val="F7FAFC"/>
                </a:solidFill>
              </a:rPr>
              <a:t>Kernel</a:t>
            </a:r>
            <a:endParaRPr lang="en-US" sz="1400" dirty="0"/>
          </a:p>
        </p:txBody>
      </p:sp>
      <p:sp>
        <p:nvSpPr>
          <p:cNvPr id="14" name="Shape 12"/>
          <p:cNvSpPr/>
          <p:nvPr/>
        </p:nvSpPr>
        <p:spPr>
          <a:xfrm>
            <a:off x="7635240" y="1508760"/>
            <a:ext cx="1828800" cy="822960"/>
          </a:xfrm>
          <a:prstGeom prst="roundRect">
            <a:avLst>
              <a:gd name="adj" fmla="val 13333"/>
            </a:avLst>
          </a:prstGeom>
          <a:solidFill>
            <a:srgbClr val="16202A"/>
          </a:solidFill>
          <a:ln w="12700">
            <a:solidFill>
              <a:srgbClr val="334155"/>
            </a:solidFill>
            <a:prstDash val="solid"/>
          </a:ln>
        </p:spPr>
      </p:sp>
      <p:sp>
        <p:nvSpPr>
          <p:cNvPr id="15" name="Text 13"/>
          <p:cNvSpPr/>
          <p:nvPr/>
        </p:nvSpPr>
        <p:spPr>
          <a:xfrm>
            <a:off x="7744968" y="1618488"/>
            <a:ext cx="1609344" cy="603504"/>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Verify</a:t>
            </a:r>
            <a:endParaRPr lang="en-US" sz="1400" dirty="0"/>
          </a:p>
          <a:p>
            <a:pPr algn="ctr" indent="0" marL="0">
              <a:buNone/>
            </a:pPr>
            <a:r>
              <a:rPr lang="en-US" sz="1400" b="1" dirty="0">
                <a:solidFill>
                  <a:srgbClr val="F7FAFC"/>
                </a:solidFill>
              </a:rPr>
              <a:t>Correctness</a:t>
            </a:r>
            <a:endParaRPr lang="en-US" sz="1400" dirty="0"/>
          </a:p>
        </p:txBody>
      </p:sp>
      <p:sp>
        <p:nvSpPr>
          <p:cNvPr id="16" name="Shape 14"/>
          <p:cNvSpPr/>
          <p:nvPr/>
        </p:nvSpPr>
        <p:spPr>
          <a:xfrm>
            <a:off x="9921240" y="1508760"/>
            <a:ext cx="1737360" cy="822960"/>
          </a:xfrm>
          <a:prstGeom prst="roundRect">
            <a:avLst>
              <a:gd name="adj" fmla="val 13333"/>
            </a:avLst>
          </a:prstGeom>
          <a:solidFill>
            <a:srgbClr val="16202A"/>
          </a:solidFill>
          <a:ln w="12700">
            <a:solidFill>
              <a:srgbClr val="334155"/>
            </a:solidFill>
            <a:prstDash val="solid"/>
          </a:ln>
        </p:spPr>
      </p:sp>
      <p:sp>
        <p:nvSpPr>
          <p:cNvPr id="17" name="Text 15"/>
          <p:cNvSpPr/>
          <p:nvPr/>
        </p:nvSpPr>
        <p:spPr>
          <a:xfrm>
            <a:off x="10030968" y="1618488"/>
            <a:ext cx="1517904" cy="603504"/>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Benchmark</a:t>
            </a:r>
            <a:endParaRPr lang="en-US" sz="1400" dirty="0"/>
          </a:p>
          <a:p>
            <a:pPr algn="ctr" indent="0" marL="0">
              <a:buNone/>
            </a:pPr>
            <a:r>
              <a:rPr lang="en-US" sz="1400" b="1" dirty="0">
                <a:solidFill>
                  <a:srgbClr val="F7FAFC"/>
                </a:solidFill>
              </a:rPr>
              <a:t>Speedup</a:t>
            </a:r>
            <a:endParaRPr lang="en-US" sz="1400" dirty="0"/>
          </a:p>
        </p:txBody>
      </p:sp>
      <p:sp>
        <p:nvSpPr>
          <p:cNvPr id="18" name="Shape 16"/>
          <p:cNvSpPr/>
          <p:nvPr/>
        </p:nvSpPr>
        <p:spPr>
          <a:xfrm>
            <a:off x="2606040" y="1920240"/>
            <a:ext cx="457200" cy="0"/>
          </a:xfrm>
          <a:prstGeom prst="line">
            <a:avLst/>
          </a:prstGeom>
          <a:noFill/>
          <a:ln w="25400">
            <a:solidFill>
              <a:srgbClr val="76B900"/>
            </a:solidFill>
            <a:prstDash val="solid"/>
            <a:headEnd type="none"/>
            <a:tailEnd type="triangle"/>
          </a:ln>
        </p:spPr>
      </p:sp>
      <p:sp>
        <p:nvSpPr>
          <p:cNvPr id="19" name="Shape 17"/>
          <p:cNvSpPr/>
          <p:nvPr/>
        </p:nvSpPr>
        <p:spPr>
          <a:xfrm>
            <a:off x="4892040" y="1920240"/>
            <a:ext cx="457200" cy="0"/>
          </a:xfrm>
          <a:prstGeom prst="line">
            <a:avLst/>
          </a:prstGeom>
          <a:noFill/>
          <a:ln w="25400">
            <a:solidFill>
              <a:srgbClr val="76B900"/>
            </a:solidFill>
            <a:prstDash val="solid"/>
            <a:headEnd type="none"/>
            <a:tailEnd type="triangle"/>
          </a:ln>
        </p:spPr>
      </p:sp>
      <p:sp>
        <p:nvSpPr>
          <p:cNvPr id="20" name="Shape 18"/>
          <p:cNvSpPr/>
          <p:nvPr/>
        </p:nvSpPr>
        <p:spPr>
          <a:xfrm>
            <a:off x="7178040" y="1920240"/>
            <a:ext cx="457200" cy="0"/>
          </a:xfrm>
          <a:prstGeom prst="line">
            <a:avLst/>
          </a:prstGeom>
          <a:noFill/>
          <a:ln w="25400">
            <a:solidFill>
              <a:srgbClr val="76B900"/>
            </a:solidFill>
            <a:prstDash val="solid"/>
            <a:headEnd type="none"/>
            <a:tailEnd type="triangle"/>
          </a:ln>
        </p:spPr>
      </p:sp>
      <p:sp>
        <p:nvSpPr>
          <p:cNvPr id="21" name="Shape 19"/>
          <p:cNvSpPr/>
          <p:nvPr/>
        </p:nvSpPr>
        <p:spPr>
          <a:xfrm>
            <a:off x="9464040" y="1920240"/>
            <a:ext cx="457200" cy="0"/>
          </a:xfrm>
          <a:prstGeom prst="line">
            <a:avLst/>
          </a:prstGeom>
          <a:noFill/>
          <a:ln w="25400">
            <a:solidFill>
              <a:srgbClr val="76B900"/>
            </a:solidFill>
            <a:prstDash val="solid"/>
            <a:headEnd type="none"/>
            <a:tailEnd type="triangle"/>
          </a:ln>
        </p:spPr>
      </p:sp>
      <p:sp>
        <p:nvSpPr>
          <p:cNvPr id="22" name="Shape 20"/>
          <p:cNvSpPr/>
          <p:nvPr/>
        </p:nvSpPr>
        <p:spPr>
          <a:xfrm>
            <a:off x="868680" y="3063240"/>
            <a:ext cx="2194560" cy="347472"/>
          </a:xfrm>
          <a:prstGeom prst="roundRect">
            <a:avLst>
              <a:gd name="adj" fmla="val 21053"/>
            </a:avLst>
          </a:prstGeom>
          <a:solidFill>
            <a:srgbClr val="76B900">
              <a:alpha val="92000"/>
            </a:srgbClr>
          </a:solidFill>
          <a:ln w="12700">
            <a:solidFill>
              <a:srgbClr val="76B900">
                <a:alpha val="80000"/>
              </a:srgbClr>
            </a:solidFill>
            <a:prstDash val="solid"/>
          </a:ln>
        </p:spPr>
      </p:sp>
      <p:sp>
        <p:nvSpPr>
          <p:cNvPr id="23" name="Text 21"/>
          <p:cNvSpPr/>
          <p:nvPr/>
        </p:nvSpPr>
        <p:spPr>
          <a:xfrm>
            <a:off x="960120" y="3150108"/>
            <a:ext cx="2011680" cy="155448"/>
          </a:xfrm>
          <a:prstGeom prst="rect">
            <a:avLst/>
          </a:prstGeom>
          <a:noFill/>
          <a:ln/>
        </p:spPr>
        <p:txBody>
          <a:bodyPr wrap="square" lIns="0" tIns="0" rIns="0" bIns="0" rtlCol="0" anchor="ctr"/>
          <a:lstStyle/>
          <a:p>
            <a:pPr algn="ctr" indent="0" marL="0">
              <a:buNone/>
            </a:pPr>
            <a:r>
              <a:rPr lang="en-US" sz="1050" b="1" dirty="0">
                <a:solidFill>
                  <a:srgbClr val="F7FAFC"/>
                </a:solidFill>
              </a:rPr>
              <a:t>Partial GPU Principle</a:t>
            </a:r>
            <a:endParaRPr lang="en-US" sz="1050" dirty="0"/>
          </a:p>
        </p:txBody>
      </p:sp>
      <p:sp>
        <p:nvSpPr>
          <p:cNvPr id="24" name="Shape 22"/>
          <p:cNvSpPr/>
          <p:nvPr/>
        </p:nvSpPr>
        <p:spPr>
          <a:xfrm>
            <a:off x="3337560" y="3063240"/>
            <a:ext cx="2560320" cy="347472"/>
          </a:xfrm>
          <a:prstGeom prst="roundRect">
            <a:avLst>
              <a:gd name="adj" fmla="val 21053"/>
            </a:avLst>
          </a:prstGeom>
          <a:solidFill>
            <a:srgbClr val="38BDF8">
              <a:alpha val="92000"/>
            </a:srgbClr>
          </a:solidFill>
          <a:ln w="12700">
            <a:solidFill>
              <a:srgbClr val="38BDF8">
                <a:alpha val="80000"/>
              </a:srgbClr>
            </a:solidFill>
            <a:prstDash val="solid"/>
          </a:ln>
        </p:spPr>
      </p:sp>
      <p:sp>
        <p:nvSpPr>
          <p:cNvPr id="25" name="Text 23"/>
          <p:cNvSpPr/>
          <p:nvPr/>
        </p:nvSpPr>
        <p:spPr>
          <a:xfrm>
            <a:off x="3429000" y="3150108"/>
            <a:ext cx="2377440" cy="155448"/>
          </a:xfrm>
          <a:prstGeom prst="rect">
            <a:avLst/>
          </a:prstGeom>
          <a:noFill/>
          <a:ln/>
        </p:spPr>
        <p:txBody>
          <a:bodyPr wrap="square" lIns="0" tIns="0" rIns="0" bIns="0" rtlCol="0" anchor="ctr"/>
          <a:lstStyle/>
          <a:p>
            <a:pPr algn="ctr" indent="0" marL="0">
              <a:buNone/>
            </a:pPr>
            <a:r>
              <a:rPr lang="en-US" sz="1050" b="1" dirty="0">
                <a:solidFill>
                  <a:srgbClr val="F7FAFC"/>
                </a:solidFill>
              </a:rPr>
              <a:t>Move only the bottleneck</a:t>
            </a:r>
            <a:endParaRPr lang="en-US" sz="1050" dirty="0"/>
          </a:p>
        </p:txBody>
      </p:sp>
      <p:sp>
        <p:nvSpPr>
          <p:cNvPr id="26" name="Shape 24"/>
          <p:cNvSpPr/>
          <p:nvPr/>
        </p:nvSpPr>
        <p:spPr>
          <a:xfrm>
            <a:off x="6217920" y="3063240"/>
            <a:ext cx="3108960" cy="347472"/>
          </a:xfrm>
          <a:prstGeom prst="roundRect">
            <a:avLst>
              <a:gd name="adj" fmla="val 21053"/>
            </a:avLst>
          </a:prstGeom>
          <a:solidFill>
            <a:srgbClr val="A78BFA">
              <a:alpha val="92000"/>
            </a:srgbClr>
          </a:solidFill>
          <a:ln w="12700">
            <a:solidFill>
              <a:srgbClr val="A78BFA">
                <a:alpha val="80000"/>
              </a:srgbClr>
            </a:solidFill>
            <a:prstDash val="solid"/>
          </a:ln>
        </p:spPr>
      </p:sp>
      <p:sp>
        <p:nvSpPr>
          <p:cNvPr id="27" name="Text 25"/>
          <p:cNvSpPr/>
          <p:nvPr/>
        </p:nvSpPr>
        <p:spPr>
          <a:xfrm>
            <a:off x="6309360" y="3150108"/>
            <a:ext cx="2926080" cy="155448"/>
          </a:xfrm>
          <a:prstGeom prst="rect">
            <a:avLst/>
          </a:prstGeom>
          <a:noFill/>
          <a:ln/>
        </p:spPr>
        <p:txBody>
          <a:bodyPr wrap="square" lIns="0" tIns="0" rIns="0" bIns="0" rtlCol="0" anchor="ctr"/>
          <a:lstStyle/>
          <a:p>
            <a:pPr algn="ctr" indent="0" marL="0">
              <a:buNone/>
            </a:pPr>
            <a:r>
              <a:rPr lang="en-US" sz="1050" b="1" dirty="0">
                <a:solidFill>
                  <a:srgbClr val="F7FAFC"/>
                </a:solidFill>
              </a:rPr>
              <a:t>Keep model forward pass unchanged</a:t>
            </a:r>
            <a:endParaRPr lang="en-US" sz="1050" dirty="0"/>
          </a:p>
        </p:txBody>
      </p:sp>
      <p:sp>
        <p:nvSpPr>
          <p:cNvPr id="28" name="Shape 26"/>
          <p:cNvSpPr/>
          <p:nvPr/>
        </p:nvSpPr>
        <p:spPr>
          <a:xfrm>
            <a:off x="9555480" y="3063240"/>
            <a:ext cx="1828800" cy="347472"/>
          </a:xfrm>
          <a:prstGeom prst="roundRect">
            <a:avLst>
              <a:gd name="adj" fmla="val 21053"/>
            </a:avLst>
          </a:prstGeom>
          <a:solidFill>
            <a:srgbClr val="F59E0B">
              <a:alpha val="92000"/>
            </a:srgbClr>
          </a:solidFill>
          <a:ln w="12700">
            <a:solidFill>
              <a:srgbClr val="F59E0B">
                <a:alpha val="80000"/>
              </a:srgbClr>
            </a:solidFill>
            <a:prstDash val="solid"/>
          </a:ln>
        </p:spPr>
      </p:sp>
      <p:sp>
        <p:nvSpPr>
          <p:cNvPr id="29" name="Text 27"/>
          <p:cNvSpPr/>
          <p:nvPr/>
        </p:nvSpPr>
        <p:spPr>
          <a:xfrm>
            <a:off x="9646920" y="3150108"/>
            <a:ext cx="1645920" cy="155448"/>
          </a:xfrm>
          <a:prstGeom prst="rect">
            <a:avLst/>
          </a:prstGeom>
          <a:noFill/>
          <a:ln/>
        </p:spPr>
        <p:txBody>
          <a:bodyPr wrap="square" lIns="0" tIns="0" rIns="0" bIns="0" rtlCol="0" anchor="ctr"/>
          <a:lstStyle/>
          <a:p>
            <a:pPr algn="ctr" indent="0" marL="0">
              <a:buNone/>
            </a:pPr>
            <a:r>
              <a:rPr lang="en-US" sz="1050" b="1" dirty="0">
                <a:solidFill>
                  <a:srgbClr val="F7FAFC"/>
                </a:solidFill>
              </a:rPr>
              <a:t>NMS target: O(N²)</a:t>
            </a:r>
            <a:endParaRPr lang="en-US" sz="1050" dirty="0"/>
          </a:p>
        </p:txBody>
      </p:sp>
      <p:sp>
        <p:nvSpPr>
          <p:cNvPr id="30" name="Text 28"/>
          <p:cNvSpPr/>
          <p:nvPr/>
        </p:nvSpPr>
        <p:spPr>
          <a:xfrm>
            <a:off x="1097280" y="4160520"/>
            <a:ext cx="9875520" cy="960120"/>
          </a:xfrm>
          <a:prstGeom prst="rect">
            <a:avLst/>
          </a:prstGeom>
          <a:noFill/>
          <a:ln/>
        </p:spPr>
        <p:txBody>
          <a:bodyPr wrap="square" lIns="381" tIns="381" rIns="381" bIns="381" rtlCol="0" anchor="t">
            <a:normAutofit/>
          </a:bodyPr>
          <a:lstStyle/>
          <a:p>
            <a:r>
              <a:rPr lang="en-US" sz="1500" dirty="0">
                <a:solidFill>
                  <a:srgbClr val="F7FAFC"/>
                </a:solidFill>
              </a:rPr>
              <a:t>Current status: CPU baseline + GPU V1 implemented</a:t>
            </a:r>
            <a:endParaRPr lang="en-US" sz="1500" dirty="0"/>
          </a:p>
          <a:p>
            <a:r>
              <a:rPr lang="en-US" sz="1500" dirty="0">
                <a:solidFill>
                  <a:srgbClr val="F7FAFC"/>
                </a:solidFill>
              </a:rPr>
              <a:t>GPU target: IoU matrix computation</a:t>
            </a:r>
            <a:endParaRPr lang="en-US" sz="1500" dirty="0"/>
          </a:p>
          <a:p>
            <a:r>
              <a:rPr lang="en-US" sz="1500" dirty="0">
                <a:solidFill>
                  <a:srgbClr val="F7FAFC"/>
                </a:solidFill>
              </a:rPr>
              <a:t>Reference: CPU greedy NMS and torchvision-style NMS behavior</a:t>
            </a:r>
            <a:endParaRPr lang="en-US" sz="1500" dirty="0"/>
          </a:p>
        </p:txBody>
      </p:sp>
      <p:sp>
        <p:nvSpPr>
          <p:cNvPr id="32" name="Text 29"/>
          <p:cNvSpPr/>
          <p:nvPr/>
        </p:nvSpPr>
        <p:spPr>
          <a:xfrm>
            <a:off x="11777472"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2"/>
          </a:solidFill>
          <a:ln w="12700">
            <a:solidFill>
              <a:srgbClr val="0B0F12">
                <a:alpha val="0"/>
              </a:srgbClr>
            </a:solidFill>
            <a:prstDash val="solid"/>
          </a:ln>
        </p:spPr>
      </p:sp>
      <p:sp>
        <p:nvSpPr>
          <p:cNvPr id="3" name="Shape 1"/>
          <p:cNvSpPr/>
          <p:nvPr/>
        </p:nvSpPr>
        <p:spPr>
          <a:xfrm>
            <a:off x="0" y="0"/>
            <a:ext cx="109728" cy="6858000"/>
          </a:xfrm>
          <a:prstGeom prst="rect">
            <a:avLst/>
          </a:prstGeom>
          <a:solidFill>
            <a:srgbClr val="76B900"/>
          </a:solidFill>
          <a:ln w="12700">
            <a:solidFill>
              <a:srgbClr val="76B900"/>
            </a:solidFill>
            <a:prstDash val="solid"/>
          </a:ln>
        </p:spPr>
      </p:sp>
      <p:sp>
        <p:nvSpPr>
          <p:cNvPr id="4" name="Shape 2"/>
          <p:cNvSpPr/>
          <p:nvPr/>
        </p:nvSpPr>
        <p:spPr>
          <a:xfrm>
            <a:off x="146304" y="0"/>
            <a:ext cx="12045391" cy="73152"/>
          </a:xfrm>
          <a:prstGeom prst="rect">
            <a:avLst/>
          </a:prstGeom>
          <a:solidFill>
            <a:srgbClr val="76B900">
              <a:alpha val="85000"/>
            </a:srgbClr>
          </a:solidFill>
          <a:ln w="12700">
            <a:solidFill>
              <a:srgbClr val="76B900">
                <a:alpha val="0"/>
              </a:srgbClr>
            </a:solidFill>
            <a:prstDash val="solid"/>
          </a:ln>
        </p:spPr>
      </p:sp>
      <p:sp>
        <p:nvSpPr>
          <p:cNvPr id="5" name="Text 3"/>
          <p:cNvSpPr/>
          <p:nvPr/>
        </p:nvSpPr>
        <p:spPr>
          <a:xfrm>
            <a:off x="438912" y="256032"/>
            <a:ext cx="9692640" cy="384048"/>
          </a:xfrm>
          <a:prstGeom prst="rect">
            <a:avLst/>
          </a:prstGeom>
          <a:noFill/>
          <a:ln/>
        </p:spPr>
        <p:txBody>
          <a:bodyPr wrap="square" lIns="0" tIns="0" rIns="0" bIns="0" rtlCol="0" anchor="ctr"/>
          <a:lstStyle/>
          <a:p>
            <a:pPr indent="0" marL="0">
              <a:buNone/>
            </a:pPr>
            <a:r>
              <a:rPr lang="en-US" sz="2500" b="1" dirty="0">
                <a:solidFill>
                  <a:srgbClr val="F7FAFC"/>
                </a:solidFill>
                <a:latin typeface="Aptos Display" pitchFamily="34" charset="0"/>
                <a:ea typeface="Aptos Display" pitchFamily="34" charset="-122"/>
                <a:cs typeface="Aptos Display" pitchFamily="34" charset="-120"/>
              </a:rPr>
              <a:t>CPU Greedy NMS</a:t>
            </a:r>
            <a:endParaRPr lang="en-US" sz="2500" dirty="0"/>
          </a:p>
        </p:txBody>
      </p:sp>
      <p:sp>
        <p:nvSpPr>
          <p:cNvPr id="6" name="Text 4"/>
          <p:cNvSpPr/>
          <p:nvPr/>
        </p:nvSpPr>
        <p:spPr>
          <a:xfrm>
            <a:off x="438912" y="658368"/>
            <a:ext cx="8686800" cy="256032"/>
          </a:xfrm>
          <a:prstGeom prst="rect">
            <a:avLst/>
          </a:prstGeom>
          <a:noFill/>
          <a:ln/>
        </p:spPr>
        <p:txBody>
          <a:bodyPr wrap="square" lIns="0" tIns="0" rIns="0" bIns="0" rtlCol="0" anchor="ctr"/>
          <a:lstStyle/>
          <a:p>
            <a:pPr indent="0" marL="0">
              <a:buNone/>
            </a:pPr>
            <a:r>
              <a:rPr lang="en-US" sz="1050" dirty="0">
                <a:solidFill>
                  <a:srgbClr val="B7C0C9"/>
                </a:solidFill>
              </a:rPr>
              <a:t>Baseline algorithm and complexity</a:t>
            </a:r>
            <a:endParaRPr lang="en-US" sz="1050" dirty="0"/>
          </a:p>
        </p:txBody>
      </p:sp>
      <p:sp>
        <p:nvSpPr>
          <p:cNvPr id="7" name="Text 5"/>
          <p:cNvSpPr/>
          <p:nvPr/>
        </p:nvSpPr>
        <p:spPr>
          <a:xfrm>
            <a:off x="9738360" y="6446520"/>
            <a:ext cx="1965960" cy="201168"/>
          </a:xfrm>
          <a:prstGeom prst="rect">
            <a:avLst/>
          </a:prstGeom>
          <a:noFill/>
          <a:ln/>
        </p:spPr>
        <p:txBody>
          <a:bodyPr wrap="square" lIns="0" tIns="0" rIns="0" bIns="0" rtlCol="0" anchor="ctr"/>
          <a:lstStyle/>
          <a:p>
            <a:pPr algn="r" indent="0" marL="0">
              <a:buNone/>
            </a:pPr>
            <a:r>
              <a:rPr lang="en-US" sz="850" dirty="0">
                <a:solidFill>
                  <a:srgbClr val="6B7280"/>
                </a:solidFill>
              </a:rPr>
              <a:t>CUDA NMS · Seminar 2</a:t>
            </a:r>
            <a:endParaRPr lang="en-US" sz="850" dirty="0"/>
          </a:p>
        </p:txBody>
      </p:sp>
      <p:sp>
        <p:nvSpPr>
          <p:cNvPr id="8" name="Shape 6"/>
          <p:cNvSpPr/>
          <p:nvPr/>
        </p:nvSpPr>
        <p:spPr>
          <a:xfrm>
            <a:off x="822960" y="1920240"/>
            <a:ext cx="1508760" cy="749808"/>
          </a:xfrm>
          <a:prstGeom prst="roundRect">
            <a:avLst>
              <a:gd name="adj" fmla="val 14634"/>
            </a:avLst>
          </a:prstGeom>
          <a:solidFill>
            <a:srgbClr val="16202A"/>
          </a:solidFill>
          <a:ln w="12700">
            <a:solidFill>
              <a:srgbClr val="334155"/>
            </a:solidFill>
            <a:prstDash val="solid"/>
          </a:ln>
        </p:spPr>
      </p:sp>
      <p:sp>
        <p:nvSpPr>
          <p:cNvPr id="9" name="Text 7"/>
          <p:cNvSpPr/>
          <p:nvPr/>
        </p:nvSpPr>
        <p:spPr>
          <a:xfrm>
            <a:off x="932688" y="2029968"/>
            <a:ext cx="1289304" cy="530352"/>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Sort by</a:t>
            </a:r>
            <a:endParaRPr lang="en-US" sz="1400" dirty="0"/>
          </a:p>
          <a:p>
            <a:pPr algn="ctr" indent="0" marL="0">
              <a:buNone/>
            </a:pPr>
            <a:r>
              <a:rPr lang="en-US" sz="1400" b="1" dirty="0">
                <a:solidFill>
                  <a:srgbClr val="F7FAFC"/>
                </a:solidFill>
              </a:rPr>
              <a:t>confidence</a:t>
            </a:r>
            <a:endParaRPr lang="en-US" sz="1400" dirty="0"/>
          </a:p>
        </p:txBody>
      </p:sp>
      <p:sp>
        <p:nvSpPr>
          <p:cNvPr id="10" name="Shape 8"/>
          <p:cNvSpPr/>
          <p:nvPr/>
        </p:nvSpPr>
        <p:spPr>
          <a:xfrm>
            <a:off x="2331720" y="2286000"/>
            <a:ext cx="521208" cy="0"/>
          </a:xfrm>
          <a:prstGeom prst="line">
            <a:avLst/>
          </a:prstGeom>
          <a:noFill/>
          <a:ln w="25400">
            <a:solidFill>
              <a:srgbClr val="76B900"/>
            </a:solidFill>
            <a:prstDash val="solid"/>
            <a:headEnd type="none"/>
            <a:tailEnd type="triangle"/>
          </a:ln>
        </p:spPr>
      </p:sp>
      <p:sp>
        <p:nvSpPr>
          <p:cNvPr id="11" name="Shape 9"/>
          <p:cNvSpPr/>
          <p:nvPr/>
        </p:nvSpPr>
        <p:spPr>
          <a:xfrm>
            <a:off x="2880360" y="1920240"/>
            <a:ext cx="1508760" cy="749808"/>
          </a:xfrm>
          <a:prstGeom prst="roundRect">
            <a:avLst>
              <a:gd name="adj" fmla="val 14634"/>
            </a:avLst>
          </a:prstGeom>
          <a:solidFill>
            <a:srgbClr val="76B900"/>
          </a:solidFill>
          <a:ln w="12700">
            <a:solidFill>
              <a:srgbClr val="334155"/>
            </a:solidFill>
            <a:prstDash val="solid"/>
          </a:ln>
        </p:spPr>
      </p:sp>
      <p:sp>
        <p:nvSpPr>
          <p:cNvPr id="12" name="Text 10"/>
          <p:cNvSpPr/>
          <p:nvPr/>
        </p:nvSpPr>
        <p:spPr>
          <a:xfrm>
            <a:off x="2990088" y="2029968"/>
            <a:ext cx="1289304" cy="530352"/>
          </a:xfrm>
          <a:prstGeom prst="rect">
            <a:avLst/>
          </a:prstGeom>
          <a:noFill/>
          <a:ln/>
        </p:spPr>
        <p:txBody>
          <a:bodyPr wrap="square" lIns="254" tIns="254" rIns="254" bIns="254" rtlCol="0" anchor="ctr">
            <a:normAutofit/>
          </a:bodyPr>
          <a:lstStyle/>
          <a:p>
            <a:pPr algn="ctr" indent="0" marL="0">
              <a:buNone/>
            </a:pPr>
            <a:r>
              <a:rPr lang="en-US" sz="1400" b="1" dirty="0">
                <a:solidFill>
                  <a:srgbClr val="0B0F12"/>
                </a:solidFill>
              </a:rPr>
              <a:t>Pick top</a:t>
            </a:r>
            <a:endParaRPr lang="en-US" sz="1400" dirty="0"/>
          </a:p>
          <a:p>
            <a:pPr algn="ctr" indent="0" marL="0">
              <a:buNone/>
            </a:pPr>
            <a:r>
              <a:rPr lang="en-US" sz="1400" b="1" dirty="0">
                <a:solidFill>
                  <a:srgbClr val="0B0F12"/>
                </a:solidFill>
              </a:rPr>
              <a:t>box</a:t>
            </a:r>
            <a:endParaRPr lang="en-US" sz="1400" dirty="0"/>
          </a:p>
        </p:txBody>
      </p:sp>
      <p:sp>
        <p:nvSpPr>
          <p:cNvPr id="13" name="Shape 11"/>
          <p:cNvSpPr/>
          <p:nvPr/>
        </p:nvSpPr>
        <p:spPr>
          <a:xfrm>
            <a:off x="4389120" y="2286000"/>
            <a:ext cx="521208" cy="0"/>
          </a:xfrm>
          <a:prstGeom prst="line">
            <a:avLst/>
          </a:prstGeom>
          <a:noFill/>
          <a:ln w="25400">
            <a:solidFill>
              <a:srgbClr val="76B900"/>
            </a:solidFill>
            <a:prstDash val="solid"/>
            <a:headEnd type="none"/>
            <a:tailEnd type="triangle"/>
          </a:ln>
        </p:spPr>
      </p:sp>
      <p:sp>
        <p:nvSpPr>
          <p:cNvPr id="14" name="Shape 12"/>
          <p:cNvSpPr/>
          <p:nvPr/>
        </p:nvSpPr>
        <p:spPr>
          <a:xfrm>
            <a:off x="4937760" y="1920240"/>
            <a:ext cx="1508760" cy="749808"/>
          </a:xfrm>
          <a:prstGeom prst="roundRect">
            <a:avLst>
              <a:gd name="adj" fmla="val 14634"/>
            </a:avLst>
          </a:prstGeom>
          <a:solidFill>
            <a:srgbClr val="16202A"/>
          </a:solidFill>
          <a:ln w="12700">
            <a:solidFill>
              <a:srgbClr val="334155"/>
            </a:solidFill>
            <a:prstDash val="solid"/>
          </a:ln>
        </p:spPr>
      </p:sp>
      <p:sp>
        <p:nvSpPr>
          <p:cNvPr id="15" name="Text 13"/>
          <p:cNvSpPr/>
          <p:nvPr/>
        </p:nvSpPr>
        <p:spPr>
          <a:xfrm>
            <a:off x="5047488" y="2029968"/>
            <a:ext cx="1289304" cy="530352"/>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Compute</a:t>
            </a:r>
            <a:endParaRPr lang="en-US" sz="1400" dirty="0"/>
          </a:p>
          <a:p>
            <a:pPr algn="ctr" indent="0" marL="0">
              <a:buNone/>
            </a:pPr>
            <a:r>
              <a:rPr lang="en-US" sz="1400" b="1" dirty="0">
                <a:solidFill>
                  <a:srgbClr val="F7FAFC"/>
                </a:solidFill>
              </a:rPr>
              <a:t>IoU</a:t>
            </a:r>
            <a:endParaRPr lang="en-US" sz="1400" dirty="0"/>
          </a:p>
        </p:txBody>
      </p:sp>
      <p:sp>
        <p:nvSpPr>
          <p:cNvPr id="16" name="Shape 14"/>
          <p:cNvSpPr/>
          <p:nvPr/>
        </p:nvSpPr>
        <p:spPr>
          <a:xfrm>
            <a:off x="6446520" y="2286000"/>
            <a:ext cx="521208" cy="0"/>
          </a:xfrm>
          <a:prstGeom prst="line">
            <a:avLst/>
          </a:prstGeom>
          <a:noFill/>
          <a:ln w="25400">
            <a:solidFill>
              <a:srgbClr val="76B900"/>
            </a:solidFill>
            <a:prstDash val="solid"/>
            <a:headEnd type="none"/>
            <a:tailEnd type="triangle"/>
          </a:ln>
        </p:spPr>
      </p:sp>
      <p:sp>
        <p:nvSpPr>
          <p:cNvPr id="17" name="Shape 15"/>
          <p:cNvSpPr/>
          <p:nvPr/>
        </p:nvSpPr>
        <p:spPr>
          <a:xfrm>
            <a:off x="6995160" y="1920240"/>
            <a:ext cx="1508760" cy="749808"/>
          </a:xfrm>
          <a:prstGeom prst="roundRect">
            <a:avLst>
              <a:gd name="adj" fmla="val 14634"/>
            </a:avLst>
          </a:prstGeom>
          <a:solidFill>
            <a:srgbClr val="16202A"/>
          </a:solidFill>
          <a:ln w="12700">
            <a:solidFill>
              <a:srgbClr val="334155"/>
            </a:solidFill>
            <a:prstDash val="solid"/>
          </a:ln>
        </p:spPr>
      </p:sp>
      <p:sp>
        <p:nvSpPr>
          <p:cNvPr id="18" name="Text 16"/>
          <p:cNvSpPr/>
          <p:nvPr/>
        </p:nvSpPr>
        <p:spPr>
          <a:xfrm>
            <a:off x="7104888" y="2029968"/>
            <a:ext cx="1289304" cy="530352"/>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Suppress</a:t>
            </a:r>
            <a:endParaRPr lang="en-US" sz="1400" dirty="0"/>
          </a:p>
          <a:p>
            <a:pPr algn="ctr" indent="0" marL="0">
              <a:buNone/>
            </a:pPr>
            <a:r>
              <a:rPr lang="en-US" sz="1400" b="1" dirty="0">
                <a:solidFill>
                  <a:srgbClr val="F7FAFC"/>
                </a:solidFill>
              </a:rPr>
              <a:t>overlap</a:t>
            </a:r>
            <a:endParaRPr lang="en-US" sz="1400" dirty="0"/>
          </a:p>
        </p:txBody>
      </p:sp>
      <p:sp>
        <p:nvSpPr>
          <p:cNvPr id="19" name="Shape 17"/>
          <p:cNvSpPr/>
          <p:nvPr/>
        </p:nvSpPr>
        <p:spPr>
          <a:xfrm>
            <a:off x="8503920" y="2286000"/>
            <a:ext cx="521208" cy="0"/>
          </a:xfrm>
          <a:prstGeom prst="line">
            <a:avLst/>
          </a:prstGeom>
          <a:noFill/>
          <a:ln w="25400">
            <a:solidFill>
              <a:srgbClr val="76B900"/>
            </a:solidFill>
            <a:prstDash val="solid"/>
            <a:headEnd type="none"/>
            <a:tailEnd type="triangle"/>
          </a:ln>
        </p:spPr>
      </p:sp>
      <p:sp>
        <p:nvSpPr>
          <p:cNvPr id="20" name="Shape 18"/>
          <p:cNvSpPr/>
          <p:nvPr/>
        </p:nvSpPr>
        <p:spPr>
          <a:xfrm>
            <a:off x="9052560" y="1920240"/>
            <a:ext cx="1508760" cy="749808"/>
          </a:xfrm>
          <a:prstGeom prst="roundRect">
            <a:avLst>
              <a:gd name="adj" fmla="val 14634"/>
            </a:avLst>
          </a:prstGeom>
          <a:solidFill>
            <a:srgbClr val="16202A"/>
          </a:solidFill>
          <a:ln w="12700">
            <a:solidFill>
              <a:srgbClr val="334155"/>
            </a:solidFill>
            <a:prstDash val="solid"/>
          </a:ln>
        </p:spPr>
      </p:sp>
      <p:sp>
        <p:nvSpPr>
          <p:cNvPr id="21" name="Text 19"/>
          <p:cNvSpPr/>
          <p:nvPr/>
        </p:nvSpPr>
        <p:spPr>
          <a:xfrm>
            <a:off x="9162288" y="2029968"/>
            <a:ext cx="1289304" cy="530352"/>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Repeat</a:t>
            </a:r>
            <a:endParaRPr lang="en-US" sz="1400" dirty="0"/>
          </a:p>
        </p:txBody>
      </p:sp>
      <p:sp>
        <p:nvSpPr>
          <p:cNvPr id="22" name="Shape 20"/>
          <p:cNvSpPr/>
          <p:nvPr/>
        </p:nvSpPr>
        <p:spPr>
          <a:xfrm>
            <a:off x="1234440" y="3840480"/>
            <a:ext cx="2926080" cy="731520"/>
          </a:xfrm>
          <a:prstGeom prst="roundRect">
            <a:avLst>
              <a:gd name="adj" fmla="val 12500"/>
            </a:avLst>
          </a:prstGeom>
          <a:solidFill>
            <a:srgbClr val="0F1720"/>
          </a:solidFill>
          <a:ln w="12700">
            <a:solidFill>
              <a:srgbClr val="76B900">
                <a:alpha val="70000"/>
              </a:srgbClr>
            </a:solidFill>
            <a:prstDash val="solid"/>
          </a:ln>
        </p:spPr>
      </p:sp>
      <p:sp>
        <p:nvSpPr>
          <p:cNvPr id="23" name="Text 21"/>
          <p:cNvSpPr/>
          <p:nvPr/>
        </p:nvSpPr>
        <p:spPr>
          <a:xfrm>
            <a:off x="1344168" y="3986784"/>
            <a:ext cx="2706624" cy="512064"/>
          </a:xfrm>
          <a:prstGeom prst="rect">
            <a:avLst/>
          </a:prstGeom>
          <a:noFill/>
          <a:ln/>
        </p:spPr>
        <p:txBody>
          <a:bodyPr wrap="square" lIns="0" tIns="0" rIns="0" bIns="0" rtlCol="0" anchor="ctr">
            <a:normAutofit/>
          </a:bodyPr>
          <a:lstStyle/>
          <a:p>
            <a:pPr algn="ctr" indent="0" marL="0">
              <a:buNone/>
            </a:pPr>
            <a:r>
              <a:rPr lang="en-US" sz="1700" b="1" dirty="0">
                <a:solidFill>
                  <a:srgbClr val="F7FAFC"/>
                </a:solidFill>
              </a:rPr>
              <a:t>Sorting: O(N log N)</a:t>
            </a:r>
            <a:endParaRPr lang="en-US" sz="1700" dirty="0"/>
          </a:p>
        </p:txBody>
      </p:sp>
      <p:sp>
        <p:nvSpPr>
          <p:cNvPr id="24" name="Shape 22"/>
          <p:cNvSpPr/>
          <p:nvPr/>
        </p:nvSpPr>
        <p:spPr>
          <a:xfrm>
            <a:off x="4572000" y="3840480"/>
            <a:ext cx="3383280" cy="731520"/>
          </a:xfrm>
          <a:prstGeom prst="roundRect">
            <a:avLst>
              <a:gd name="adj" fmla="val 12500"/>
            </a:avLst>
          </a:prstGeom>
          <a:solidFill>
            <a:srgbClr val="0F1720"/>
          </a:solidFill>
          <a:ln w="12700">
            <a:solidFill>
              <a:srgbClr val="76B900">
                <a:alpha val="70000"/>
              </a:srgbClr>
            </a:solidFill>
            <a:prstDash val="solid"/>
          </a:ln>
        </p:spPr>
      </p:sp>
      <p:sp>
        <p:nvSpPr>
          <p:cNvPr id="25" name="Text 23"/>
          <p:cNvSpPr/>
          <p:nvPr/>
        </p:nvSpPr>
        <p:spPr>
          <a:xfrm>
            <a:off x="4681728" y="3986784"/>
            <a:ext cx="3163824" cy="512064"/>
          </a:xfrm>
          <a:prstGeom prst="rect">
            <a:avLst/>
          </a:prstGeom>
          <a:noFill/>
          <a:ln/>
        </p:spPr>
        <p:txBody>
          <a:bodyPr wrap="square" lIns="0" tIns="0" rIns="0" bIns="0" rtlCol="0" anchor="ctr">
            <a:normAutofit/>
          </a:bodyPr>
          <a:lstStyle/>
          <a:p>
            <a:pPr algn="ctr" indent="0" marL="0">
              <a:buNone/>
            </a:pPr>
            <a:r>
              <a:rPr lang="en-US" sz="1700" b="1" dirty="0">
                <a:solidFill>
                  <a:srgbClr val="F7FAFC"/>
                </a:solidFill>
              </a:rPr>
              <a:t>Greedy suppression: ~ O(N²)</a:t>
            </a:r>
            <a:endParaRPr lang="en-US" sz="1700" dirty="0"/>
          </a:p>
        </p:txBody>
      </p:sp>
      <p:sp>
        <p:nvSpPr>
          <p:cNvPr id="26" name="Shape 24"/>
          <p:cNvSpPr/>
          <p:nvPr/>
        </p:nvSpPr>
        <p:spPr>
          <a:xfrm>
            <a:off x="8366760" y="3840480"/>
            <a:ext cx="2651760" cy="731520"/>
          </a:xfrm>
          <a:prstGeom prst="roundRect">
            <a:avLst>
              <a:gd name="adj" fmla="val 12500"/>
            </a:avLst>
          </a:prstGeom>
          <a:solidFill>
            <a:srgbClr val="0F1720"/>
          </a:solidFill>
          <a:ln w="12700">
            <a:solidFill>
              <a:srgbClr val="76B900">
                <a:alpha val="70000"/>
              </a:srgbClr>
            </a:solidFill>
            <a:prstDash val="solid"/>
          </a:ln>
        </p:spPr>
      </p:sp>
      <p:sp>
        <p:nvSpPr>
          <p:cNvPr id="27" name="Text 25"/>
          <p:cNvSpPr/>
          <p:nvPr/>
        </p:nvSpPr>
        <p:spPr>
          <a:xfrm>
            <a:off x="8476488" y="3986784"/>
            <a:ext cx="2432304" cy="512064"/>
          </a:xfrm>
          <a:prstGeom prst="rect">
            <a:avLst/>
          </a:prstGeom>
          <a:noFill/>
          <a:ln/>
        </p:spPr>
        <p:txBody>
          <a:bodyPr wrap="square" lIns="0" tIns="0" rIns="0" bIns="0" rtlCol="0" anchor="ctr">
            <a:normAutofit/>
          </a:bodyPr>
          <a:lstStyle/>
          <a:p>
            <a:pPr algn="ctr" indent="0" marL="0">
              <a:buNone/>
            </a:pPr>
            <a:r>
              <a:rPr lang="en-US" sz="1700" b="1" dirty="0">
                <a:solidFill>
                  <a:srgbClr val="F7FAFC"/>
                </a:solidFill>
              </a:rPr>
              <a:t>IoU repeated many times</a:t>
            </a:r>
            <a:endParaRPr lang="en-US" sz="1700" dirty="0"/>
          </a:p>
        </p:txBody>
      </p:sp>
      <p:sp>
        <p:nvSpPr>
          <p:cNvPr id="29" name="Text 26"/>
          <p:cNvSpPr/>
          <p:nvPr/>
        </p:nvSpPr>
        <p:spPr>
          <a:xfrm>
            <a:off x="11777472"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2"/>
          </a:solidFill>
          <a:ln w="12700">
            <a:solidFill>
              <a:srgbClr val="0B0F12">
                <a:alpha val="0"/>
              </a:srgbClr>
            </a:solidFill>
            <a:prstDash val="solid"/>
          </a:ln>
        </p:spPr>
      </p:sp>
      <p:sp>
        <p:nvSpPr>
          <p:cNvPr id="3" name="Shape 1"/>
          <p:cNvSpPr/>
          <p:nvPr/>
        </p:nvSpPr>
        <p:spPr>
          <a:xfrm>
            <a:off x="0" y="0"/>
            <a:ext cx="109728" cy="6858000"/>
          </a:xfrm>
          <a:prstGeom prst="rect">
            <a:avLst/>
          </a:prstGeom>
          <a:solidFill>
            <a:srgbClr val="76B900"/>
          </a:solidFill>
          <a:ln w="12700">
            <a:solidFill>
              <a:srgbClr val="76B900"/>
            </a:solidFill>
            <a:prstDash val="solid"/>
          </a:ln>
        </p:spPr>
      </p:sp>
      <p:sp>
        <p:nvSpPr>
          <p:cNvPr id="4" name="Shape 2"/>
          <p:cNvSpPr/>
          <p:nvPr/>
        </p:nvSpPr>
        <p:spPr>
          <a:xfrm>
            <a:off x="146304" y="0"/>
            <a:ext cx="12045391" cy="73152"/>
          </a:xfrm>
          <a:prstGeom prst="rect">
            <a:avLst/>
          </a:prstGeom>
          <a:solidFill>
            <a:srgbClr val="76B900">
              <a:alpha val="85000"/>
            </a:srgbClr>
          </a:solidFill>
          <a:ln w="12700">
            <a:solidFill>
              <a:srgbClr val="76B900">
                <a:alpha val="0"/>
              </a:srgbClr>
            </a:solidFill>
            <a:prstDash val="solid"/>
          </a:ln>
        </p:spPr>
      </p:sp>
      <p:sp>
        <p:nvSpPr>
          <p:cNvPr id="5" name="Text 3"/>
          <p:cNvSpPr/>
          <p:nvPr/>
        </p:nvSpPr>
        <p:spPr>
          <a:xfrm>
            <a:off x="438912" y="256032"/>
            <a:ext cx="9692640" cy="384048"/>
          </a:xfrm>
          <a:prstGeom prst="rect">
            <a:avLst/>
          </a:prstGeom>
          <a:noFill/>
          <a:ln/>
        </p:spPr>
        <p:txBody>
          <a:bodyPr wrap="square" lIns="0" tIns="0" rIns="0" bIns="0" rtlCol="0" anchor="ctr"/>
          <a:lstStyle/>
          <a:p>
            <a:pPr indent="0" marL="0">
              <a:buNone/>
            </a:pPr>
            <a:r>
              <a:rPr lang="en-US" sz="2500" b="1" dirty="0">
                <a:solidFill>
                  <a:srgbClr val="F7FAFC"/>
                </a:solidFill>
                <a:latin typeface="Aptos Display" pitchFamily="34" charset="0"/>
                <a:ea typeface="Aptos Display" pitchFamily="34" charset="-122"/>
                <a:cs typeface="Aptos Display" pitchFamily="34" charset="-120"/>
              </a:rPr>
              <a:t>CPU Baseline Architecture</a:t>
            </a:r>
            <a:endParaRPr lang="en-US" sz="2500" dirty="0"/>
          </a:p>
        </p:txBody>
      </p:sp>
      <p:sp>
        <p:nvSpPr>
          <p:cNvPr id="6" name="Text 4"/>
          <p:cNvSpPr/>
          <p:nvPr/>
        </p:nvSpPr>
        <p:spPr>
          <a:xfrm>
            <a:off x="438912" y="658368"/>
            <a:ext cx="8686800" cy="256032"/>
          </a:xfrm>
          <a:prstGeom prst="rect">
            <a:avLst/>
          </a:prstGeom>
          <a:noFill/>
          <a:ln/>
        </p:spPr>
        <p:txBody>
          <a:bodyPr wrap="square" lIns="0" tIns="0" rIns="0" bIns="0" rtlCol="0" anchor="ctr"/>
          <a:lstStyle/>
          <a:p>
            <a:pPr indent="0" marL="0">
              <a:buNone/>
            </a:pPr>
            <a:r>
              <a:rPr lang="en-US" sz="1050" dirty="0">
                <a:solidFill>
                  <a:srgbClr val="B7C0C9"/>
                </a:solidFill>
              </a:rPr>
              <a:t>End-to-end reference implementation</a:t>
            </a:r>
            <a:endParaRPr lang="en-US" sz="1050" dirty="0"/>
          </a:p>
        </p:txBody>
      </p:sp>
      <p:sp>
        <p:nvSpPr>
          <p:cNvPr id="7" name="Text 5"/>
          <p:cNvSpPr/>
          <p:nvPr/>
        </p:nvSpPr>
        <p:spPr>
          <a:xfrm>
            <a:off x="9738360" y="6446520"/>
            <a:ext cx="1965960" cy="201168"/>
          </a:xfrm>
          <a:prstGeom prst="rect">
            <a:avLst/>
          </a:prstGeom>
          <a:noFill/>
          <a:ln/>
        </p:spPr>
        <p:txBody>
          <a:bodyPr wrap="square" lIns="0" tIns="0" rIns="0" bIns="0" rtlCol="0" anchor="ctr"/>
          <a:lstStyle/>
          <a:p>
            <a:pPr algn="r" indent="0" marL="0">
              <a:buNone/>
            </a:pPr>
            <a:r>
              <a:rPr lang="en-US" sz="850" dirty="0">
                <a:solidFill>
                  <a:srgbClr val="6B7280"/>
                </a:solidFill>
              </a:rPr>
              <a:t>CUDA NMS · Seminar 2</a:t>
            </a:r>
            <a:endParaRPr lang="en-US" sz="850" dirty="0"/>
          </a:p>
        </p:txBody>
      </p:sp>
      <p:sp>
        <p:nvSpPr>
          <p:cNvPr id="8" name="Shape 6"/>
          <p:cNvSpPr/>
          <p:nvPr/>
        </p:nvSpPr>
        <p:spPr>
          <a:xfrm>
            <a:off x="731520" y="1600200"/>
            <a:ext cx="2011680" cy="804672"/>
          </a:xfrm>
          <a:prstGeom prst="roundRect">
            <a:avLst>
              <a:gd name="adj" fmla="val 13636"/>
            </a:avLst>
          </a:prstGeom>
          <a:solidFill>
            <a:srgbClr val="16202A"/>
          </a:solidFill>
          <a:ln w="12700">
            <a:solidFill>
              <a:srgbClr val="334155"/>
            </a:solidFill>
            <a:prstDash val="solid"/>
          </a:ln>
        </p:spPr>
      </p:sp>
      <p:sp>
        <p:nvSpPr>
          <p:cNvPr id="9" name="Text 7"/>
          <p:cNvSpPr/>
          <p:nvPr/>
        </p:nvSpPr>
        <p:spPr>
          <a:xfrm>
            <a:off x="841248" y="1709928"/>
            <a:ext cx="1792224" cy="585216"/>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Synthetic Boxes</a:t>
            </a:r>
            <a:endParaRPr lang="en-US" sz="1400" dirty="0"/>
          </a:p>
          <a:p>
            <a:pPr algn="ctr" indent="0" marL="0">
              <a:buNone/>
            </a:pPr>
            <a:r>
              <a:rPr lang="en-US" sz="1400" b="1" dirty="0">
                <a:solidFill>
                  <a:srgbClr val="F7FAFC"/>
                </a:solidFill>
              </a:rPr>
              <a:t>or YOLO Output</a:t>
            </a:r>
            <a:endParaRPr lang="en-US" sz="1400" dirty="0"/>
          </a:p>
        </p:txBody>
      </p:sp>
      <p:sp>
        <p:nvSpPr>
          <p:cNvPr id="10" name="Shape 8"/>
          <p:cNvSpPr/>
          <p:nvPr/>
        </p:nvSpPr>
        <p:spPr>
          <a:xfrm>
            <a:off x="3200400" y="1600200"/>
            <a:ext cx="1463040" cy="804672"/>
          </a:xfrm>
          <a:prstGeom prst="roundRect">
            <a:avLst>
              <a:gd name="adj" fmla="val 13636"/>
            </a:avLst>
          </a:prstGeom>
          <a:solidFill>
            <a:srgbClr val="16202A"/>
          </a:solidFill>
          <a:ln w="12700">
            <a:solidFill>
              <a:srgbClr val="334155"/>
            </a:solidFill>
            <a:prstDash val="solid"/>
          </a:ln>
        </p:spPr>
      </p:sp>
      <p:sp>
        <p:nvSpPr>
          <p:cNvPr id="11" name="Text 9"/>
          <p:cNvSpPr/>
          <p:nvPr/>
        </p:nvSpPr>
        <p:spPr>
          <a:xfrm>
            <a:off x="3310128" y="1709928"/>
            <a:ext cx="1243584" cy="585216"/>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NumPy</a:t>
            </a:r>
            <a:endParaRPr lang="en-US" sz="1400" dirty="0"/>
          </a:p>
          <a:p>
            <a:pPr algn="ctr" indent="0" marL="0">
              <a:buNone/>
            </a:pPr>
            <a:r>
              <a:rPr lang="en-US" sz="1400" b="1" dirty="0">
                <a:solidFill>
                  <a:srgbClr val="F7FAFC"/>
                </a:solidFill>
              </a:rPr>
              <a:t>Sort</a:t>
            </a:r>
            <a:endParaRPr lang="en-US" sz="1400" dirty="0"/>
          </a:p>
        </p:txBody>
      </p:sp>
      <p:sp>
        <p:nvSpPr>
          <p:cNvPr id="12" name="Shape 10"/>
          <p:cNvSpPr/>
          <p:nvPr/>
        </p:nvSpPr>
        <p:spPr>
          <a:xfrm>
            <a:off x="5349240" y="1536192"/>
            <a:ext cx="1874520" cy="932688"/>
          </a:xfrm>
          <a:prstGeom prst="roundRect">
            <a:avLst>
              <a:gd name="adj" fmla="val 11765"/>
            </a:avLst>
          </a:prstGeom>
          <a:solidFill>
            <a:srgbClr val="16202A"/>
          </a:solidFill>
          <a:ln w="12700">
            <a:solidFill>
              <a:srgbClr val="334155"/>
            </a:solidFill>
            <a:prstDash val="solid"/>
          </a:ln>
        </p:spPr>
      </p:sp>
      <p:sp>
        <p:nvSpPr>
          <p:cNvPr id="13" name="Text 11"/>
          <p:cNvSpPr/>
          <p:nvPr/>
        </p:nvSpPr>
        <p:spPr>
          <a:xfrm>
            <a:off x="5458968" y="1645920"/>
            <a:ext cx="1655064" cy="713232"/>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Python loop</a:t>
            </a:r>
            <a:endParaRPr lang="en-US" sz="1400" dirty="0"/>
          </a:p>
          <a:p>
            <a:pPr algn="ctr" indent="0" marL="0">
              <a:buNone/>
            </a:pPr>
            <a:r>
              <a:rPr lang="en-US" sz="1400" b="1" dirty="0">
                <a:solidFill>
                  <a:srgbClr val="F7FAFC"/>
                </a:solidFill>
              </a:rPr>
              <a:t>Greedy NMS</a:t>
            </a:r>
            <a:endParaRPr lang="en-US" sz="1400" dirty="0"/>
          </a:p>
        </p:txBody>
      </p:sp>
      <p:sp>
        <p:nvSpPr>
          <p:cNvPr id="14" name="Shape 12"/>
          <p:cNvSpPr/>
          <p:nvPr/>
        </p:nvSpPr>
        <p:spPr>
          <a:xfrm>
            <a:off x="7909560" y="1536192"/>
            <a:ext cx="2057400" cy="932688"/>
          </a:xfrm>
          <a:prstGeom prst="roundRect">
            <a:avLst>
              <a:gd name="adj" fmla="val 11765"/>
            </a:avLst>
          </a:prstGeom>
          <a:solidFill>
            <a:srgbClr val="16202A"/>
          </a:solidFill>
          <a:ln w="12700">
            <a:solidFill>
              <a:srgbClr val="334155"/>
            </a:solidFill>
            <a:prstDash val="solid"/>
          </a:ln>
        </p:spPr>
      </p:sp>
      <p:sp>
        <p:nvSpPr>
          <p:cNvPr id="15" name="Text 13"/>
          <p:cNvSpPr/>
          <p:nvPr/>
        </p:nvSpPr>
        <p:spPr>
          <a:xfrm>
            <a:off x="8019288" y="1645920"/>
            <a:ext cx="1837944" cy="713232"/>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IoU one-to-many</a:t>
            </a:r>
            <a:endParaRPr lang="en-US" sz="1400" dirty="0"/>
          </a:p>
          <a:p>
            <a:pPr algn="ctr" indent="0" marL="0">
              <a:buNone/>
            </a:pPr>
            <a:r>
              <a:rPr lang="en-US" sz="1400" b="1" dirty="0">
                <a:solidFill>
                  <a:srgbClr val="F7FAFC"/>
                </a:solidFill>
              </a:rPr>
              <a:t>NumPy vector ops</a:t>
            </a:r>
            <a:endParaRPr lang="en-US" sz="1400" dirty="0"/>
          </a:p>
        </p:txBody>
      </p:sp>
      <p:sp>
        <p:nvSpPr>
          <p:cNvPr id="16" name="Shape 14"/>
          <p:cNvSpPr/>
          <p:nvPr/>
        </p:nvSpPr>
        <p:spPr>
          <a:xfrm>
            <a:off x="10469880" y="1600200"/>
            <a:ext cx="1143000" cy="804672"/>
          </a:xfrm>
          <a:prstGeom prst="roundRect">
            <a:avLst>
              <a:gd name="adj" fmla="val 13636"/>
            </a:avLst>
          </a:prstGeom>
          <a:solidFill>
            <a:srgbClr val="16202A"/>
          </a:solidFill>
          <a:ln w="12700">
            <a:solidFill>
              <a:srgbClr val="334155"/>
            </a:solidFill>
            <a:prstDash val="solid"/>
          </a:ln>
        </p:spPr>
      </p:sp>
      <p:sp>
        <p:nvSpPr>
          <p:cNvPr id="17" name="Text 15"/>
          <p:cNvSpPr/>
          <p:nvPr/>
        </p:nvSpPr>
        <p:spPr>
          <a:xfrm>
            <a:off x="10579608" y="1709928"/>
            <a:ext cx="923544" cy="585216"/>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Keep indices</a:t>
            </a:r>
            <a:endParaRPr lang="en-US" sz="1400" dirty="0"/>
          </a:p>
        </p:txBody>
      </p:sp>
      <p:sp>
        <p:nvSpPr>
          <p:cNvPr id="18" name="Shape 16"/>
          <p:cNvSpPr/>
          <p:nvPr/>
        </p:nvSpPr>
        <p:spPr>
          <a:xfrm>
            <a:off x="2743200" y="2011680"/>
            <a:ext cx="457200" cy="0"/>
          </a:xfrm>
          <a:prstGeom prst="line">
            <a:avLst/>
          </a:prstGeom>
          <a:noFill/>
          <a:ln w="25400">
            <a:solidFill>
              <a:srgbClr val="76B900"/>
            </a:solidFill>
            <a:prstDash val="solid"/>
            <a:headEnd type="none"/>
            <a:tailEnd type="triangle"/>
          </a:ln>
        </p:spPr>
      </p:sp>
      <p:sp>
        <p:nvSpPr>
          <p:cNvPr id="19" name="Shape 17"/>
          <p:cNvSpPr/>
          <p:nvPr/>
        </p:nvSpPr>
        <p:spPr>
          <a:xfrm>
            <a:off x="4663440" y="2011680"/>
            <a:ext cx="685800" cy="0"/>
          </a:xfrm>
          <a:prstGeom prst="line">
            <a:avLst/>
          </a:prstGeom>
          <a:noFill/>
          <a:ln w="25400">
            <a:solidFill>
              <a:srgbClr val="76B900"/>
            </a:solidFill>
            <a:prstDash val="solid"/>
            <a:headEnd type="none"/>
            <a:tailEnd type="triangle"/>
          </a:ln>
        </p:spPr>
      </p:sp>
      <p:sp>
        <p:nvSpPr>
          <p:cNvPr id="20" name="Shape 18"/>
          <p:cNvSpPr/>
          <p:nvPr/>
        </p:nvSpPr>
        <p:spPr>
          <a:xfrm>
            <a:off x="7223760" y="2011680"/>
            <a:ext cx="685800" cy="0"/>
          </a:xfrm>
          <a:prstGeom prst="line">
            <a:avLst/>
          </a:prstGeom>
          <a:noFill/>
          <a:ln w="25400">
            <a:solidFill>
              <a:srgbClr val="76B900"/>
            </a:solidFill>
            <a:prstDash val="solid"/>
            <a:headEnd type="none"/>
            <a:tailEnd type="triangle"/>
          </a:ln>
        </p:spPr>
      </p:sp>
      <p:sp>
        <p:nvSpPr>
          <p:cNvPr id="21" name="Shape 19"/>
          <p:cNvSpPr/>
          <p:nvPr/>
        </p:nvSpPr>
        <p:spPr>
          <a:xfrm>
            <a:off x="9966960" y="2011680"/>
            <a:ext cx="502920" cy="0"/>
          </a:xfrm>
          <a:prstGeom prst="line">
            <a:avLst/>
          </a:prstGeom>
          <a:noFill/>
          <a:ln w="25400">
            <a:solidFill>
              <a:srgbClr val="76B900"/>
            </a:solidFill>
            <a:prstDash val="solid"/>
            <a:headEnd type="none"/>
            <a:tailEnd type="triangle"/>
          </a:ln>
        </p:spPr>
      </p:sp>
      <p:sp>
        <p:nvSpPr>
          <p:cNvPr id="22" name="Text 20"/>
          <p:cNvSpPr/>
          <p:nvPr/>
        </p:nvSpPr>
        <p:spPr>
          <a:xfrm>
            <a:off x="914400" y="3657600"/>
            <a:ext cx="1828800" cy="201168"/>
          </a:xfrm>
          <a:prstGeom prst="rect">
            <a:avLst/>
          </a:prstGeom>
          <a:noFill/>
          <a:ln/>
        </p:spPr>
        <p:txBody>
          <a:bodyPr wrap="square" lIns="0" tIns="0" rIns="0" bIns="0" rtlCol="0" anchor="ctr"/>
          <a:lstStyle/>
          <a:p>
            <a:pPr indent="0" marL="0">
              <a:buNone/>
            </a:pPr>
            <a:r>
              <a:rPr lang="en-US" sz="950" b="1" dirty="0">
                <a:solidFill>
                  <a:srgbClr val="76B900"/>
                </a:solidFill>
              </a:rPr>
              <a:t>WHY THIS MATTERS</a:t>
            </a:r>
            <a:endParaRPr lang="en-US" sz="950" dirty="0"/>
          </a:p>
        </p:txBody>
      </p:sp>
      <p:sp>
        <p:nvSpPr>
          <p:cNvPr id="23" name="Text 21"/>
          <p:cNvSpPr/>
          <p:nvPr/>
        </p:nvSpPr>
        <p:spPr>
          <a:xfrm>
            <a:off x="914400" y="3977640"/>
            <a:ext cx="9875520" cy="1188720"/>
          </a:xfrm>
          <a:prstGeom prst="rect">
            <a:avLst/>
          </a:prstGeom>
          <a:noFill/>
          <a:ln/>
        </p:spPr>
        <p:txBody>
          <a:bodyPr wrap="square" lIns="381" tIns="381" rIns="381" bIns="381" rtlCol="0" anchor="t">
            <a:normAutofit/>
          </a:bodyPr>
          <a:lstStyle/>
          <a:p>
            <a:r>
              <a:rPr lang="en-US" sz="1600" dirty="0">
                <a:solidFill>
                  <a:srgbClr val="F7FAFC"/>
                </a:solidFill>
              </a:rPr>
              <a:t>CPU baseline is the correctness reference.</a:t>
            </a:r>
            <a:endParaRPr lang="en-US" sz="1600" dirty="0"/>
          </a:p>
          <a:p>
            <a:r>
              <a:rPr lang="en-US" sz="1600" dirty="0">
                <a:solidFill>
                  <a:srgbClr val="F7FAFC"/>
                </a:solidFill>
              </a:rPr>
              <a:t>Profiling this version tells us where GPU acceleration should be applied.</a:t>
            </a:r>
            <a:endParaRPr lang="en-US" sz="1600" dirty="0"/>
          </a:p>
          <a:p>
            <a:r>
              <a:rPr lang="en-US" sz="1600" dirty="0">
                <a:solidFill>
                  <a:srgbClr val="F7FAFC"/>
                </a:solidFill>
              </a:rPr>
              <a:t>All later GPU versions must match this output within tolerance.</a:t>
            </a:r>
            <a:endParaRPr lang="en-US" sz="1600" dirty="0"/>
          </a:p>
        </p:txBody>
      </p:sp>
      <p:sp>
        <p:nvSpPr>
          <p:cNvPr id="25" name="Text 22"/>
          <p:cNvSpPr/>
          <p:nvPr/>
        </p:nvSpPr>
        <p:spPr>
          <a:xfrm>
            <a:off x="11777472"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2"/>
          </a:solidFill>
          <a:ln w="12700">
            <a:solidFill>
              <a:srgbClr val="0B0F12">
                <a:alpha val="0"/>
              </a:srgbClr>
            </a:solidFill>
            <a:prstDash val="solid"/>
          </a:ln>
        </p:spPr>
      </p:sp>
      <p:sp>
        <p:nvSpPr>
          <p:cNvPr id="3" name="Shape 1"/>
          <p:cNvSpPr/>
          <p:nvPr/>
        </p:nvSpPr>
        <p:spPr>
          <a:xfrm>
            <a:off x="0" y="0"/>
            <a:ext cx="109728" cy="6858000"/>
          </a:xfrm>
          <a:prstGeom prst="rect">
            <a:avLst/>
          </a:prstGeom>
          <a:solidFill>
            <a:srgbClr val="76B900"/>
          </a:solidFill>
          <a:ln w="12700">
            <a:solidFill>
              <a:srgbClr val="76B900"/>
            </a:solidFill>
            <a:prstDash val="solid"/>
          </a:ln>
        </p:spPr>
      </p:sp>
      <p:sp>
        <p:nvSpPr>
          <p:cNvPr id="4" name="Shape 2"/>
          <p:cNvSpPr/>
          <p:nvPr/>
        </p:nvSpPr>
        <p:spPr>
          <a:xfrm>
            <a:off x="146304" y="0"/>
            <a:ext cx="12045391" cy="73152"/>
          </a:xfrm>
          <a:prstGeom prst="rect">
            <a:avLst/>
          </a:prstGeom>
          <a:solidFill>
            <a:srgbClr val="76B900">
              <a:alpha val="85000"/>
            </a:srgbClr>
          </a:solidFill>
          <a:ln w="12700">
            <a:solidFill>
              <a:srgbClr val="76B900">
                <a:alpha val="0"/>
              </a:srgbClr>
            </a:solidFill>
            <a:prstDash val="solid"/>
          </a:ln>
        </p:spPr>
      </p:sp>
      <p:sp>
        <p:nvSpPr>
          <p:cNvPr id="5" name="Text 3"/>
          <p:cNvSpPr/>
          <p:nvPr/>
        </p:nvSpPr>
        <p:spPr>
          <a:xfrm>
            <a:off x="438912" y="256032"/>
            <a:ext cx="9692640" cy="384048"/>
          </a:xfrm>
          <a:prstGeom prst="rect">
            <a:avLst/>
          </a:prstGeom>
          <a:noFill/>
          <a:ln/>
        </p:spPr>
        <p:txBody>
          <a:bodyPr wrap="square" lIns="0" tIns="0" rIns="0" bIns="0" rtlCol="0" anchor="ctr"/>
          <a:lstStyle/>
          <a:p>
            <a:pPr indent="0" marL="0">
              <a:buNone/>
            </a:pPr>
            <a:r>
              <a:rPr lang="en-US" sz="2500" b="1" dirty="0">
                <a:solidFill>
                  <a:srgbClr val="F7FAFC"/>
                </a:solidFill>
                <a:latin typeface="Aptos Display" pitchFamily="34" charset="0"/>
                <a:ea typeface="Aptos Display" pitchFamily="34" charset="-122"/>
                <a:cs typeface="Aptos Display" pitchFamily="34" charset="-120"/>
              </a:rPr>
              <a:t>CPU Profiling Result</a:t>
            </a:r>
            <a:endParaRPr lang="en-US" sz="2500" dirty="0"/>
          </a:p>
        </p:txBody>
      </p:sp>
      <p:sp>
        <p:nvSpPr>
          <p:cNvPr id="6" name="Text 4"/>
          <p:cNvSpPr/>
          <p:nvPr/>
        </p:nvSpPr>
        <p:spPr>
          <a:xfrm>
            <a:off x="438912" y="658368"/>
            <a:ext cx="8686800" cy="256032"/>
          </a:xfrm>
          <a:prstGeom prst="rect">
            <a:avLst/>
          </a:prstGeom>
          <a:noFill/>
          <a:ln/>
        </p:spPr>
        <p:txBody>
          <a:bodyPr wrap="square" lIns="0" tIns="0" rIns="0" bIns="0" rtlCol="0" anchor="ctr"/>
          <a:lstStyle/>
          <a:p>
            <a:pPr indent="0" marL="0">
              <a:buNone/>
            </a:pPr>
            <a:r>
              <a:rPr lang="en-US" sz="1050" dirty="0">
                <a:solidFill>
                  <a:srgbClr val="B7C0C9"/>
                </a:solidFill>
              </a:rPr>
              <a:t>Ordered by cumulative time</a:t>
            </a:r>
            <a:endParaRPr lang="en-US" sz="1050" dirty="0"/>
          </a:p>
        </p:txBody>
      </p:sp>
      <p:sp>
        <p:nvSpPr>
          <p:cNvPr id="7" name="Text 5"/>
          <p:cNvSpPr/>
          <p:nvPr/>
        </p:nvSpPr>
        <p:spPr>
          <a:xfrm>
            <a:off x="9738360" y="6446520"/>
            <a:ext cx="1965960" cy="201168"/>
          </a:xfrm>
          <a:prstGeom prst="rect">
            <a:avLst/>
          </a:prstGeom>
          <a:noFill/>
          <a:ln/>
        </p:spPr>
        <p:txBody>
          <a:bodyPr wrap="square" lIns="0" tIns="0" rIns="0" bIns="0" rtlCol="0" anchor="ctr"/>
          <a:lstStyle/>
          <a:p>
            <a:pPr algn="r" indent="0" marL="0">
              <a:buNone/>
            </a:pPr>
            <a:r>
              <a:rPr lang="en-US" sz="850" dirty="0">
                <a:solidFill>
                  <a:srgbClr val="6B7280"/>
                </a:solidFill>
              </a:rPr>
              <a:t>CUDA NMS · Seminar 2</a:t>
            </a:r>
            <a:endParaRPr lang="en-US" sz="850" dirty="0"/>
          </a:p>
        </p:txBody>
      </p:sp>
      <p:sp>
        <p:nvSpPr>
          <p:cNvPr id="8" name="Shape 6"/>
          <p:cNvSpPr/>
          <p:nvPr/>
        </p:nvSpPr>
        <p:spPr>
          <a:xfrm>
            <a:off x="731520" y="1143000"/>
            <a:ext cx="1965960" cy="822960"/>
          </a:xfrm>
          <a:prstGeom prst="roundRect">
            <a:avLst>
              <a:gd name="adj" fmla="val 13333"/>
            </a:avLst>
          </a:prstGeom>
          <a:solidFill>
            <a:srgbClr val="16202A"/>
          </a:solidFill>
          <a:ln w="12700">
            <a:solidFill>
              <a:srgbClr val="334155">
                <a:alpha val="80000"/>
              </a:srgbClr>
            </a:solidFill>
            <a:prstDash val="solid"/>
          </a:ln>
        </p:spPr>
      </p:sp>
      <p:sp>
        <p:nvSpPr>
          <p:cNvPr id="9" name="Text 7"/>
          <p:cNvSpPr/>
          <p:nvPr/>
        </p:nvSpPr>
        <p:spPr>
          <a:xfrm>
            <a:off x="822960" y="1289304"/>
            <a:ext cx="1783080" cy="256032"/>
          </a:xfrm>
          <a:prstGeom prst="rect">
            <a:avLst/>
          </a:prstGeom>
          <a:noFill/>
          <a:ln/>
        </p:spPr>
        <p:txBody>
          <a:bodyPr wrap="square" lIns="0" tIns="0" rIns="0" bIns="0" rtlCol="0" anchor="ctr"/>
          <a:lstStyle/>
          <a:p>
            <a:pPr algn="ctr" indent="0" marL="0">
              <a:buNone/>
            </a:pPr>
            <a:r>
              <a:rPr lang="en-US" sz="2100" b="1" dirty="0">
                <a:solidFill>
                  <a:srgbClr val="76B900"/>
                </a:solidFill>
              </a:rPr>
              <a:t>18,313</a:t>
            </a:r>
            <a:endParaRPr lang="en-US" sz="2100" dirty="0"/>
          </a:p>
        </p:txBody>
      </p:sp>
      <p:sp>
        <p:nvSpPr>
          <p:cNvPr id="10" name="Text 8"/>
          <p:cNvSpPr/>
          <p:nvPr/>
        </p:nvSpPr>
        <p:spPr>
          <a:xfrm>
            <a:off x="822960" y="1636776"/>
            <a:ext cx="1783080" cy="164592"/>
          </a:xfrm>
          <a:prstGeom prst="rect">
            <a:avLst/>
          </a:prstGeom>
          <a:noFill/>
          <a:ln/>
        </p:spPr>
        <p:txBody>
          <a:bodyPr wrap="square" lIns="0" tIns="0" rIns="0" bIns="0" rtlCol="0" anchor="ctr"/>
          <a:lstStyle/>
          <a:p>
            <a:pPr algn="ctr" indent="0" marL="0">
              <a:buNone/>
            </a:pPr>
            <a:r>
              <a:rPr lang="en-US" sz="950" dirty="0">
                <a:solidFill>
                  <a:srgbClr val="B7C0C9"/>
                </a:solidFill>
              </a:rPr>
              <a:t>function calls</a:t>
            </a:r>
            <a:endParaRPr lang="en-US" sz="950" dirty="0"/>
          </a:p>
        </p:txBody>
      </p:sp>
      <p:sp>
        <p:nvSpPr>
          <p:cNvPr id="11" name="Shape 9"/>
          <p:cNvSpPr/>
          <p:nvPr/>
        </p:nvSpPr>
        <p:spPr>
          <a:xfrm>
            <a:off x="2926080" y="1143000"/>
            <a:ext cx="1828800" cy="822960"/>
          </a:xfrm>
          <a:prstGeom prst="roundRect">
            <a:avLst>
              <a:gd name="adj" fmla="val 13333"/>
            </a:avLst>
          </a:prstGeom>
          <a:solidFill>
            <a:srgbClr val="16202A"/>
          </a:solidFill>
          <a:ln w="12700">
            <a:solidFill>
              <a:srgbClr val="334155">
                <a:alpha val="80000"/>
              </a:srgbClr>
            </a:solidFill>
            <a:prstDash val="solid"/>
          </a:ln>
        </p:spPr>
      </p:sp>
      <p:sp>
        <p:nvSpPr>
          <p:cNvPr id="12" name="Text 10"/>
          <p:cNvSpPr/>
          <p:nvPr/>
        </p:nvSpPr>
        <p:spPr>
          <a:xfrm>
            <a:off x="3017520" y="1289304"/>
            <a:ext cx="1645920" cy="256032"/>
          </a:xfrm>
          <a:prstGeom prst="rect">
            <a:avLst/>
          </a:prstGeom>
          <a:noFill/>
          <a:ln/>
        </p:spPr>
        <p:txBody>
          <a:bodyPr wrap="square" lIns="0" tIns="0" rIns="0" bIns="0" rtlCol="0" anchor="ctr"/>
          <a:lstStyle/>
          <a:p>
            <a:pPr algn="ctr" indent="0" marL="0">
              <a:buNone/>
            </a:pPr>
            <a:r>
              <a:rPr lang="en-US" sz="2100" b="1" dirty="0">
                <a:solidFill>
                  <a:srgbClr val="76B900"/>
                </a:solidFill>
              </a:rPr>
              <a:t>0.289s</a:t>
            </a:r>
            <a:endParaRPr lang="en-US" sz="2100" dirty="0"/>
          </a:p>
        </p:txBody>
      </p:sp>
      <p:sp>
        <p:nvSpPr>
          <p:cNvPr id="13" name="Text 11"/>
          <p:cNvSpPr/>
          <p:nvPr/>
        </p:nvSpPr>
        <p:spPr>
          <a:xfrm>
            <a:off x="3017520" y="1636776"/>
            <a:ext cx="1645920" cy="164592"/>
          </a:xfrm>
          <a:prstGeom prst="rect">
            <a:avLst/>
          </a:prstGeom>
          <a:noFill/>
          <a:ln/>
        </p:spPr>
        <p:txBody>
          <a:bodyPr wrap="square" lIns="0" tIns="0" rIns="0" bIns="0" rtlCol="0" anchor="ctr"/>
          <a:lstStyle/>
          <a:p>
            <a:pPr algn="ctr" indent="0" marL="0">
              <a:buNone/>
            </a:pPr>
            <a:r>
              <a:rPr lang="en-US" sz="950" dirty="0">
                <a:solidFill>
                  <a:srgbClr val="B7C0C9"/>
                </a:solidFill>
              </a:rPr>
              <a:t>total runtime</a:t>
            </a:r>
            <a:endParaRPr lang="en-US" sz="950" dirty="0"/>
          </a:p>
        </p:txBody>
      </p:sp>
      <p:sp>
        <p:nvSpPr>
          <p:cNvPr id="14" name="Shape 12"/>
          <p:cNvSpPr/>
          <p:nvPr/>
        </p:nvSpPr>
        <p:spPr>
          <a:xfrm>
            <a:off x="4983480" y="1143000"/>
            <a:ext cx="1828800" cy="822960"/>
          </a:xfrm>
          <a:prstGeom prst="roundRect">
            <a:avLst>
              <a:gd name="adj" fmla="val 13333"/>
            </a:avLst>
          </a:prstGeom>
          <a:solidFill>
            <a:srgbClr val="16202A"/>
          </a:solidFill>
          <a:ln w="12700">
            <a:solidFill>
              <a:srgbClr val="334155">
                <a:alpha val="80000"/>
              </a:srgbClr>
            </a:solidFill>
            <a:prstDash val="solid"/>
          </a:ln>
        </p:spPr>
      </p:sp>
      <p:sp>
        <p:nvSpPr>
          <p:cNvPr id="15" name="Text 13"/>
          <p:cNvSpPr/>
          <p:nvPr/>
        </p:nvSpPr>
        <p:spPr>
          <a:xfrm>
            <a:off x="5074920" y="1289304"/>
            <a:ext cx="1645920" cy="256032"/>
          </a:xfrm>
          <a:prstGeom prst="rect">
            <a:avLst/>
          </a:prstGeom>
          <a:noFill/>
          <a:ln/>
        </p:spPr>
        <p:txBody>
          <a:bodyPr wrap="square" lIns="0" tIns="0" rIns="0" bIns="0" rtlCol="0" anchor="ctr"/>
          <a:lstStyle/>
          <a:p>
            <a:pPr algn="ctr" indent="0" marL="0">
              <a:buNone/>
            </a:pPr>
            <a:r>
              <a:rPr lang="en-US" sz="2100" b="1" dirty="0">
                <a:solidFill>
                  <a:srgbClr val="F59E0B"/>
                </a:solidFill>
              </a:rPr>
              <a:t>6,100</a:t>
            </a:r>
            <a:endParaRPr lang="en-US" sz="2100" dirty="0"/>
          </a:p>
        </p:txBody>
      </p:sp>
      <p:sp>
        <p:nvSpPr>
          <p:cNvPr id="16" name="Text 14"/>
          <p:cNvSpPr/>
          <p:nvPr/>
        </p:nvSpPr>
        <p:spPr>
          <a:xfrm>
            <a:off x="5074920" y="1636776"/>
            <a:ext cx="1645920" cy="164592"/>
          </a:xfrm>
          <a:prstGeom prst="rect">
            <a:avLst/>
          </a:prstGeom>
          <a:noFill/>
          <a:ln/>
        </p:spPr>
        <p:txBody>
          <a:bodyPr wrap="square" lIns="0" tIns="0" rIns="0" bIns="0" rtlCol="0" anchor="ctr"/>
          <a:lstStyle/>
          <a:p>
            <a:pPr algn="ctr" indent="0" marL="0">
              <a:buNone/>
            </a:pPr>
            <a:r>
              <a:rPr lang="en-US" sz="950" dirty="0">
                <a:solidFill>
                  <a:srgbClr val="B7C0C9"/>
                </a:solidFill>
              </a:rPr>
              <a:t>IoU calls</a:t>
            </a:r>
            <a:endParaRPr lang="en-US" sz="950" dirty="0"/>
          </a:p>
        </p:txBody>
      </p:sp>
      <p:sp>
        <p:nvSpPr>
          <p:cNvPr id="17" name="Shape 15"/>
          <p:cNvSpPr/>
          <p:nvPr/>
        </p:nvSpPr>
        <p:spPr>
          <a:xfrm>
            <a:off x="7040880" y="1143000"/>
            <a:ext cx="1828800" cy="822960"/>
          </a:xfrm>
          <a:prstGeom prst="roundRect">
            <a:avLst>
              <a:gd name="adj" fmla="val 13333"/>
            </a:avLst>
          </a:prstGeom>
          <a:solidFill>
            <a:srgbClr val="16202A"/>
          </a:solidFill>
          <a:ln w="12700">
            <a:solidFill>
              <a:srgbClr val="334155">
                <a:alpha val="80000"/>
              </a:srgbClr>
            </a:solidFill>
            <a:prstDash val="solid"/>
          </a:ln>
        </p:spPr>
      </p:sp>
      <p:sp>
        <p:nvSpPr>
          <p:cNvPr id="18" name="Text 16"/>
          <p:cNvSpPr/>
          <p:nvPr/>
        </p:nvSpPr>
        <p:spPr>
          <a:xfrm>
            <a:off x="7132320" y="1289304"/>
            <a:ext cx="1645920" cy="256032"/>
          </a:xfrm>
          <a:prstGeom prst="rect">
            <a:avLst/>
          </a:prstGeom>
          <a:noFill/>
          <a:ln/>
        </p:spPr>
        <p:txBody>
          <a:bodyPr wrap="square" lIns="0" tIns="0" rIns="0" bIns="0" rtlCol="0" anchor="ctr"/>
          <a:lstStyle/>
          <a:p>
            <a:pPr algn="ctr" indent="0" marL="0">
              <a:buNone/>
            </a:pPr>
            <a:r>
              <a:rPr lang="en-US" sz="2100" b="1" dirty="0">
                <a:solidFill>
                  <a:srgbClr val="F59E0B"/>
                </a:solidFill>
              </a:rPr>
              <a:t>≈34%</a:t>
            </a:r>
            <a:endParaRPr lang="en-US" sz="2100" dirty="0"/>
          </a:p>
        </p:txBody>
      </p:sp>
      <p:sp>
        <p:nvSpPr>
          <p:cNvPr id="19" name="Text 17"/>
          <p:cNvSpPr/>
          <p:nvPr/>
        </p:nvSpPr>
        <p:spPr>
          <a:xfrm>
            <a:off x="7132320" y="1636776"/>
            <a:ext cx="1645920" cy="164592"/>
          </a:xfrm>
          <a:prstGeom prst="rect">
            <a:avLst/>
          </a:prstGeom>
          <a:noFill/>
          <a:ln/>
        </p:spPr>
        <p:txBody>
          <a:bodyPr wrap="square" lIns="0" tIns="0" rIns="0" bIns="0" rtlCol="0" anchor="ctr"/>
          <a:lstStyle/>
          <a:p>
            <a:pPr algn="ctr" indent="0" marL="0">
              <a:buNone/>
            </a:pPr>
            <a:r>
              <a:rPr lang="en-US" sz="950" dirty="0">
                <a:solidFill>
                  <a:srgbClr val="B7C0C9"/>
                </a:solidFill>
              </a:rPr>
              <a:t>IoU share</a:t>
            </a:r>
            <a:endParaRPr lang="en-US" sz="950" dirty="0"/>
          </a:p>
        </p:txBody>
      </p:sp>
      <p:sp>
        <p:nvSpPr>
          <p:cNvPr id="20" name="Shape 18"/>
          <p:cNvSpPr/>
          <p:nvPr/>
        </p:nvSpPr>
        <p:spPr>
          <a:xfrm>
            <a:off x="9098280" y="1143000"/>
            <a:ext cx="1920240" cy="822960"/>
          </a:xfrm>
          <a:prstGeom prst="roundRect">
            <a:avLst>
              <a:gd name="adj" fmla="val 13333"/>
            </a:avLst>
          </a:prstGeom>
          <a:solidFill>
            <a:srgbClr val="16202A"/>
          </a:solidFill>
          <a:ln w="12700">
            <a:solidFill>
              <a:srgbClr val="334155">
                <a:alpha val="80000"/>
              </a:srgbClr>
            </a:solidFill>
            <a:prstDash val="solid"/>
          </a:ln>
        </p:spPr>
      </p:sp>
      <p:sp>
        <p:nvSpPr>
          <p:cNvPr id="21" name="Text 19"/>
          <p:cNvSpPr/>
          <p:nvPr/>
        </p:nvSpPr>
        <p:spPr>
          <a:xfrm>
            <a:off x="9189720" y="1289304"/>
            <a:ext cx="1737360" cy="256032"/>
          </a:xfrm>
          <a:prstGeom prst="rect">
            <a:avLst/>
          </a:prstGeom>
          <a:noFill/>
          <a:ln/>
        </p:spPr>
        <p:txBody>
          <a:bodyPr wrap="square" lIns="0" tIns="0" rIns="0" bIns="0" rtlCol="0" anchor="ctr"/>
          <a:lstStyle/>
          <a:p>
            <a:pPr algn="ctr" indent="0" marL="0">
              <a:buNone/>
            </a:pPr>
            <a:r>
              <a:rPr lang="en-US" sz="2100" b="1" dirty="0">
                <a:solidFill>
                  <a:srgbClr val="6B7280"/>
                </a:solidFill>
              </a:rPr>
              <a:t>~0ms</a:t>
            </a:r>
            <a:endParaRPr lang="en-US" sz="2100" dirty="0"/>
          </a:p>
        </p:txBody>
      </p:sp>
      <p:sp>
        <p:nvSpPr>
          <p:cNvPr id="22" name="Text 20"/>
          <p:cNvSpPr/>
          <p:nvPr/>
        </p:nvSpPr>
        <p:spPr>
          <a:xfrm>
            <a:off x="9189720" y="1636776"/>
            <a:ext cx="1737360" cy="164592"/>
          </a:xfrm>
          <a:prstGeom prst="rect">
            <a:avLst/>
          </a:prstGeom>
          <a:noFill/>
          <a:ln/>
        </p:spPr>
        <p:txBody>
          <a:bodyPr wrap="square" lIns="0" tIns="0" rIns="0" bIns="0" rtlCol="0" anchor="ctr"/>
          <a:lstStyle/>
          <a:p>
            <a:pPr algn="ctr" indent="0" marL="0">
              <a:buNone/>
            </a:pPr>
            <a:r>
              <a:rPr lang="en-US" sz="950" dirty="0">
                <a:solidFill>
                  <a:srgbClr val="B7C0C9"/>
                </a:solidFill>
              </a:rPr>
              <a:t>argsort/append</a:t>
            </a:r>
            <a:endParaRPr lang="en-US" sz="950" dirty="0"/>
          </a:p>
        </p:txBody>
      </p:sp>
      <p:sp>
        <p:nvSpPr>
          <p:cNvPr id="23" name="Text 21"/>
          <p:cNvSpPr/>
          <p:nvPr/>
        </p:nvSpPr>
        <p:spPr>
          <a:xfrm>
            <a:off x="914400" y="2788920"/>
            <a:ext cx="1828800" cy="228600"/>
          </a:xfrm>
          <a:prstGeom prst="rect">
            <a:avLst/>
          </a:prstGeom>
          <a:noFill/>
          <a:ln/>
        </p:spPr>
        <p:txBody>
          <a:bodyPr wrap="square" lIns="0" tIns="0" rIns="0" bIns="0" rtlCol="0" anchor="ctr"/>
          <a:lstStyle/>
          <a:p>
            <a:pPr indent="0" marL="0">
              <a:buNone/>
            </a:pPr>
            <a:r>
              <a:rPr lang="en-US" sz="1400" b="1" dirty="0">
                <a:solidFill>
                  <a:srgbClr val="F7FAFC"/>
                </a:solidFill>
              </a:rPr>
              <a:t>run_cpu()</a:t>
            </a:r>
            <a:endParaRPr lang="en-US" sz="1400" dirty="0"/>
          </a:p>
        </p:txBody>
      </p:sp>
      <p:sp>
        <p:nvSpPr>
          <p:cNvPr id="24" name="Shape 22"/>
          <p:cNvSpPr/>
          <p:nvPr/>
        </p:nvSpPr>
        <p:spPr>
          <a:xfrm>
            <a:off x="2788920" y="2816352"/>
            <a:ext cx="5669280" cy="201168"/>
          </a:xfrm>
          <a:prstGeom prst="rect">
            <a:avLst/>
          </a:prstGeom>
          <a:solidFill>
            <a:srgbClr val="76B900"/>
          </a:solidFill>
          <a:ln w="12700">
            <a:solidFill>
              <a:srgbClr val="76B900"/>
            </a:solidFill>
            <a:prstDash val="solid"/>
          </a:ln>
        </p:spPr>
      </p:sp>
      <p:sp>
        <p:nvSpPr>
          <p:cNvPr id="25" name="Text 23"/>
          <p:cNvSpPr/>
          <p:nvPr/>
        </p:nvSpPr>
        <p:spPr>
          <a:xfrm>
            <a:off x="8641080" y="2770632"/>
            <a:ext cx="2377440" cy="256032"/>
          </a:xfrm>
          <a:prstGeom prst="rect">
            <a:avLst/>
          </a:prstGeom>
          <a:noFill/>
          <a:ln/>
        </p:spPr>
        <p:txBody>
          <a:bodyPr wrap="square" lIns="0" tIns="0" rIns="0" bIns="0" rtlCol="0" anchor="ctr"/>
          <a:lstStyle/>
          <a:p>
            <a:pPr indent="0" marL="0">
              <a:buNone/>
            </a:pPr>
            <a:r>
              <a:rPr lang="en-US" sz="1200" dirty="0">
                <a:solidFill>
                  <a:srgbClr val="B7C0C9"/>
                </a:solidFill>
              </a:rPr>
              <a:t>0.289s cumulative</a:t>
            </a:r>
            <a:endParaRPr lang="en-US" sz="1200" dirty="0"/>
          </a:p>
        </p:txBody>
      </p:sp>
      <p:sp>
        <p:nvSpPr>
          <p:cNvPr id="26" name="Text 24"/>
          <p:cNvSpPr/>
          <p:nvPr/>
        </p:nvSpPr>
        <p:spPr>
          <a:xfrm>
            <a:off x="914400" y="3493008"/>
            <a:ext cx="1828800" cy="228600"/>
          </a:xfrm>
          <a:prstGeom prst="rect">
            <a:avLst/>
          </a:prstGeom>
          <a:noFill/>
          <a:ln/>
        </p:spPr>
        <p:txBody>
          <a:bodyPr wrap="square" lIns="0" tIns="0" rIns="0" bIns="0" rtlCol="0" anchor="ctr"/>
          <a:lstStyle/>
          <a:p>
            <a:pPr indent="0" marL="0">
              <a:buNone/>
            </a:pPr>
            <a:r>
              <a:rPr lang="en-US" sz="1400" b="1" dirty="0">
                <a:solidFill>
                  <a:srgbClr val="F7FAFC"/>
                </a:solidFill>
              </a:rPr>
              <a:t>iou_one_to_many()</a:t>
            </a:r>
            <a:endParaRPr lang="en-US" sz="1400" dirty="0"/>
          </a:p>
        </p:txBody>
      </p:sp>
      <p:sp>
        <p:nvSpPr>
          <p:cNvPr id="27" name="Shape 25"/>
          <p:cNvSpPr/>
          <p:nvPr/>
        </p:nvSpPr>
        <p:spPr>
          <a:xfrm>
            <a:off x="2788920" y="3520440"/>
            <a:ext cx="1920240" cy="201168"/>
          </a:xfrm>
          <a:prstGeom prst="rect">
            <a:avLst/>
          </a:prstGeom>
          <a:solidFill>
            <a:srgbClr val="F59E0B"/>
          </a:solidFill>
          <a:ln w="12700">
            <a:solidFill>
              <a:srgbClr val="F59E0B"/>
            </a:solidFill>
            <a:prstDash val="solid"/>
          </a:ln>
        </p:spPr>
      </p:sp>
      <p:sp>
        <p:nvSpPr>
          <p:cNvPr id="28" name="Text 26"/>
          <p:cNvSpPr/>
          <p:nvPr/>
        </p:nvSpPr>
        <p:spPr>
          <a:xfrm>
            <a:off x="4892040" y="3474720"/>
            <a:ext cx="1920240" cy="256032"/>
          </a:xfrm>
          <a:prstGeom prst="rect">
            <a:avLst/>
          </a:prstGeom>
          <a:noFill/>
          <a:ln/>
        </p:spPr>
        <p:txBody>
          <a:bodyPr wrap="square" lIns="0" tIns="0" rIns="0" bIns="0" rtlCol="0" anchor="ctr"/>
          <a:lstStyle/>
          <a:p>
            <a:pPr indent="0" marL="0">
              <a:buNone/>
            </a:pPr>
            <a:r>
              <a:rPr lang="en-US" sz="1200" dirty="0">
                <a:solidFill>
                  <a:srgbClr val="B7C0C9"/>
                </a:solidFill>
              </a:rPr>
              <a:t>0.098s total</a:t>
            </a:r>
            <a:endParaRPr lang="en-US" sz="1200" dirty="0"/>
          </a:p>
        </p:txBody>
      </p:sp>
      <p:sp>
        <p:nvSpPr>
          <p:cNvPr id="29" name="Text 27"/>
          <p:cNvSpPr/>
          <p:nvPr/>
        </p:nvSpPr>
        <p:spPr>
          <a:xfrm>
            <a:off x="914400" y="4187952"/>
            <a:ext cx="1828800" cy="228600"/>
          </a:xfrm>
          <a:prstGeom prst="rect">
            <a:avLst/>
          </a:prstGeom>
          <a:noFill/>
          <a:ln/>
        </p:spPr>
        <p:txBody>
          <a:bodyPr wrap="square" lIns="0" tIns="0" rIns="0" bIns="0" rtlCol="0" anchor="ctr"/>
          <a:lstStyle/>
          <a:p>
            <a:pPr indent="0" marL="0">
              <a:buNone/>
            </a:pPr>
            <a:r>
              <a:rPr lang="en-US" sz="1400" b="1" dirty="0">
                <a:solidFill>
                  <a:srgbClr val="F7FAFC"/>
                </a:solidFill>
              </a:rPr>
              <a:t>argsort / len / append</a:t>
            </a:r>
            <a:endParaRPr lang="en-US" sz="1400" dirty="0"/>
          </a:p>
        </p:txBody>
      </p:sp>
      <p:sp>
        <p:nvSpPr>
          <p:cNvPr id="30" name="Shape 28"/>
          <p:cNvSpPr/>
          <p:nvPr/>
        </p:nvSpPr>
        <p:spPr>
          <a:xfrm>
            <a:off x="2788920" y="4215384"/>
            <a:ext cx="164592" cy="201168"/>
          </a:xfrm>
          <a:prstGeom prst="rect">
            <a:avLst/>
          </a:prstGeom>
          <a:solidFill>
            <a:srgbClr val="6B7280"/>
          </a:solidFill>
          <a:ln w="12700">
            <a:solidFill>
              <a:srgbClr val="6B7280"/>
            </a:solidFill>
            <a:prstDash val="solid"/>
          </a:ln>
        </p:spPr>
      </p:sp>
      <p:sp>
        <p:nvSpPr>
          <p:cNvPr id="31" name="Text 29"/>
          <p:cNvSpPr/>
          <p:nvPr/>
        </p:nvSpPr>
        <p:spPr>
          <a:xfrm>
            <a:off x="3154680" y="4169664"/>
            <a:ext cx="2560320" cy="256032"/>
          </a:xfrm>
          <a:prstGeom prst="rect">
            <a:avLst/>
          </a:prstGeom>
          <a:noFill/>
          <a:ln/>
        </p:spPr>
        <p:txBody>
          <a:bodyPr wrap="square" lIns="0" tIns="0" rIns="0" bIns="0" rtlCol="0" anchor="ctr"/>
          <a:lstStyle/>
          <a:p>
            <a:pPr indent="0" marL="0">
              <a:buNone/>
            </a:pPr>
            <a:r>
              <a:rPr lang="en-US" sz="1200" dirty="0">
                <a:solidFill>
                  <a:srgbClr val="B7C0C9"/>
                </a:solidFill>
              </a:rPr>
              <a:t>&lt;0.001s shown as 0.000</a:t>
            </a:r>
            <a:endParaRPr lang="en-US" sz="1200" dirty="0"/>
          </a:p>
        </p:txBody>
      </p:sp>
      <p:sp>
        <p:nvSpPr>
          <p:cNvPr id="33" name="Text 30"/>
          <p:cNvSpPr/>
          <p:nvPr/>
        </p:nvSpPr>
        <p:spPr>
          <a:xfrm>
            <a:off x="11777472"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2"/>
          </a:solidFill>
          <a:ln w="12700">
            <a:solidFill>
              <a:srgbClr val="0B0F12">
                <a:alpha val="0"/>
              </a:srgbClr>
            </a:solidFill>
            <a:prstDash val="solid"/>
          </a:ln>
        </p:spPr>
      </p:sp>
      <p:sp>
        <p:nvSpPr>
          <p:cNvPr id="3" name="Shape 1"/>
          <p:cNvSpPr/>
          <p:nvPr/>
        </p:nvSpPr>
        <p:spPr>
          <a:xfrm>
            <a:off x="0" y="0"/>
            <a:ext cx="109728" cy="6858000"/>
          </a:xfrm>
          <a:prstGeom prst="rect">
            <a:avLst/>
          </a:prstGeom>
          <a:solidFill>
            <a:srgbClr val="76B900"/>
          </a:solidFill>
          <a:ln w="12700">
            <a:solidFill>
              <a:srgbClr val="76B900"/>
            </a:solidFill>
            <a:prstDash val="solid"/>
          </a:ln>
        </p:spPr>
      </p:sp>
      <p:sp>
        <p:nvSpPr>
          <p:cNvPr id="4" name="Shape 2"/>
          <p:cNvSpPr/>
          <p:nvPr/>
        </p:nvSpPr>
        <p:spPr>
          <a:xfrm>
            <a:off x="146304" y="0"/>
            <a:ext cx="12045391" cy="73152"/>
          </a:xfrm>
          <a:prstGeom prst="rect">
            <a:avLst/>
          </a:prstGeom>
          <a:solidFill>
            <a:srgbClr val="76B900">
              <a:alpha val="85000"/>
            </a:srgbClr>
          </a:solidFill>
          <a:ln w="12700">
            <a:solidFill>
              <a:srgbClr val="76B900">
                <a:alpha val="0"/>
              </a:srgbClr>
            </a:solidFill>
            <a:prstDash val="solid"/>
          </a:ln>
        </p:spPr>
      </p:sp>
      <p:sp>
        <p:nvSpPr>
          <p:cNvPr id="5" name="Text 3"/>
          <p:cNvSpPr/>
          <p:nvPr/>
        </p:nvSpPr>
        <p:spPr>
          <a:xfrm>
            <a:off x="438912" y="256032"/>
            <a:ext cx="9692640" cy="384048"/>
          </a:xfrm>
          <a:prstGeom prst="rect">
            <a:avLst/>
          </a:prstGeom>
          <a:noFill/>
          <a:ln/>
        </p:spPr>
        <p:txBody>
          <a:bodyPr wrap="square" lIns="0" tIns="0" rIns="0" bIns="0" rtlCol="0" anchor="ctr"/>
          <a:lstStyle/>
          <a:p>
            <a:pPr indent="0" marL="0">
              <a:buNone/>
            </a:pPr>
            <a:r>
              <a:rPr lang="en-US" sz="2500" b="1" dirty="0">
                <a:solidFill>
                  <a:srgbClr val="F7FAFC"/>
                </a:solidFill>
                <a:latin typeface="Aptos Display" pitchFamily="34" charset="0"/>
                <a:ea typeface="Aptos Display" pitchFamily="34" charset="-122"/>
                <a:cs typeface="Aptos Display" pitchFamily="34" charset="-120"/>
              </a:rPr>
              <a:t>Optimization Decision</a:t>
            </a:r>
            <a:endParaRPr lang="en-US" sz="2500" dirty="0"/>
          </a:p>
        </p:txBody>
      </p:sp>
      <p:sp>
        <p:nvSpPr>
          <p:cNvPr id="6" name="Text 4"/>
          <p:cNvSpPr/>
          <p:nvPr/>
        </p:nvSpPr>
        <p:spPr>
          <a:xfrm>
            <a:off x="438912" y="658368"/>
            <a:ext cx="8686800" cy="256032"/>
          </a:xfrm>
          <a:prstGeom prst="rect">
            <a:avLst/>
          </a:prstGeom>
          <a:noFill/>
          <a:ln/>
        </p:spPr>
        <p:txBody>
          <a:bodyPr wrap="square" lIns="0" tIns="0" rIns="0" bIns="0" rtlCol="0" anchor="ctr"/>
          <a:lstStyle/>
          <a:p>
            <a:pPr indent="0" marL="0">
              <a:buNone/>
            </a:pPr>
            <a:r>
              <a:rPr lang="en-US" sz="1050" dirty="0">
                <a:solidFill>
                  <a:srgbClr val="B7C0C9"/>
                </a:solidFill>
              </a:rPr>
              <a:t>Move only the measured bottleneck to GPU</a:t>
            </a:r>
            <a:endParaRPr lang="en-US" sz="1050" dirty="0"/>
          </a:p>
        </p:txBody>
      </p:sp>
      <p:sp>
        <p:nvSpPr>
          <p:cNvPr id="7" name="Text 5"/>
          <p:cNvSpPr/>
          <p:nvPr/>
        </p:nvSpPr>
        <p:spPr>
          <a:xfrm>
            <a:off x="9738360" y="6446520"/>
            <a:ext cx="1965960" cy="201168"/>
          </a:xfrm>
          <a:prstGeom prst="rect">
            <a:avLst/>
          </a:prstGeom>
          <a:noFill/>
          <a:ln/>
        </p:spPr>
        <p:txBody>
          <a:bodyPr wrap="square" lIns="0" tIns="0" rIns="0" bIns="0" rtlCol="0" anchor="ctr"/>
          <a:lstStyle/>
          <a:p>
            <a:pPr algn="r" indent="0" marL="0">
              <a:buNone/>
            </a:pPr>
            <a:r>
              <a:rPr lang="en-US" sz="850" dirty="0">
                <a:solidFill>
                  <a:srgbClr val="6B7280"/>
                </a:solidFill>
              </a:rPr>
              <a:t>CUDA NMS · Seminar 2</a:t>
            </a:r>
            <a:endParaRPr lang="en-US" sz="850" dirty="0"/>
          </a:p>
        </p:txBody>
      </p:sp>
      <p:sp>
        <p:nvSpPr>
          <p:cNvPr id="8" name="Shape 6"/>
          <p:cNvSpPr/>
          <p:nvPr/>
        </p:nvSpPr>
        <p:spPr>
          <a:xfrm>
            <a:off x="914400" y="1828800"/>
            <a:ext cx="2743200" cy="1005840"/>
          </a:xfrm>
          <a:prstGeom prst="roundRect">
            <a:avLst>
              <a:gd name="adj" fmla="val 10909"/>
            </a:avLst>
          </a:prstGeom>
          <a:solidFill>
            <a:srgbClr val="16202A"/>
          </a:solidFill>
          <a:ln w="12700">
            <a:solidFill>
              <a:srgbClr val="334155"/>
            </a:solidFill>
            <a:prstDash val="solid"/>
          </a:ln>
        </p:spPr>
      </p:sp>
      <p:sp>
        <p:nvSpPr>
          <p:cNvPr id="9" name="Text 7"/>
          <p:cNvSpPr/>
          <p:nvPr/>
        </p:nvSpPr>
        <p:spPr>
          <a:xfrm>
            <a:off x="1024128" y="1938528"/>
            <a:ext cx="2523744" cy="786384"/>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Keep on CPU</a:t>
            </a:r>
            <a:endParaRPr lang="en-US" sz="1400" dirty="0"/>
          </a:p>
          <a:p>
            <a:pPr algn="ctr" indent="0" marL="0">
              <a:buNone/>
            </a:pPr>
            <a:r>
              <a:rPr lang="en-US" sz="1400" b="1" dirty="0">
                <a:solidFill>
                  <a:srgbClr val="F7FAFC"/>
                </a:solidFill>
              </a:rPr>
              <a:t>Sort + Greedy logic</a:t>
            </a:r>
            <a:endParaRPr lang="en-US" sz="1400" dirty="0"/>
          </a:p>
        </p:txBody>
      </p:sp>
      <p:sp>
        <p:nvSpPr>
          <p:cNvPr id="10" name="Shape 8"/>
          <p:cNvSpPr/>
          <p:nvPr/>
        </p:nvSpPr>
        <p:spPr>
          <a:xfrm>
            <a:off x="4709160" y="1828800"/>
            <a:ext cx="2743200" cy="1005840"/>
          </a:xfrm>
          <a:prstGeom prst="roundRect">
            <a:avLst>
              <a:gd name="adj" fmla="val 10909"/>
            </a:avLst>
          </a:prstGeom>
          <a:solidFill>
            <a:srgbClr val="76B900"/>
          </a:solidFill>
          <a:ln w="12700">
            <a:solidFill>
              <a:srgbClr val="334155"/>
            </a:solidFill>
            <a:prstDash val="solid"/>
          </a:ln>
        </p:spPr>
      </p:sp>
      <p:sp>
        <p:nvSpPr>
          <p:cNvPr id="11" name="Text 9"/>
          <p:cNvSpPr/>
          <p:nvPr/>
        </p:nvSpPr>
        <p:spPr>
          <a:xfrm>
            <a:off x="4818888" y="1938528"/>
            <a:ext cx="2523744" cy="786384"/>
          </a:xfrm>
          <a:prstGeom prst="rect">
            <a:avLst/>
          </a:prstGeom>
          <a:noFill/>
          <a:ln/>
        </p:spPr>
        <p:txBody>
          <a:bodyPr wrap="square" lIns="254" tIns="254" rIns="254" bIns="254" rtlCol="0" anchor="ctr">
            <a:normAutofit/>
          </a:bodyPr>
          <a:lstStyle/>
          <a:p>
            <a:pPr algn="ctr" indent="0" marL="0">
              <a:buNone/>
            </a:pPr>
            <a:r>
              <a:rPr lang="en-US" sz="1400" b="1" dirty="0">
                <a:solidFill>
                  <a:srgbClr val="0B0F12"/>
                </a:solidFill>
              </a:rPr>
              <a:t>Move to GPU</a:t>
            </a:r>
            <a:endParaRPr lang="en-US" sz="1400" dirty="0"/>
          </a:p>
          <a:p>
            <a:pPr algn="ctr" indent="0" marL="0">
              <a:buNone/>
            </a:pPr>
            <a:r>
              <a:rPr lang="en-US" sz="1400" b="1" dirty="0">
                <a:solidFill>
                  <a:srgbClr val="0B0F12"/>
                </a:solidFill>
              </a:rPr>
              <a:t>Pairwise IoU computation</a:t>
            </a:r>
            <a:endParaRPr lang="en-US" sz="1400" dirty="0"/>
          </a:p>
        </p:txBody>
      </p:sp>
      <p:sp>
        <p:nvSpPr>
          <p:cNvPr id="12" name="Shape 10"/>
          <p:cNvSpPr/>
          <p:nvPr/>
        </p:nvSpPr>
        <p:spPr>
          <a:xfrm>
            <a:off x="8503920" y="1828800"/>
            <a:ext cx="2423160" cy="1005840"/>
          </a:xfrm>
          <a:prstGeom prst="roundRect">
            <a:avLst>
              <a:gd name="adj" fmla="val 10909"/>
            </a:avLst>
          </a:prstGeom>
          <a:solidFill>
            <a:srgbClr val="16202A"/>
          </a:solidFill>
          <a:ln w="12700">
            <a:solidFill>
              <a:srgbClr val="334155"/>
            </a:solidFill>
            <a:prstDash val="solid"/>
          </a:ln>
        </p:spPr>
      </p:sp>
      <p:sp>
        <p:nvSpPr>
          <p:cNvPr id="13" name="Text 11"/>
          <p:cNvSpPr/>
          <p:nvPr/>
        </p:nvSpPr>
        <p:spPr>
          <a:xfrm>
            <a:off x="8613648" y="1938528"/>
            <a:ext cx="2203704" cy="786384"/>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Return to CPU</a:t>
            </a:r>
            <a:endParaRPr lang="en-US" sz="1400" dirty="0"/>
          </a:p>
          <a:p>
            <a:pPr algn="ctr" indent="0" marL="0">
              <a:buNone/>
            </a:pPr>
            <a:r>
              <a:rPr lang="en-US" sz="1400" b="1" dirty="0">
                <a:solidFill>
                  <a:srgbClr val="F7FAFC"/>
                </a:solidFill>
              </a:rPr>
              <a:t>Final keep list</a:t>
            </a:r>
            <a:endParaRPr lang="en-US" sz="1400" dirty="0"/>
          </a:p>
        </p:txBody>
      </p:sp>
      <p:sp>
        <p:nvSpPr>
          <p:cNvPr id="14" name="Shape 12"/>
          <p:cNvSpPr/>
          <p:nvPr/>
        </p:nvSpPr>
        <p:spPr>
          <a:xfrm>
            <a:off x="3657600" y="2331720"/>
            <a:ext cx="1051560" cy="0"/>
          </a:xfrm>
          <a:prstGeom prst="line">
            <a:avLst/>
          </a:prstGeom>
          <a:noFill/>
          <a:ln w="25400">
            <a:solidFill>
              <a:srgbClr val="76B900"/>
            </a:solidFill>
            <a:prstDash val="solid"/>
            <a:headEnd type="none"/>
            <a:tailEnd type="triangle"/>
          </a:ln>
        </p:spPr>
      </p:sp>
      <p:sp>
        <p:nvSpPr>
          <p:cNvPr id="15" name="Shape 13"/>
          <p:cNvSpPr/>
          <p:nvPr/>
        </p:nvSpPr>
        <p:spPr>
          <a:xfrm>
            <a:off x="7452360" y="2331720"/>
            <a:ext cx="1051560" cy="0"/>
          </a:xfrm>
          <a:prstGeom prst="line">
            <a:avLst/>
          </a:prstGeom>
          <a:noFill/>
          <a:ln w="25400">
            <a:solidFill>
              <a:srgbClr val="76B900"/>
            </a:solidFill>
            <a:prstDash val="solid"/>
            <a:headEnd type="none"/>
            <a:tailEnd type="triangle"/>
          </a:ln>
        </p:spPr>
      </p:sp>
      <p:sp>
        <p:nvSpPr>
          <p:cNvPr id="16" name="Shape 14"/>
          <p:cNvSpPr/>
          <p:nvPr/>
        </p:nvSpPr>
        <p:spPr>
          <a:xfrm>
            <a:off x="1920240" y="3840480"/>
            <a:ext cx="3657600" cy="676656"/>
          </a:xfrm>
          <a:prstGeom prst="roundRect">
            <a:avLst>
              <a:gd name="adj" fmla="val 13514"/>
            </a:avLst>
          </a:prstGeom>
          <a:solidFill>
            <a:srgbClr val="0F1720"/>
          </a:solidFill>
          <a:ln w="12700">
            <a:solidFill>
              <a:srgbClr val="76B900">
                <a:alpha val="70000"/>
              </a:srgbClr>
            </a:solidFill>
            <a:prstDash val="solid"/>
          </a:ln>
        </p:spPr>
      </p:sp>
      <p:sp>
        <p:nvSpPr>
          <p:cNvPr id="17" name="Text 15"/>
          <p:cNvSpPr/>
          <p:nvPr/>
        </p:nvSpPr>
        <p:spPr>
          <a:xfrm>
            <a:off x="2029968" y="3986784"/>
            <a:ext cx="3438144" cy="457200"/>
          </a:xfrm>
          <a:prstGeom prst="rect">
            <a:avLst/>
          </a:prstGeom>
          <a:noFill/>
          <a:ln/>
        </p:spPr>
        <p:txBody>
          <a:bodyPr wrap="square" lIns="0" tIns="0" rIns="0" bIns="0" rtlCol="0" anchor="ctr">
            <a:normAutofit/>
          </a:bodyPr>
          <a:lstStyle/>
          <a:p>
            <a:pPr algn="ctr" indent="0" marL="0">
              <a:buNone/>
            </a:pPr>
            <a:r>
              <a:rPr lang="en-US" sz="1700" b="1" dirty="0">
                <a:solidFill>
                  <a:srgbClr val="F7FAFC"/>
                </a:solidFill>
              </a:rPr>
              <a:t>Each IoU(Box_i, Box_j) is independent</a:t>
            </a:r>
            <a:endParaRPr lang="en-US" sz="1700" dirty="0"/>
          </a:p>
        </p:txBody>
      </p:sp>
      <p:sp>
        <p:nvSpPr>
          <p:cNvPr id="18" name="Shape 16"/>
          <p:cNvSpPr/>
          <p:nvPr/>
        </p:nvSpPr>
        <p:spPr>
          <a:xfrm>
            <a:off x="6263640" y="3840480"/>
            <a:ext cx="3840480" cy="676656"/>
          </a:xfrm>
          <a:prstGeom prst="roundRect">
            <a:avLst>
              <a:gd name="adj" fmla="val 13514"/>
            </a:avLst>
          </a:prstGeom>
          <a:solidFill>
            <a:srgbClr val="0F1720"/>
          </a:solidFill>
          <a:ln w="12700">
            <a:solidFill>
              <a:srgbClr val="76B900">
                <a:alpha val="70000"/>
              </a:srgbClr>
            </a:solidFill>
            <a:prstDash val="solid"/>
          </a:ln>
        </p:spPr>
      </p:sp>
      <p:sp>
        <p:nvSpPr>
          <p:cNvPr id="19" name="Text 17"/>
          <p:cNvSpPr/>
          <p:nvPr/>
        </p:nvSpPr>
        <p:spPr>
          <a:xfrm>
            <a:off x="6373368" y="3986784"/>
            <a:ext cx="3621024" cy="457200"/>
          </a:xfrm>
          <a:prstGeom prst="rect">
            <a:avLst/>
          </a:prstGeom>
          <a:noFill/>
          <a:ln/>
        </p:spPr>
        <p:txBody>
          <a:bodyPr wrap="square" lIns="0" tIns="0" rIns="0" bIns="0" rtlCol="0" anchor="ctr">
            <a:normAutofit/>
          </a:bodyPr>
          <a:lstStyle/>
          <a:p>
            <a:pPr algn="ctr" indent="0" marL="0">
              <a:buNone/>
            </a:pPr>
            <a:r>
              <a:rPr lang="en-US" sz="1700" b="1" dirty="0">
                <a:solidFill>
                  <a:srgbClr val="F7FAFC"/>
                </a:solidFill>
              </a:rPr>
              <a:t>Good mapping: 1 CUDA thread = 1 pair</a:t>
            </a:r>
            <a:endParaRPr lang="en-US" sz="1700" dirty="0"/>
          </a:p>
        </p:txBody>
      </p:sp>
      <p:sp>
        <p:nvSpPr>
          <p:cNvPr id="21" name="Text 18"/>
          <p:cNvSpPr/>
          <p:nvPr/>
        </p:nvSpPr>
        <p:spPr>
          <a:xfrm>
            <a:off x="11777472"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2"/>
          </a:solidFill>
          <a:ln w="12700">
            <a:solidFill>
              <a:srgbClr val="0B0F12">
                <a:alpha val="0"/>
              </a:srgbClr>
            </a:solidFill>
            <a:prstDash val="solid"/>
          </a:ln>
        </p:spPr>
      </p:sp>
      <p:sp>
        <p:nvSpPr>
          <p:cNvPr id="3" name="Shape 1"/>
          <p:cNvSpPr/>
          <p:nvPr/>
        </p:nvSpPr>
        <p:spPr>
          <a:xfrm>
            <a:off x="0" y="0"/>
            <a:ext cx="109728" cy="6858000"/>
          </a:xfrm>
          <a:prstGeom prst="rect">
            <a:avLst/>
          </a:prstGeom>
          <a:solidFill>
            <a:srgbClr val="76B900"/>
          </a:solidFill>
          <a:ln w="12700">
            <a:solidFill>
              <a:srgbClr val="76B900"/>
            </a:solidFill>
            <a:prstDash val="solid"/>
          </a:ln>
        </p:spPr>
      </p:sp>
      <p:sp>
        <p:nvSpPr>
          <p:cNvPr id="4" name="Shape 2"/>
          <p:cNvSpPr/>
          <p:nvPr/>
        </p:nvSpPr>
        <p:spPr>
          <a:xfrm>
            <a:off x="146304" y="0"/>
            <a:ext cx="12045391" cy="73152"/>
          </a:xfrm>
          <a:prstGeom prst="rect">
            <a:avLst/>
          </a:prstGeom>
          <a:solidFill>
            <a:srgbClr val="76B900">
              <a:alpha val="85000"/>
            </a:srgbClr>
          </a:solidFill>
          <a:ln w="12700">
            <a:solidFill>
              <a:srgbClr val="76B900">
                <a:alpha val="0"/>
              </a:srgbClr>
            </a:solidFill>
            <a:prstDash val="solid"/>
          </a:ln>
        </p:spPr>
      </p:sp>
      <p:sp>
        <p:nvSpPr>
          <p:cNvPr id="5" name="Text 3"/>
          <p:cNvSpPr/>
          <p:nvPr/>
        </p:nvSpPr>
        <p:spPr>
          <a:xfrm>
            <a:off x="438912" y="256032"/>
            <a:ext cx="9692640" cy="384048"/>
          </a:xfrm>
          <a:prstGeom prst="rect">
            <a:avLst/>
          </a:prstGeom>
          <a:noFill/>
          <a:ln/>
        </p:spPr>
        <p:txBody>
          <a:bodyPr wrap="square" lIns="0" tIns="0" rIns="0" bIns="0" rtlCol="0" anchor="ctr"/>
          <a:lstStyle/>
          <a:p>
            <a:pPr indent="0" marL="0">
              <a:buNone/>
            </a:pPr>
            <a:r>
              <a:rPr lang="en-US" sz="2500" b="1" dirty="0">
                <a:solidFill>
                  <a:srgbClr val="F7FAFC"/>
                </a:solidFill>
                <a:latin typeface="Aptos Display" pitchFamily="34" charset="0"/>
                <a:ea typeface="Aptos Display" pitchFamily="34" charset="-122"/>
                <a:cs typeface="Aptos Display" pitchFamily="34" charset="-120"/>
              </a:rPr>
              <a:t>GPU Version 1 Architecture</a:t>
            </a:r>
            <a:endParaRPr lang="en-US" sz="2500" dirty="0"/>
          </a:p>
        </p:txBody>
      </p:sp>
      <p:sp>
        <p:nvSpPr>
          <p:cNvPr id="6" name="Text 4"/>
          <p:cNvSpPr/>
          <p:nvPr/>
        </p:nvSpPr>
        <p:spPr>
          <a:xfrm>
            <a:off x="438912" y="658368"/>
            <a:ext cx="8686800" cy="256032"/>
          </a:xfrm>
          <a:prstGeom prst="rect">
            <a:avLst/>
          </a:prstGeom>
          <a:noFill/>
          <a:ln/>
        </p:spPr>
        <p:txBody>
          <a:bodyPr wrap="square" lIns="0" tIns="0" rIns="0" bIns="0" rtlCol="0" anchor="ctr"/>
          <a:lstStyle/>
          <a:p>
            <a:pPr indent="0" marL="0">
              <a:buNone/>
            </a:pPr>
            <a:r>
              <a:rPr lang="en-US" sz="1050" dirty="0">
                <a:solidFill>
                  <a:srgbClr val="B7C0C9"/>
                </a:solidFill>
              </a:rPr>
              <a:t>Parallel IoU matrix, CPU greedy suppression</a:t>
            </a:r>
            <a:endParaRPr lang="en-US" sz="1050" dirty="0"/>
          </a:p>
        </p:txBody>
      </p:sp>
      <p:sp>
        <p:nvSpPr>
          <p:cNvPr id="7" name="Text 5"/>
          <p:cNvSpPr/>
          <p:nvPr/>
        </p:nvSpPr>
        <p:spPr>
          <a:xfrm>
            <a:off x="9738360" y="6446520"/>
            <a:ext cx="1965960" cy="201168"/>
          </a:xfrm>
          <a:prstGeom prst="rect">
            <a:avLst/>
          </a:prstGeom>
          <a:noFill/>
          <a:ln/>
        </p:spPr>
        <p:txBody>
          <a:bodyPr wrap="square" lIns="0" tIns="0" rIns="0" bIns="0" rtlCol="0" anchor="ctr"/>
          <a:lstStyle/>
          <a:p>
            <a:pPr algn="r" indent="0" marL="0">
              <a:buNone/>
            </a:pPr>
            <a:r>
              <a:rPr lang="en-US" sz="850" dirty="0">
                <a:solidFill>
                  <a:srgbClr val="6B7280"/>
                </a:solidFill>
              </a:rPr>
              <a:t>CUDA NMS · Seminar 2</a:t>
            </a:r>
            <a:endParaRPr lang="en-US" sz="850" dirty="0"/>
          </a:p>
        </p:txBody>
      </p:sp>
      <p:sp>
        <p:nvSpPr>
          <p:cNvPr id="8" name="Shape 6"/>
          <p:cNvSpPr/>
          <p:nvPr/>
        </p:nvSpPr>
        <p:spPr>
          <a:xfrm>
            <a:off x="777240" y="1234440"/>
            <a:ext cx="1325880" cy="685800"/>
          </a:xfrm>
          <a:prstGeom prst="roundRect">
            <a:avLst>
              <a:gd name="adj" fmla="val 16000"/>
            </a:avLst>
          </a:prstGeom>
          <a:solidFill>
            <a:srgbClr val="16202A"/>
          </a:solidFill>
          <a:ln w="12700">
            <a:solidFill>
              <a:srgbClr val="334155"/>
            </a:solidFill>
            <a:prstDash val="solid"/>
          </a:ln>
        </p:spPr>
      </p:sp>
      <p:sp>
        <p:nvSpPr>
          <p:cNvPr id="9" name="Text 7"/>
          <p:cNvSpPr/>
          <p:nvPr/>
        </p:nvSpPr>
        <p:spPr>
          <a:xfrm>
            <a:off x="886968" y="1344168"/>
            <a:ext cx="1106424" cy="466344"/>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Sorted</a:t>
            </a:r>
            <a:endParaRPr lang="en-US" sz="1400" dirty="0"/>
          </a:p>
          <a:p>
            <a:pPr algn="ctr" indent="0" marL="0">
              <a:buNone/>
            </a:pPr>
            <a:r>
              <a:rPr lang="en-US" sz="1400" b="1" dirty="0">
                <a:solidFill>
                  <a:srgbClr val="F7FAFC"/>
                </a:solidFill>
              </a:rPr>
              <a:t>Boxes</a:t>
            </a:r>
            <a:endParaRPr lang="en-US" sz="1400" dirty="0"/>
          </a:p>
        </p:txBody>
      </p:sp>
      <p:sp>
        <p:nvSpPr>
          <p:cNvPr id="10" name="Shape 8"/>
          <p:cNvSpPr/>
          <p:nvPr/>
        </p:nvSpPr>
        <p:spPr>
          <a:xfrm>
            <a:off x="2606040" y="1234440"/>
            <a:ext cx="1783080" cy="685800"/>
          </a:xfrm>
          <a:prstGeom prst="roundRect">
            <a:avLst>
              <a:gd name="adj" fmla="val 16000"/>
            </a:avLst>
          </a:prstGeom>
          <a:solidFill>
            <a:srgbClr val="16202A"/>
          </a:solidFill>
          <a:ln w="12700">
            <a:solidFill>
              <a:srgbClr val="334155"/>
            </a:solidFill>
            <a:prstDash val="solid"/>
          </a:ln>
        </p:spPr>
      </p:sp>
      <p:sp>
        <p:nvSpPr>
          <p:cNvPr id="11" name="Text 9"/>
          <p:cNvSpPr/>
          <p:nvPr/>
        </p:nvSpPr>
        <p:spPr>
          <a:xfrm>
            <a:off x="2715768" y="1344168"/>
            <a:ext cx="1563624" cy="466344"/>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cuda.to_device()</a:t>
            </a:r>
            <a:endParaRPr lang="en-US" sz="1400" dirty="0"/>
          </a:p>
        </p:txBody>
      </p:sp>
      <p:sp>
        <p:nvSpPr>
          <p:cNvPr id="12" name="Shape 10"/>
          <p:cNvSpPr/>
          <p:nvPr/>
        </p:nvSpPr>
        <p:spPr>
          <a:xfrm>
            <a:off x="4846320" y="1170432"/>
            <a:ext cx="1691640" cy="822960"/>
          </a:xfrm>
          <a:prstGeom prst="roundRect">
            <a:avLst>
              <a:gd name="adj" fmla="val 13333"/>
            </a:avLst>
          </a:prstGeom>
          <a:solidFill>
            <a:srgbClr val="202B36"/>
          </a:solidFill>
          <a:ln w="12700">
            <a:solidFill>
              <a:srgbClr val="334155"/>
            </a:solidFill>
            <a:prstDash val="solid"/>
          </a:ln>
        </p:spPr>
      </p:sp>
      <p:sp>
        <p:nvSpPr>
          <p:cNvPr id="13" name="Text 11"/>
          <p:cNvSpPr/>
          <p:nvPr/>
        </p:nvSpPr>
        <p:spPr>
          <a:xfrm>
            <a:off x="4956048" y="1280160"/>
            <a:ext cx="1472184" cy="603504"/>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GPU Global</a:t>
            </a:r>
            <a:endParaRPr lang="en-US" sz="1400" dirty="0"/>
          </a:p>
          <a:p>
            <a:pPr algn="ctr" indent="0" marL="0">
              <a:buNone/>
            </a:pPr>
            <a:r>
              <a:rPr lang="en-US" sz="1400" b="1" dirty="0">
                <a:solidFill>
                  <a:srgbClr val="F7FAFC"/>
                </a:solidFill>
              </a:rPr>
              <a:t>Memory</a:t>
            </a:r>
            <a:endParaRPr lang="en-US" sz="1400" dirty="0"/>
          </a:p>
        </p:txBody>
      </p:sp>
      <p:sp>
        <p:nvSpPr>
          <p:cNvPr id="14" name="Shape 12"/>
          <p:cNvSpPr/>
          <p:nvPr/>
        </p:nvSpPr>
        <p:spPr>
          <a:xfrm>
            <a:off x="7086600" y="1170432"/>
            <a:ext cx="1691640" cy="822960"/>
          </a:xfrm>
          <a:prstGeom prst="roundRect">
            <a:avLst>
              <a:gd name="adj" fmla="val 13333"/>
            </a:avLst>
          </a:prstGeom>
          <a:solidFill>
            <a:srgbClr val="76B900"/>
          </a:solidFill>
          <a:ln w="12700">
            <a:solidFill>
              <a:srgbClr val="334155"/>
            </a:solidFill>
            <a:prstDash val="solid"/>
          </a:ln>
        </p:spPr>
      </p:sp>
      <p:sp>
        <p:nvSpPr>
          <p:cNvPr id="15" name="Text 13"/>
          <p:cNvSpPr/>
          <p:nvPr/>
        </p:nvSpPr>
        <p:spPr>
          <a:xfrm>
            <a:off x="7196328" y="1280160"/>
            <a:ext cx="1472184" cy="603504"/>
          </a:xfrm>
          <a:prstGeom prst="rect">
            <a:avLst/>
          </a:prstGeom>
          <a:noFill/>
          <a:ln/>
        </p:spPr>
        <p:txBody>
          <a:bodyPr wrap="square" lIns="254" tIns="254" rIns="254" bIns="254" rtlCol="0" anchor="ctr">
            <a:normAutofit/>
          </a:bodyPr>
          <a:lstStyle/>
          <a:p>
            <a:pPr algn="ctr" indent="0" marL="0">
              <a:buNone/>
            </a:pPr>
            <a:r>
              <a:rPr lang="en-US" sz="1400" b="1" dirty="0">
                <a:solidFill>
                  <a:srgbClr val="0B0F12"/>
                </a:solidFill>
              </a:rPr>
              <a:t>CUDA IoU</a:t>
            </a:r>
            <a:endParaRPr lang="en-US" sz="1400" dirty="0"/>
          </a:p>
          <a:p>
            <a:pPr algn="ctr" indent="0" marL="0">
              <a:buNone/>
            </a:pPr>
            <a:r>
              <a:rPr lang="en-US" sz="1400" b="1" dirty="0">
                <a:solidFill>
                  <a:srgbClr val="0B0F12"/>
                </a:solidFill>
              </a:rPr>
              <a:t>Kernel</a:t>
            </a:r>
            <a:endParaRPr lang="en-US" sz="1400" dirty="0"/>
          </a:p>
        </p:txBody>
      </p:sp>
      <p:sp>
        <p:nvSpPr>
          <p:cNvPr id="16" name="Shape 14"/>
          <p:cNvSpPr/>
          <p:nvPr/>
        </p:nvSpPr>
        <p:spPr>
          <a:xfrm>
            <a:off x="9326880" y="1170432"/>
            <a:ext cx="1600200" cy="822960"/>
          </a:xfrm>
          <a:prstGeom prst="roundRect">
            <a:avLst>
              <a:gd name="adj" fmla="val 13333"/>
            </a:avLst>
          </a:prstGeom>
          <a:solidFill>
            <a:srgbClr val="202B36"/>
          </a:solidFill>
          <a:ln w="12700">
            <a:solidFill>
              <a:srgbClr val="334155"/>
            </a:solidFill>
            <a:prstDash val="solid"/>
          </a:ln>
        </p:spPr>
      </p:sp>
      <p:sp>
        <p:nvSpPr>
          <p:cNvPr id="17" name="Text 15"/>
          <p:cNvSpPr/>
          <p:nvPr/>
        </p:nvSpPr>
        <p:spPr>
          <a:xfrm>
            <a:off x="9436608" y="1280160"/>
            <a:ext cx="1380744" cy="603504"/>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IoU Matrix</a:t>
            </a:r>
            <a:endParaRPr lang="en-US" sz="1400" dirty="0"/>
          </a:p>
          <a:p>
            <a:pPr algn="ctr" indent="0" marL="0">
              <a:buNone/>
            </a:pPr>
            <a:r>
              <a:rPr lang="en-US" sz="1400" b="1" dirty="0">
                <a:solidFill>
                  <a:srgbClr val="F7FAFC"/>
                </a:solidFill>
              </a:rPr>
              <a:t>N × N</a:t>
            </a:r>
            <a:endParaRPr lang="en-US" sz="1400" dirty="0"/>
          </a:p>
        </p:txBody>
      </p:sp>
      <p:sp>
        <p:nvSpPr>
          <p:cNvPr id="18" name="Shape 16"/>
          <p:cNvSpPr/>
          <p:nvPr/>
        </p:nvSpPr>
        <p:spPr>
          <a:xfrm>
            <a:off x="4983480" y="4343400"/>
            <a:ext cx="2011680" cy="804672"/>
          </a:xfrm>
          <a:prstGeom prst="roundRect">
            <a:avLst>
              <a:gd name="adj" fmla="val 13636"/>
            </a:avLst>
          </a:prstGeom>
          <a:solidFill>
            <a:srgbClr val="16202A"/>
          </a:solidFill>
          <a:ln w="12700">
            <a:solidFill>
              <a:srgbClr val="334155"/>
            </a:solidFill>
            <a:prstDash val="solid"/>
          </a:ln>
        </p:spPr>
      </p:sp>
      <p:sp>
        <p:nvSpPr>
          <p:cNvPr id="19" name="Text 17"/>
          <p:cNvSpPr/>
          <p:nvPr/>
        </p:nvSpPr>
        <p:spPr>
          <a:xfrm>
            <a:off x="5093208" y="4453128"/>
            <a:ext cx="1792224" cy="585216"/>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CPU Greedy</a:t>
            </a:r>
            <a:endParaRPr lang="en-US" sz="1400" dirty="0"/>
          </a:p>
          <a:p>
            <a:pPr algn="ctr" indent="0" marL="0">
              <a:buNone/>
            </a:pPr>
            <a:r>
              <a:rPr lang="en-US" sz="1400" b="1" dirty="0">
                <a:solidFill>
                  <a:srgbClr val="F7FAFC"/>
                </a:solidFill>
              </a:rPr>
              <a:t>NMS</a:t>
            </a:r>
            <a:endParaRPr lang="en-US" sz="1400" dirty="0"/>
          </a:p>
        </p:txBody>
      </p:sp>
      <p:sp>
        <p:nvSpPr>
          <p:cNvPr id="20" name="Shape 18"/>
          <p:cNvSpPr/>
          <p:nvPr/>
        </p:nvSpPr>
        <p:spPr>
          <a:xfrm>
            <a:off x="2103120" y="1572768"/>
            <a:ext cx="502920" cy="0"/>
          </a:xfrm>
          <a:prstGeom prst="line">
            <a:avLst/>
          </a:prstGeom>
          <a:noFill/>
          <a:ln w="25400">
            <a:solidFill>
              <a:srgbClr val="76B900"/>
            </a:solidFill>
            <a:prstDash val="solid"/>
            <a:headEnd type="none"/>
            <a:tailEnd type="triangle"/>
          </a:ln>
        </p:spPr>
      </p:sp>
      <p:sp>
        <p:nvSpPr>
          <p:cNvPr id="21" name="Shape 19"/>
          <p:cNvSpPr/>
          <p:nvPr/>
        </p:nvSpPr>
        <p:spPr>
          <a:xfrm>
            <a:off x="4389120" y="1572768"/>
            <a:ext cx="457200" cy="0"/>
          </a:xfrm>
          <a:prstGeom prst="line">
            <a:avLst/>
          </a:prstGeom>
          <a:noFill/>
          <a:ln w="25400">
            <a:solidFill>
              <a:srgbClr val="76B900"/>
            </a:solidFill>
            <a:prstDash val="solid"/>
            <a:headEnd type="none"/>
            <a:tailEnd type="triangle"/>
          </a:ln>
        </p:spPr>
      </p:sp>
      <p:sp>
        <p:nvSpPr>
          <p:cNvPr id="22" name="Shape 20"/>
          <p:cNvSpPr/>
          <p:nvPr/>
        </p:nvSpPr>
        <p:spPr>
          <a:xfrm>
            <a:off x="6537960" y="1572768"/>
            <a:ext cx="548640" cy="0"/>
          </a:xfrm>
          <a:prstGeom prst="line">
            <a:avLst/>
          </a:prstGeom>
          <a:noFill/>
          <a:ln w="25400">
            <a:solidFill>
              <a:srgbClr val="76B900"/>
            </a:solidFill>
            <a:prstDash val="solid"/>
            <a:headEnd type="none"/>
            <a:tailEnd type="triangle"/>
          </a:ln>
        </p:spPr>
      </p:sp>
      <p:sp>
        <p:nvSpPr>
          <p:cNvPr id="23" name="Shape 21"/>
          <p:cNvSpPr/>
          <p:nvPr/>
        </p:nvSpPr>
        <p:spPr>
          <a:xfrm>
            <a:off x="8778240" y="1572768"/>
            <a:ext cx="548640" cy="0"/>
          </a:xfrm>
          <a:prstGeom prst="line">
            <a:avLst/>
          </a:prstGeom>
          <a:noFill/>
          <a:ln w="25400">
            <a:solidFill>
              <a:srgbClr val="76B900"/>
            </a:solidFill>
            <a:prstDash val="solid"/>
            <a:headEnd type="none"/>
            <a:tailEnd type="triangle"/>
          </a:ln>
        </p:spPr>
      </p:sp>
      <p:sp>
        <p:nvSpPr>
          <p:cNvPr id="24" name="Shape 22"/>
          <p:cNvSpPr/>
          <p:nvPr/>
        </p:nvSpPr>
        <p:spPr>
          <a:xfrm>
            <a:off x="10104120" y="1993392"/>
            <a:ext cx="-4114800" cy="2350008"/>
          </a:xfrm>
          <a:prstGeom prst="line">
            <a:avLst/>
          </a:prstGeom>
          <a:noFill/>
          <a:ln w="20320">
            <a:solidFill>
              <a:srgbClr val="38BDF8"/>
            </a:solidFill>
            <a:prstDash val="solid"/>
            <a:headEnd type="none"/>
            <a:tailEnd type="triangle"/>
          </a:ln>
        </p:spPr>
      </p:sp>
      <p:sp>
        <p:nvSpPr>
          <p:cNvPr id="25" name="Text 23"/>
          <p:cNvSpPr/>
          <p:nvPr/>
        </p:nvSpPr>
        <p:spPr>
          <a:xfrm>
            <a:off x="7086600" y="3456432"/>
            <a:ext cx="1828800" cy="237744"/>
          </a:xfrm>
          <a:prstGeom prst="rect">
            <a:avLst/>
          </a:prstGeom>
          <a:noFill/>
          <a:ln/>
        </p:spPr>
        <p:txBody>
          <a:bodyPr wrap="square" lIns="0" tIns="0" rIns="0" bIns="0" rtlCol="0" anchor="ctr"/>
          <a:lstStyle/>
          <a:p>
            <a:pPr indent="0" marL="0">
              <a:buNone/>
            </a:pPr>
            <a:r>
              <a:rPr lang="en-US" sz="1100" b="1" dirty="0">
                <a:solidFill>
                  <a:srgbClr val="38BDF8"/>
                </a:solidFill>
              </a:rPr>
              <a:t>copy_to_host()</a:t>
            </a:r>
            <a:endParaRPr lang="en-US" sz="1100" dirty="0"/>
          </a:p>
        </p:txBody>
      </p:sp>
      <p:sp>
        <p:nvSpPr>
          <p:cNvPr id="26" name="Shape 24"/>
          <p:cNvSpPr/>
          <p:nvPr/>
        </p:nvSpPr>
        <p:spPr>
          <a:xfrm>
            <a:off x="1005840" y="5715000"/>
            <a:ext cx="3200400" cy="347472"/>
          </a:xfrm>
          <a:prstGeom prst="roundRect">
            <a:avLst>
              <a:gd name="adj" fmla="val 21053"/>
            </a:avLst>
          </a:prstGeom>
          <a:solidFill>
            <a:srgbClr val="76B900">
              <a:alpha val="92000"/>
            </a:srgbClr>
          </a:solidFill>
          <a:ln w="12700">
            <a:solidFill>
              <a:srgbClr val="76B900">
                <a:alpha val="80000"/>
              </a:srgbClr>
            </a:solidFill>
            <a:prstDash val="solid"/>
          </a:ln>
        </p:spPr>
      </p:sp>
      <p:sp>
        <p:nvSpPr>
          <p:cNvPr id="27" name="Text 25"/>
          <p:cNvSpPr/>
          <p:nvPr/>
        </p:nvSpPr>
        <p:spPr>
          <a:xfrm>
            <a:off x="1097280" y="5801868"/>
            <a:ext cx="3017520" cy="155448"/>
          </a:xfrm>
          <a:prstGeom prst="rect">
            <a:avLst/>
          </a:prstGeom>
          <a:noFill/>
          <a:ln/>
        </p:spPr>
        <p:txBody>
          <a:bodyPr wrap="square" lIns="0" tIns="0" rIns="0" bIns="0" rtlCol="0" anchor="ctr"/>
          <a:lstStyle/>
          <a:p>
            <a:pPr algn="ctr" indent="0" marL="0">
              <a:buNone/>
            </a:pPr>
            <a:r>
              <a:rPr lang="en-US" sz="1050" b="1" dirty="0">
                <a:solidFill>
                  <a:srgbClr val="F7FAFC"/>
                </a:solidFill>
              </a:rPr>
              <a:t>GPU does the O(N²) pairwise work</a:t>
            </a:r>
            <a:endParaRPr lang="en-US" sz="1050" dirty="0"/>
          </a:p>
        </p:txBody>
      </p:sp>
      <p:sp>
        <p:nvSpPr>
          <p:cNvPr id="28" name="Shape 26"/>
          <p:cNvSpPr/>
          <p:nvPr/>
        </p:nvSpPr>
        <p:spPr>
          <a:xfrm>
            <a:off x="4526280" y="5715000"/>
            <a:ext cx="3200400" cy="347472"/>
          </a:xfrm>
          <a:prstGeom prst="roundRect">
            <a:avLst>
              <a:gd name="adj" fmla="val 21053"/>
            </a:avLst>
          </a:prstGeom>
          <a:solidFill>
            <a:srgbClr val="38BDF8">
              <a:alpha val="92000"/>
            </a:srgbClr>
          </a:solidFill>
          <a:ln w="12700">
            <a:solidFill>
              <a:srgbClr val="38BDF8">
                <a:alpha val="80000"/>
              </a:srgbClr>
            </a:solidFill>
            <a:prstDash val="solid"/>
          </a:ln>
        </p:spPr>
      </p:sp>
      <p:sp>
        <p:nvSpPr>
          <p:cNvPr id="29" name="Text 27"/>
          <p:cNvSpPr/>
          <p:nvPr/>
        </p:nvSpPr>
        <p:spPr>
          <a:xfrm>
            <a:off x="4617720" y="5801868"/>
            <a:ext cx="3017520" cy="155448"/>
          </a:xfrm>
          <a:prstGeom prst="rect">
            <a:avLst/>
          </a:prstGeom>
          <a:noFill/>
          <a:ln/>
        </p:spPr>
        <p:txBody>
          <a:bodyPr wrap="square" lIns="0" tIns="0" rIns="0" bIns="0" rtlCol="0" anchor="ctr"/>
          <a:lstStyle/>
          <a:p>
            <a:pPr algn="ctr" indent="0" marL="0">
              <a:buNone/>
            </a:pPr>
            <a:r>
              <a:rPr lang="en-US" sz="1050" b="1" dirty="0">
                <a:solidFill>
                  <a:srgbClr val="F7FAFC"/>
                </a:solidFill>
              </a:rPr>
              <a:t>CPU keeps simple greedy control flow</a:t>
            </a:r>
            <a:endParaRPr lang="en-US" sz="1050" dirty="0"/>
          </a:p>
        </p:txBody>
      </p:sp>
      <p:sp>
        <p:nvSpPr>
          <p:cNvPr id="30" name="Shape 28"/>
          <p:cNvSpPr/>
          <p:nvPr/>
        </p:nvSpPr>
        <p:spPr>
          <a:xfrm>
            <a:off x="8046720" y="5715000"/>
            <a:ext cx="2926080" cy="347472"/>
          </a:xfrm>
          <a:prstGeom prst="roundRect">
            <a:avLst>
              <a:gd name="adj" fmla="val 21053"/>
            </a:avLst>
          </a:prstGeom>
          <a:solidFill>
            <a:srgbClr val="A78BFA">
              <a:alpha val="92000"/>
            </a:srgbClr>
          </a:solidFill>
          <a:ln w="12700">
            <a:solidFill>
              <a:srgbClr val="A78BFA">
                <a:alpha val="80000"/>
              </a:srgbClr>
            </a:solidFill>
            <a:prstDash val="solid"/>
          </a:ln>
        </p:spPr>
      </p:sp>
      <p:sp>
        <p:nvSpPr>
          <p:cNvPr id="31" name="Text 29"/>
          <p:cNvSpPr/>
          <p:nvPr/>
        </p:nvSpPr>
        <p:spPr>
          <a:xfrm>
            <a:off x="8138160" y="5801868"/>
            <a:ext cx="2743200" cy="155448"/>
          </a:xfrm>
          <a:prstGeom prst="rect">
            <a:avLst/>
          </a:prstGeom>
          <a:noFill/>
          <a:ln/>
        </p:spPr>
        <p:txBody>
          <a:bodyPr wrap="square" lIns="0" tIns="0" rIns="0" bIns="0" rtlCol="0" anchor="ctr"/>
          <a:lstStyle/>
          <a:p>
            <a:pPr algn="ctr" indent="0" marL="0">
              <a:buNone/>
            </a:pPr>
            <a:r>
              <a:rPr lang="en-US" sz="1050" b="1" dirty="0">
                <a:solidFill>
                  <a:srgbClr val="F7FAFC"/>
                </a:solidFill>
              </a:rPr>
              <a:t>V1 is easy to test and explain</a:t>
            </a:r>
            <a:endParaRPr lang="en-US" sz="1050" dirty="0"/>
          </a:p>
        </p:txBody>
      </p:sp>
      <p:sp>
        <p:nvSpPr>
          <p:cNvPr id="33" name="Text 30"/>
          <p:cNvSpPr/>
          <p:nvPr/>
        </p:nvSpPr>
        <p:spPr>
          <a:xfrm>
            <a:off x="11777472"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2"/>
          </a:solidFill>
          <a:ln w="12700">
            <a:solidFill>
              <a:srgbClr val="0B0F12">
                <a:alpha val="0"/>
              </a:srgbClr>
            </a:solidFill>
            <a:prstDash val="solid"/>
          </a:ln>
        </p:spPr>
      </p:sp>
      <p:sp>
        <p:nvSpPr>
          <p:cNvPr id="3" name="Shape 1"/>
          <p:cNvSpPr/>
          <p:nvPr/>
        </p:nvSpPr>
        <p:spPr>
          <a:xfrm>
            <a:off x="0" y="0"/>
            <a:ext cx="109728" cy="6858000"/>
          </a:xfrm>
          <a:prstGeom prst="rect">
            <a:avLst/>
          </a:prstGeom>
          <a:solidFill>
            <a:srgbClr val="76B900"/>
          </a:solidFill>
          <a:ln w="12700">
            <a:solidFill>
              <a:srgbClr val="76B900"/>
            </a:solidFill>
            <a:prstDash val="solid"/>
          </a:ln>
        </p:spPr>
      </p:sp>
      <p:sp>
        <p:nvSpPr>
          <p:cNvPr id="4" name="Shape 2"/>
          <p:cNvSpPr/>
          <p:nvPr/>
        </p:nvSpPr>
        <p:spPr>
          <a:xfrm>
            <a:off x="146304" y="0"/>
            <a:ext cx="12045391" cy="73152"/>
          </a:xfrm>
          <a:prstGeom prst="rect">
            <a:avLst/>
          </a:prstGeom>
          <a:solidFill>
            <a:srgbClr val="76B900">
              <a:alpha val="85000"/>
            </a:srgbClr>
          </a:solidFill>
          <a:ln w="12700">
            <a:solidFill>
              <a:srgbClr val="76B900">
                <a:alpha val="0"/>
              </a:srgbClr>
            </a:solidFill>
            <a:prstDash val="solid"/>
          </a:ln>
        </p:spPr>
      </p:sp>
      <p:sp>
        <p:nvSpPr>
          <p:cNvPr id="5" name="Text 3"/>
          <p:cNvSpPr/>
          <p:nvPr/>
        </p:nvSpPr>
        <p:spPr>
          <a:xfrm>
            <a:off x="438912" y="256032"/>
            <a:ext cx="9692640" cy="384048"/>
          </a:xfrm>
          <a:prstGeom prst="rect">
            <a:avLst/>
          </a:prstGeom>
          <a:noFill/>
          <a:ln/>
        </p:spPr>
        <p:txBody>
          <a:bodyPr wrap="square" lIns="0" tIns="0" rIns="0" bIns="0" rtlCol="0" anchor="ctr"/>
          <a:lstStyle/>
          <a:p>
            <a:pPr indent="0" marL="0">
              <a:buNone/>
            </a:pPr>
            <a:r>
              <a:rPr lang="en-US" sz="2500" b="1" dirty="0">
                <a:solidFill>
                  <a:srgbClr val="F7FAFC"/>
                </a:solidFill>
                <a:latin typeface="Aptos Display" pitchFamily="34" charset="0"/>
                <a:ea typeface="Aptos Display" pitchFamily="34" charset="-122"/>
                <a:cs typeface="Aptos Display" pitchFamily="34" charset="-120"/>
              </a:rPr>
              <a:t>CUDA Thread Mapping</a:t>
            </a:r>
            <a:endParaRPr lang="en-US" sz="2500" dirty="0"/>
          </a:p>
        </p:txBody>
      </p:sp>
      <p:sp>
        <p:nvSpPr>
          <p:cNvPr id="6" name="Text 4"/>
          <p:cNvSpPr/>
          <p:nvPr/>
        </p:nvSpPr>
        <p:spPr>
          <a:xfrm>
            <a:off x="438912" y="658368"/>
            <a:ext cx="8686800" cy="256032"/>
          </a:xfrm>
          <a:prstGeom prst="rect">
            <a:avLst/>
          </a:prstGeom>
          <a:noFill/>
          <a:ln/>
        </p:spPr>
        <p:txBody>
          <a:bodyPr wrap="square" lIns="0" tIns="0" rIns="0" bIns="0" rtlCol="0" anchor="ctr"/>
          <a:lstStyle/>
          <a:p>
            <a:pPr indent="0" marL="0">
              <a:buNone/>
            </a:pPr>
            <a:r>
              <a:rPr lang="en-US" sz="1050" dirty="0">
                <a:solidFill>
                  <a:srgbClr val="B7C0C9"/>
                </a:solidFill>
              </a:rPr>
              <a:t>One thread computes one cell of the IoU matrix</a:t>
            </a:r>
            <a:endParaRPr lang="en-US" sz="1050" dirty="0"/>
          </a:p>
        </p:txBody>
      </p:sp>
      <p:sp>
        <p:nvSpPr>
          <p:cNvPr id="7" name="Text 5"/>
          <p:cNvSpPr/>
          <p:nvPr/>
        </p:nvSpPr>
        <p:spPr>
          <a:xfrm>
            <a:off x="9738360" y="6446520"/>
            <a:ext cx="1965960" cy="201168"/>
          </a:xfrm>
          <a:prstGeom prst="rect">
            <a:avLst/>
          </a:prstGeom>
          <a:noFill/>
          <a:ln/>
        </p:spPr>
        <p:txBody>
          <a:bodyPr wrap="square" lIns="0" tIns="0" rIns="0" bIns="0" rtlCol="0" anchor="ctr"/>
          <a:lstStyle/>
          <a:p>
            <a:pPr algn="r" indent="0" marL="0">
              <a:buNone/>
            </a:pPr>
            <a:r>
              <a:rPr lang="en-US" sz="850" dirty="0">
                <a:solidFill>
                  <a:srgbClr val="6B7280"/>
                </a:solidFill>
              </a:rPr>
              <a:t>CUDA NMS · Seminar 2</a:t>
            </a:r>
            <a:endParaRPr lang="en-US" sz="850" dirty="0"/>
          </a:p>
        </p:txBody>
      </p:sp>
      <p:sp>
        <p:nvSpPr>
          <p:cNvPr id="8" name="Text 6"/>
          <p:cNvSpPr/>
          <p:nvPr/>
        </p:nvSpPr>
        <p:spPr>
          <a:xfrm>
            <a:off x="3291840" y="941832"/>
            <a:ext cx="1828800" cy="201168"/>
          </a:xfrm>
          <a:prstGeom prst="rect">
            <a:avLst/>
          </a:prstGeom>
          <a:noFill/>
          <a:ln/>
        </p:spPr>
        <p:txBody>
          <a:bodyPr wrap="square" lIns="0" tIns="0" rIns="0" bIns="0" rtlCol="0" anchor="ctr"/>
          <a:lstStyle/>
          <a:p>
            <a:pPr algn="ctr" indent="0" marL="0">
              <a:buNone/>
            </a:pPr>
            <a:r>
              <a:rPr lang="en-US" sz="1300" b="1" dirty="0">
                <a:solidFill>
                  <a:srgbClr val="B7C0C9"/>
                </a:solidFill>
              </a:rPr>
              <a:t>Box_j</a:t>
            </a:r>
            <a:endParaRPr lang="en-US" sz="1300" dirty="0"/>
          </a:p>
        </p:txBody>
      </p:sp>
      <p:sp>
        <p:nvSpPr>
          <p:cNvPr id="9" name="Text 7"/>
          <p:cNvSpPr/>
          <p:nvPr/>
        </p:nvSpPr>
        <p:spPr>
          <a:xfrm rot="16200000">
            <a:off x="1024128" y="2670048"/>
            <a:ext cx="731520" cy="201168"/>
          </a:xfrm>
          <a:prstGeom prst="rect">
            <a:avLst/>
          </a:prstGeom>
          <a:noFill/>
          <a:ln/>
        </p:spPr>
        <p:txBody>
          <a:bodyPr wrap="square" lIns="0" tIns="0" rIns="0" bIns="0" rtlCol="0" anchor="ctr"/>
          <a:lstStyle/>
          <a:p>
            <a:pPr algn="ctr" indent="0" marL="0">
              <a:buNone/>
            </a:pPr>
            <a:r>
              <a:rPr lang="en-US" sz="1300" b="1" dirty="0">
                <a:solidFill>
                  <a:srgbClr val="B7C0C9"/>
                </a:solidFill>
              </a:rPr>
              <a:t>Box_i</a:t>
            </a:r>
            <a:endParaRPr lang="en-US" sz="1300" dirty="0"/>
          </a:p>
        </p:txBody>
      </p:sp>
      <p:sp>
        <p:nvSpPr>
          <p:cNvPr id="10" name="Shape 8"/>
          <p:cNvSpPr/>
          <p:nvPr/>
        </p:nvSpPr>
        <p:spPr>
          <a:xfrm>
            <a:off x="1965960" y="1188720"/>
            <a:ext cx="384048" cy="384048"/>
          </a:xfrm>
          <a:prstGeom prst="roundRect">
            <a:avLst>
              <a:gd name="adj" fmla="val 11905"/>
            </a:avLst>
          </a:prstGeom>
          <a:solidFill>
            <a:srgbClr val="76B900"/>
          </a:solidFill>
          <a:ln w="12700">
            <a:solidFill>
              <a:srgbClr val="334155">
                <a:alpha val="75000"/>
              </a:srgbClr>
            </a:solidFill>
            <a:prstDash val="solid"/>
          </a:ln>
        </p:spPr>
      </p:sp>
      <p:sp>
        <p:nvSpPr>
          <p:cNvPr id="11" name="Shape 9"/>
          <p:cNvSpPr/>
          <p:nvPr/>
        </p:nvSpPr>
        <p:spPr>
          <a:xfrm>
            <a:off x="2441448" y="1188720"/>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12" name="Shape 10"/>
          <p:cNvSpPr/>
          <p:nvPr/>
        </p:nvSpPr>
        <p:spPr>
          <a:xfrm>
            <a:off x="2916936" y="1188720"/>
            <a:ext cx="384048" cy="384048"/>
          </a:xfrm>
          <a:prstGeom prst="roundRect">
            <a:avLst>
              <a:gd name="adj" fmla="val 11905"/>
            </a:avLst>
          </a:prstGeom>
          <a:solidFill>
            <a:srgbClr val="202B36">
              <a:alpha val="92000"/>
            </a:srgbClr>
          </a:solidFill>
          <a:ln w="12700">
            <a:solidFill>
              <a:srgbClr val="334155">
                <a:alpha val="75000"/>
              </a:srgbClr>
            </a:solidFill>
            <a:prstDash val="solid"/>
          </a:ln>
        </p:spPr>
      </p:sp>
      <p:sp>
        <p:nvSpPr>
          <p:cNvPr id="13" name="Shape 11"/>
          <p:cNvSpPr/>
          <p:nvPr/>
        </p:nvSpPr>
        <p:spPr>
          <a:xfrm>
            <a:off x="3392424" y="1188720"/>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14" name="Shape 12"/>
          <p:cNvSpPr/>
          <p:nvPr/>
        </p:nvSpPr>
        <p:spPr>
          <a:xfrm>
            <a:off x="3867912" y="1188720"/>
            <a:ext cx="384048" cy="384048"/>
          </a:xfrm>
          <a:prstGeom prst="roundRect">
            <a:avLst>
              <a:gd name="adj" fmla="val 11905"/>
            </a:avLst>
          </a:prstGeom>
          <a:solidFill>
            <a:srgbClr val="202B36">
              <a:alpha val="92000"/>
            </a:srgbClr>
          </a:solidFill>
          <a:ln w="12700">
            <a:solidFill>
              <a:srgbClr val="334155">
                <a:alpha val="75000"/>
              </a:srgbClr>
            </a:solidFill>
            <a:prstDash val="solid"/>
          </a:ln>
        </p:spPr>
      </p:sp>
      <p:sp>
        <p:nvSpPr>
          <p:cNvPr id="15" name="Shape 13"/>
          <p:cNvSpPr/>
          <p:nvPr/>
        </p:nvSpPr>
        <p:spPr>
          <a:xfrm>
            <a:off x="4343400" y="1188720"/>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16" name="Shape 14"/>
          <p:cNvSpPr/>
          <p:nvPr/>
        </p:nvSpPr>
        <p:spPr>
          <a:xfrm>
            <a:off x="4818888" y="1188720"/>
            <a:ext cx="384048" cy="384048"/>
          </a:xfrm>
          <a:prstGeom prst="roundRect">
            <a:avLst>
              <a:gd name="adj" fmla="val 11905"/>
            </a:avLst>
          </a:prstGeom>
          <a:solidFill>
            <a:srgbClr val="202B36">
              <a:alpha val="92000"/>
            </a:srgbClr>
          </a:solidFill>
          <a:ln w="12700">
            <a:solidFill>
              <a:srgbClr val="334155">
                <a:alpha val="75000"/>
              </a:srgbClr>
            </a:solidFill>
            <a:prstDash val="solid"/>
          </a:ln>
        </p:spPr>
      </p:sp>
      <p:sp>
        <p:nvSpPr>
          <p:cNvPr id="17" name="Shape 15"/>
          <p:cNvSpPr/>
          <p:nvPr/>
        </p:nvSpPr>
        <p:spPr>
          <a:xfrm>
            <a:off x="1965960" y="1664208"/>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18" name="Shape 16"/>
          <p:cNvSpPr/>
          <p:nvPr/>
        </p:nvSpPr>
        <p:spPr>
          <a:xfrm>
            <a:off x="2441448" y="1664208"/>
            <a:ext cx="384048" cy="384048"/>
          </a:xfrm>
          <a:prstGeom prst="roundRect">
            <a:avLst>
              <a:gd name="adj" fmla="val 11905"/>
            </a:avLst>
          </a:prstGeom>
          <a:solidFill>
            <a:srgbClr val="76B900"/>
          </a:solidFill>
          <a:ln w="12700">
            <a:solidFill>
              <a:srgbClr val="334155">
                <a:alpha val="75000"/>
              </a:srgbClr>
            </a:solidFill>
            <a:prstDash val="solid"/>
          </a:ln>
        </p:spPr>
      </p:sp>
      <p:sp>
        <p:nvSpPr>
          <p:cNvPr id="19" name="Shape 17"/>
          <p:cNvSpPr/>
          <p:nvPr/>
        </p:nvSpPr>
        <p:spPr>
          <a:xfrm>
            <a:off x="2916936" y="1664208"/>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20" name="Shape 18"/>
          <p:cNvSpPr/>
          <p:nvPr/>
        </p:nvSpPr>
        <p:spPr>
          <a:xfrm>
            <a:off x="3392424" y="1664208"/>
            <a:ext cx="384048" cy="384048"/>
          </a:xfrm>
          <a:prstGeom prst="roundRect">
            <a:avLst>
              <a:gd name="adj" fmla="val 11905"/>
            </a:avLst>
          </a:prstGeom>
          <a:solidFill>
            <a:srgbClr val="202B36">
              <a:alpha val="92000"/>
            </a:srgbClr>
          </a:solidFill>
          <a:ln w="12700">
            <a:solidFill>
              <a:srgbClr val="334155">
                <a:alpha val="75000"/>
              </a:srgbClr>
            </a:solidFill>
            <a:prstDash val="solid"/>
          </a:ln>
        </p:spPr>
      </p:sp>
      <p:sp>
        <p:nvSpPr>
          <p:cNvPr id="21" name="Shape 19"/>
          <p:cNvSpPr/>
          <p:nvPr/>
        </p:nvSpPr>
        <p:spPr>
          <a:xfrm>
            <a:off x="3867912" y="1664208"/>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22" name="Shape 20"/>
          <p:cNvSpPr/>
          <p:nvPr/>
        </p:nvSpPr>
        <p:spPr>
          <a:xfrm>
            <a:off x="4343400" y="1664208"/>
            <a:ext cx="384048" cy="384048"/>
          </a:xfrm>
          <a:prstGeom prst="roundRect">
            <a:avLst>
              <a:gd name="adj" fmla="val 11905"/>
            </a:avLst>
          </a:prstGeom>
          <a:solidFill>
            <a:srgbClr val="202B36">
              <a:alpha val="92000"/>
            </a:srgbClr>
          </a:solidFill>
          <a:ln w="12700">
            <a:solidFill>
              <a:srgbClr val="334155">
                <a:alpha val="75000"/>
              </a:srgbClr>
            </a:solidFill>
            <a:prstDash val="solid"/>
          </a:ln>
        </p:spPr>
      </p:sp>
      <p:sp>
        <p:nvSpPr>
          <p:cNvPr id="23" name="Shape 21"/>
          <p:cNvSpPr/>
          <p:nvPr/>
        </p:nvSpPr>
        <p:spPr>
          <a:xfrm>
            <a:off x="4818888" y="1664208"/>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24" name="Shape 22"/>
          <p:cNvSpPr/>
          <p:nvPr/>
        </p:nvSpPr>
        <p:spPr>
          <a:xfrm>
            <a:off x="1965960" y="2139696"/>
            <a:ext cx="384048" cy="384048"/>
          </a:xfrm>
          <a:prstGeom prst="roundRect">
            <a:avLst>
              <a:gd name="adj" fmla="val 11905"/>
            </a:avLst>
          </a:prstGeom>
          <a:solidFill>
            <a:srgbClr val="202B36">
              <a:alpha val="92000"/>
            </a:srgbClr>
          </a:solidFill>
          <a:ln w="12700">
            <a:solidFill>
              <a:srgbClr val="334155">
                <a:alpha val="75000"/>
              </a:srgbClr>
            </a:solidFill>
            <a:prstDash val="solid"/>
          </a:ln>
        </p:spPr>
      </p:sp>
      <p:sp>
        <p:nvSpPr>
          <p:cNvPr id="25" name="Shape 23"/>
          <p:cNvSpPr/>
          <p:nvPr/>
        </p:nvSpPr>
        <p:spPr>
          <a:xfrm>
            <a:off x="2441448" y="2139696"/>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26" name="Shape 24"/>
          <p:cNvSpPr/>
          <p:nvPr/>
        </p:nvSpPr>
        <p:spPr>
          <a:xfrm>
            <a:off x="2916936" y="2139696"/>
            <a:ext cx="384048" cy="384048"/>
          </a:xfrm>
          <a:prstGeom prst="roundRect">
            <a:avLst>
              <a:gd name="adj" fmla="val 11905"/>
            </a:avLst>
          </a:prstGeom>
          <a:solidFill>
            <a:srgbClr val="76B900"/>
          </a:solidFill>
          <a:ln w="12700">
            <a:solidFill>
              <a:srgbClr val="334155">
                <a:alpha val="75000"/>
              </a:srgbClr>
            </a:solidFill>
            <a:prstDash val="solid"/>
          </a:ln>
        </p:spPr>
      </p:sp>
      <p:sp>
        <p:nvSpPr>
          <p:cNvPr id="27" name="Shape 25"/>
          <p:cNvSpPr/>
          <p:nvPr/>
        </p:nvSpPr>
        <p:spPr>
          <a:xfrm>
            <a:off x="3392424" y="2139696"/>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28" name="Shape 26"/>
          <p:cNvSpPr/>
          <p:nvPr/>
        </p:nvSpPr>
        <p:spPr>
          <a:xfrm>
            <a:off x="3867912" y="2139696"/>
            <a:ext cx="384048" cy="384048"/>
          </a:xfrm>
          <a:prstGeom prst="roundRect">
            <a:avLst>
              <a:gd name="adj" fmla="val 11905"/>
            </a:avLst>
          </a:prstGeom>
          <a:solidFill>
            <a:srgbClr val="202B36">
              <a:alpha val="92000"/>
            </a:srgbClr>
          </a:solidFill>
          <a:ln w="12700">
            <a:solidFill>
              <a:srgbClr val="334155">
                <a:alpha val="75000"/>
              </a:srgbClr>
            </a:solidFill>
            <a:prstDash val="solid"/>
          </a:ln>
        </p:spPr>
      </p:sp>
      <p:sp>
        <p:nvSpPr>
          <p:cNvPr id="29" name="Shape 27"/>
          <p:cNvSpPr/>
          <p:nvPr/>
        </p:nvSpPr>
        <p:spPr>
          <a:xfrm>
            <a:off x="4343400" y="2139696"/>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30" name="Shape 28"/>
          <p:cNvSpPr/>
          <p:nvPr/>
        </p:nvSpPr>
        <p:spPr>
          <a:xfrm>
            <a:off x="4818888" y="2139696"/>
            <a:ext cx="384048" cy="384048"/>
          </a:xfrm>
          <a:prstGeom prst="roundRect">
            <a:avLst>
              <a:gd name="adj" fmla="val 11905"/>
            </a:avLst>
          </a:prstGeom>
          <a:solidFill>
            <a:srgbClr val="202B36">
              <a:alpha val="92000"/>
            </a:srgbClr>
          </a:solidFill>
          <a:ln w="12700">
            <a:solidFill>
              <a:srgbClr val="334155">
                <a:alpha val="75000"/>
              </a:srgbClr>
            </a:solidFill>
            <a:prstDash val="solid"/>
          </a:ln>
        </p:spPr>
      </p:sp>
      <p:sp>
        <p:nvSpPr>
          <p:cNvPr id="31" name="Shape 29"/>
          <p:cNvSpPr/>
          <p:nvPr/>
        </p:nvSpPr>
        <p:spPr>
          <a:xfrm>
            <a:off x="1965960" y="2615184"/>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32" name="Shape 30"/>
          <p:cNvSpPr/>
          <p:nvPr/>
        </p:nvSpPr>
        <p:spPr>
          <a:xfrm>
            <a:off x="2441448" y="2615184"/>
            <a:ext cx="384048" cy="384048"/>
          </a:xfrm>
          <a:prstGeom prst="roundRect">
            <a:avLst>
              <a:gd name="adj" fmla="val 11905"/>
            </a:avLst>
          </a:prstGeom>
          <a:solidFill>
            <a:srgbClr val="202B36">
              <a:alpha val="92000"/>
            </a:srgbClr>
          </a:solidFill>
          <a:ln w="12700">
            <a:solidFill>
              <a:srgbClr val="334155">
                <a:alpha val="75000"/>
              </a:srgbClr>
            </a:solidFill>
            <a:prstDash val="solid"/>
          </a:ln>
        </p:spPr>
      </p:sp>
      <p:sp>
        <p:nvSpPr>
          <p:cNvPr id="33" name="Shape 31"/>
          <p:cNvSpPr/>
          <p:nvPr/>
        </p:nvSpPr>
        <p:spPr>
          <a:xfrm>
            <a:off x="2916936" y="2615184"/>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34" name="Shape 32"/>
          <p:cNvSpPr/>
          <p:nvPr/>
        </p:nvSpPr>
        <p:spPr>
          <a:xfrm>
            <a:off x="3392424" y="2615184"/>
            <a:ext cx="384048" cy="384048"/>
          </a:xfrm>
          <a:prstGeom prst="roundRect">
            <a:avLst>
              <a:gd name="adj" fmla="val 11905"/>
            </a:avLst>
          </a:prstGeom>
          <a:solidFill>
            <a:srgbClr val="76B900"/>
          </a:solidFill>
          <a:ln w="12700">
            <a:solidFill>
              <a:srgbClr val="334155">
                <a:alpha val="75000"/>
              </a:srgbClr>
            </a:solidFill>
            <a:prstDash val="solid"/>
          </a:ln>
        </p:spPr>
      </p:sp>
      <p:sp>
        <p:nvSpPr>
          <p:cNvPr id="35" name="Shape 33"/>
          <p:cNvSpPr/>
          <p:nvPr/>
        </p:nvSpPr>
        <p:spPr>
          <a:xfrm>
            <a:off x="3867912" y="2615184"/>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36" name="Shape 34"/>
          <p:cNvSpPr/>
          <p:nvPr/>
        </p:nvSpPr>
        <p:spPr>
          <a:xfrm>
            <a:off x="4343400" y="2615184"/>
            <a:ext cx="384048" cy="384048"/>
          </a:xfrm>
          <a:prstGeom prst="roundRect">
            <a:avLst>
              <a:gd name="adj" fmla="val 11905"/>
            </a:avLst>
          </a:prstGeom>
          <a:solidFill>
            <a:srgbClr val="202B36">
              <a:alpha val="92000"/>
            </a:srgbClr>
          </a:solidFill>
          <a:ln w="12700">
            <a:solidFill>
              <a:srgbClr val="334155">
                <a:alpha val="75000"/>
              </a:srgbClr>
            </a:solidFill>
            <a:prstDash val="solid"/>
          </a:ln>
        </p:spPr>
      </p:sp>
      <p:sp>
        <p:nvSpPr>
          <p:cNvPr id="37" name="Shape 35"/>
          <p:cNvSpPr/>
          <p:nvPr/>
        </p:nvSpPr>
        <p:spPr>
          <a:xfrm>
            <a:off x="4818888" y="2615184"/>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38" name="Shape 36"/>
          <p:cNvSpPr/>
          <p:nvPr/>
        </p:nvSpPr>
        <p:spPr>
          <a:xfrm>
            <a:off x="1965960" y="3090672"/>
            <a:ext cx="384048" cy="384048"/>
          </a:xfrm>
          <a:prstGeom prst="roundRect">
            <a:avLst>
              <a:gd name="adj" fmla="val 11905"/>
            </a:avLst>
          </a:prstGeom>
          <a:solidFill>
            <a:srgbClr val="202B36">
              <a:alpha val="92000"/>
            </a:srgbClr>
          </a:solidFill>
          <a:ln w="12700">
            <a:solidFill>
              <a:srgbClr val="334155">
                <a:alpha val="75000"/>
              </a:srgbClr>
            </a:solidFill>
            <a:prstDash val="solid"/>
          </a:ln>
        </p:spPr>
      </p:sp>
      <p:sp>
        <p:nvSpPr>
          <p:cNvPr id="39" name="Shape 37"/>
          <p:cNvSpPr/>
          <p:nvPr/>
        </p:nvSpPr>
        <p:spPr>
          <a:xfrm>
            <a:off x="2441448" y="3090672"/>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40" name="Shape 38"/>
          <p:cNvSpPr/>
          <p:nvPr/>
        </p:nvSpPr>
        <p:spPr>
          <a:xfrm>
            <a:off x="2916936" y="3090672"/>
            <a:ext cx="384048" cy="384048"/>
          </a:xfrm>
          <a:prstGeom prst="roundRect">
            <a:avLst>
              <a:gd name="adj" fmla="val 11905"/>
            </a:avLst>
          </a:prstGeom>
          <a:solidFill>
            <a:srgbClr val="202B36">
              <a:alpha val="92000"/>
            </a:srgbClr>
          </a:solidFill>
          <a:ln w="12700">
            <a:solidFill>
              <a:srgbClr val="334155">
                <a:alpha val="75000"/>
              </a:srgbClr>
            </a:solidFill>
            <a:prstDash val="solid"/>
          </a:ln>
        </p:spPr>
      </p:sp>
      <p:sp>
        <p:nvSpPr>
          <p:cNvPr id="41" name="Shape 39"/>
          <p:cNvSpPr/>
          <p:nvPr/>
        </p:nvSpPr>
        <p:spPr>
          <a:xfrm>
            <a:off x="3392424" y="3090672"/>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42" name="Shape 40"/>
          <p:cNvSpPr/>
          <p:nvPr/>
        </p:nvSpPr>
        <p:spPr>
          <a:xfrm>
            <a:off x="3867912" y="3090672"/>
            <a:ext cx="384048" cy="384048"/>
          </a:xfrm>
          <a:prstGeom prst="roundRect">
            <a:avLst>
              <a:gd name="adj" fmla="val 11905"/>
            </a:avLst>
          </a:prstGeom>
          <a:solidFill>
            <a:srgbClr val="76B900"/>
          </a:solidFill>
          <a:ln w="12700">
            <a:solidFill>
              <a:srgbClr val="334155">
                <a:alpha val="75000"/>
              </a:srgbClr>
            </a:solidFill>
            <a:prstDash val="solid"/>
          </a:ln>
        </p:spPr>
      </p:sp>
      <p:sp>
        <p:nvSpPr>
          <p:cNvPr id="43" name="Shape 41"/>
          <p:cNvSpPr/>
          <p:nvPr/>
        </p:nvSpPr>
        <p:spPr>
          <a:xfrm>
            <a:off x="4343400" y="3090672"/>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44" name="Shape 42"/>
          <p:cNvSpPr/>
          <p:nvPr/>
        </p:nvSpPr>
        <p:spPr>
          <a:xfrm>
            <a:off x="4818888" y="3090672"/>
            <a:ext cx="384048" cy="384048"/>
          </a:xfrm>
          <a:prstGeom prst="roundRect">
            <a:avLst>
              <a:gd name="adj" fmla="val 11905"/>
            </a:avLst>
          </a:prstGeom>
          <a:solidFill>
            <a:srgbClr val="202B36">
              <a:alpha val="92000"/>
            </a:srgbClr>
          </a:solidFill>
          <a:ln w="12700">
            <a:solidFill>
              <a:srgbClr val="334155">
                <a:alpha val="75000"/>
              </a:srgbClr>
            </a:solidFill>
            <a:prstDash val="solid"/>
          </a:ln>
        </p:spPr>
      </p:sp>
      <p:sp>
        <p:nvSpPr>
          <p:cNvPr id="45" name="Shape 43"/>
          <p:cNvSpPr/>
          <p:nvPr/>
        </p:nvSpPr>
        <p:spPr>
          <a:xfrm>
            <a:off x="1965960" y="3566160"/>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46" name="Shape 44"/>
          <p:cNvSpPr/>
          <p:nvPr/>
        </p:nvSpPr>
        <p:spPr>
          <a:xfrm>
            <a:off x="2441448" y="3566160"/>
            <a:ext cx="384048" cy="384048"/>
          </a:xfrm>
          <a:prstGeom prst="roundRect">
            <a:avLst>
              <a:gd name="adj" fmla="val 11905"/>
            </a:avLst>
          </a:prstGeom>
          <a:solidFill>
            <a:srgbClr val="202B36">
              <a:alpha val="92000"/>
            </a:srgbClr>
          </a:solidFill>
          <a:ln w="12700">
            <a:solidFill>
              <a:srgbClr val="334155">
                <a:alpha val="75000"/>
              </a:srgbClr>
            </a:solidFill>
            <a:prstDash val="solid"/>
          </a:ln>
        </p:spPr>
      </p:sp>
      <p:sp>
        <p:nvSpPr>
          <p:cNvPr id="47" name="Shape 45"/>
          <p:cNvSpPr/>
          <p:nvPr/>
        </p:nvSpPr>
        <p:spPr>
          <a:xfrm>
            <a:off x="2916936" y="3566160"/>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48" name="Shape 46"/>
          <p:cNvSpPr/>
          <p:nvPr/>
        </p:nvSpPr>
        <p:spPr>
          <a:xfrm>
            <a:off x="3392424" y="3566160"/>
            <a:ext cx="384048" cy="384048"/>
          </a:xfrm>
          <a:prstGeom prst="roundRect">
            <a:avLst>
              <a:gd name="adj" fmla="val 11905"/>
            </a:avLst>
          </a:prstGeom>
          <a:solidFill>
            <a:srgbClr val="202B36">
              <a:alpha val="92000"/>
            </a:srgbClr>
          </a:solidFill>
          <a:ln w="12700">
            <a:solidFill>
              <a:srgbClr val="334155">
                <a:alpha val="75000"/>
              </a:srgbClr>
            </a:solidFill>
            <a:prstDash val="solid"/>
          </a:ln>
        </p:spPr>
      </p:sp>
      <p:sp>
        <p:nvSpPr>
          <p:cNvPr id="49" name="Shape 47"/>
          <p:cNvSpPr/>
          <p:nvPr/>
        </p:nvSpPr>
        <p:spPr>
          <a:xfrm>
            <a:off x="3867912" y="3566160"/>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50" name="Shape 48"/>
          <p:cNvSpPr/>
          <p:nvPr/>
        </p:nvSpPr>
        <p:spPr>
          <a:xfrm>
            <a:off x="4343400" y="3566160"/>
            <a:ext cx="384048" cy="384048"/>
          </a:xfrm>
          <a:prstGeom prst="roundRect">
            <a:avLst>
              <a:gd name="adj" fmla="val 11905"/>
            </a:avLst>
          </a:prstGeom>
          <a:solidFill>
            <a:srgbClr val="76B900"/>
          </a:solidFill>
          <a:ln w="12700">
            <a:solidFill>
              <a:srgbClr val="334155">
                <a:alpha val="75000"/>
              </a:srgbClr>
            </a:solidFill>
            <a:prstDash val="solid"/>
          </a:ln>
        </p:spPr>
      </p:sp>
      <p:sp>
        <p:nvSpPr>
          <p:cNvPr id="51" name="Shape 49"/>
          <p:cNvSpPr/>
          <p:nvPr/>
        </p:nvSpPr>
        <p:spPr>
          <a:xfrm>
            <a:off x="4818888" y="3566160"/>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52" name="Shape 50"/>
          <p:cNvSpPr/>
          <p:nvPr/>
        </p:nvSpPr>
        <p:spPr>
          <a:xfrm>
            <a:off x="1965960" y="4041648"/>
            <a:ext cx="384048" cy="384048"/>
          </a:xfrm>
          <a:prstGeom prst="roundRect">
            <a:avLst>
              <a:gd name="adj" fmla="val 11905"/>
            </a:avLst>
          </a:prstGeom>
          <a:solidFill>
            <a:srgbClr val="202B36">
              <a:alpha val="92000"/>
            </a:srgbClr>
          </a:solidFill>
          <a:ln w="12700">
            <a:solidFill>
              <a:srgbClr val="334155">
                <a:alpha val="75000"/>
              </a:srgbClr>
            </a:solidFill>
            <a:prstDash val="solid"/>
          </a:ln>
        </p:spPr>
      </p:sp>
      <p:sp>
        <p:nvSpPr>
          <p:cNvPr id="53" name="Shape 51"/>
          <p:cNvSpPr/>
          <p:nvPr/>
        </p:nvSpPr>
        <p:spPr>
          <a:xfrm>
            <a:off x="2441448" y="4041648"/>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54" name="Shape 52"/>
          <p:cNvSpPr/>
          <p:nvPr/>
        </p:nvSpPr>
        <p:spPr>
          <a:xfrm>
            <a:off x="2916936" y="4041648"/>
            <a:ext cx="384048" cy="384048"/>
          </a:xfrm>
          <a:prstGeom prst="roundRect">
            <a:avLst>
              <a:gd name="adj" fmla="val 11905"/>
            </a:avLst>
          </a:prstGeom>
          <a:solidFill>
            <a:srgbClr val="202B36">
              <a:alpha val="92000"/>
            </a:srgbClr>
          </a:solidFill>
          <a:ln w="12700">
            <a:solidFill>
              <a:srgbClr val="334155">
                <a:alpha val="75000"/>
              </a:srgbClr>
            </a:solidFill>
            <a:prstDash val="solid"/>
          </a:ln>
        </p:spPr>
      </p:sp>
      <p:sp>
        <p:nvSpPr>
          <p:cNvPr id="55" name="Shape 53"/>
          <p:cNvSpPr/>
          <p:nvPr/>
        </p:nvSpPr>
        <p:spPr>
          <a:xfrm>
            <a:off x="3392424" y="4041648"/>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56" name="Shape 54"/>
          <p:cNvSpPr/>
          <p:nvPr/>
        </p:nvSpPr>
        <p:spPr>
          <a:xfrm>
            <a:off x="3867912" y="4041648"/>
            <a:ext cx="384048" cy="384048"/>
          </a:xfrm>
          <a:prstGeom prst="roundRect">
            <a:avLst>
              <a:gd name="adj" fmla="val 11905"/>
            </a:avLst>
          </a:prstGeom>
          <a:solidFill>
            <a:srgbClr val="202B36">
              <a:alpha val="92000"/>
            </a:srgbClr>
          </a:solidFill>
          <a:ln w="12700">
            <a:solidFill>
              <a:srgbClr val="334155">
                <a:alpha val="75000"/>
              </a:srgbClr>
            </a:solidFill>
            <a:prstDash val="solid"/>
          </a:ln>
        </p:spPr>
      </p:sp>
      <p:sp>
        <p:nvSpPr>
          <p:cNvPr id="57" name="Shape 55"/>
          <p:cNvSpPr/>
          <p:nvPr/>
        </p:nvSpPr>
        <p:spPr>
          <a:xfrm>
            <a:off x="4343400" y="4041648"/>
            <a:ext cx="384048" cy="384048"/>
          </a:xfrm>
          <a:prstGeom prst="roundRect">
            <a:avLst>
              <a:gd name="adj" fmla="val 11905"/>
            </a:avLst>
          </a:prstGeom>
          <a:solidFill>
            <a:srgbClr val="16202A">
              <a:alpha val="92000"/>
            </a:srgbClr>
          </a:solidFill>
          <a:ln w="12700">
            <a:solidFill>
              <a:srgbClr val="334155">
                <a:alpha val="75000"/>
              </a:srgbClr>
            </a:solidFill>
            <a:prstDash val="solid"/>
          </a:ln>
        </p:spPr>
      </p:sp>
      <p:sp>
        <p:nvSpPr>
          <p:cNvPr id="58" name="Shape 56"/>
          <p:cNvSpPr/>
          <p:nvPr/>
        </p:nvSpPr>
        <p:spPr>
          <a:xfrm>
            <a:off x="4818888" y="4041648"/>
            <a:ext cx="384048" cy="384048"/>
          </a:xfrm>
          <a:prstGeom prst="roundRect">
            <a:avLst>
              <a:gd name="adj" fmla="val 11905"/>
            </a:avLst>
          </a:prstGeom>
          <a:solidFill>
            <a:srgbClr val="76B900"/>
          </a:solidFill>
          <a:ln w="12700">
            <a:solidFill>
              <a:srgbClr val="334155">
                <a:alpha val="75000"/>
              </a:srgbClr>
            </a:solidFill>
            <a:prstDash val="solid"/>
          </a:ln>
        </p:spPr>
      </p:sp>
      <p:sp>
        <p:nvSpPr>
          <p:cNvPr id="59" name="Shape 57"/>
          <p:cNvSpPr/>
          <p:nvPr/>
        </p:nvSpPr>
        <p:spPr>
          <a:xfrm>
            <a:off x="6400800" y="1572768"/>
            <a:ext cx="3291840" cy="1143000"/>
          </a:xfrm>
          <a:prstGeom prst="roundRect">
            <a:avLst>
              <a:gd name="adj" fmla="val 9600"/>
            </a:avLst>
          </a:prstGeom>
          <a:solidFill>
            <a:srgbClr val="76B900"/>
          </a:solidFill>
          <a:ln w="12700">
            <a:solidFill>
              <a:srgbClr val="334155"/>
            </a:solidFill>
            <a:prstDash val="solid"/>
          </a:ln>
        </p:spPr>
      </p:sp>
      <p:sp>
        <p:nvSpPr>
          <p:cNvPr id="60" name="Text 58"/>
          <p:cNvSpPr/>
          <p:nvPr/>
        </p:nvSpPr>
        <p:spPr>
          <a:xfrm>
            <a:off x="6510528" y="1682496"/>
            <a:ext cx="3072384" cy="923544"/>
          </a:xfrm>
          <a:prstGeom prst="rect">
            <a:avLst/>
          </a:prstGeom>
          <a:noFill/>
          <a:ln/>
        </p:spPr>
        <p:txBody>
          <a:bodyPr wrap="square" lIns="254" tIns="254" rIns="254" bIns="254" rtlCol="0" anchor="ctr">
            <a:normAutofit/>
          </a:bodyPr>
          <a:lstStyle/>
          <a:p>
            <a:pPr algn="ctr" indent="0" marL="0">
              <a:buNone/>
            </a:pPr>
            <a:r>
              <a:rPr lang="en-US" sz="1800" b="1" dirty="0">
                <a:solidFill>
                  <a:srgbClr val="0B0F12"/>
                </a:solidFill>
              </a:rPr>
              <a:t>Thread(i, j)</a:t>
            </a:r>
            <a:endParaRPr lang="en-US" sz="1800" dirty="0"/>
          </a:p>
          <a:p>
            <a:pPr algn="ctr" indent="0" marL="0">
              <a:buNone/>
            </a:pPr>
            <a:r>
              <a:rPr lang="en-US" sz="1800" b="1" dirty="0">
                <a:solidFill>
                  <a:srgbClr val="0B0F12"/>
                </a:solidFill>
              </a:rPr>
              <a:t>→</a:t>
            </a:r>
            <a:endParaRPr lang="en-US" sz="1800" dirty="0"/>
          </a:p>
          <a:p>
            <a:pPr algn="ctr" indent="0" marL="0">
              <a:buNone/>
            </a:pPr>
            <a:r>
              <a:rPr lang="en-US" sz="1800" b="1" dirty="0">
                <a:solidFill>
                  <a:srgbClr val="0B0F12"/>
                </a:solidFill>
              </a:rPr>
              <a:t>IoU(Box_i, Box_j)</a:t>
            </a:r>
            <a:endParaRPr lang="en-US" sz="1800" dirty="0"/>
          </a:p>
        </p:txBody>
      </p:sp>
      <p:sp>
        <p:nvSpPr>
          <p:cNvPr id="61" name="Shape 59"/>
          <p:cNvSpPr/>
          <p:nvPr/>
        </p:nvSpPr>
        <p:spPr>
          <a:xfrm>
            <a:off x="5989320" y="3383280"/>
            <a:ext cx="4023360" cy="749808"/>
          </a:xfrm>
          <a:prstGeom prst="roundRect">
            <a:avLst>
              <a:gd name="adj" fmla="val 12195"/>
            </a:avLst>
          </a:prstGeom>
          <a:solidFill>
            <a:srgbClr val="0F1720"/>
          </a:solidFill>
          <a:ln w="12700">
            <a:solidFill>
              <a:srgbClr val="76B900">
                <a:alpha val="70000"/>
              </a:srgbClr>
            </a:solidFill>
            <a:prstDash val="solid"/>
          </a:ln>
        </p:spPr>
      </p:sp>
      <p:sp>
        <p:nvSpPr>
          <p:cNvPr id="62" name="Text 60"/>
          <p:cNvSpPr/>
          <p:nvPr/>
        </p:nvSpPr>
        <p:spPr>
          <a:xfrm>
            <a:off x="6099048" y="3529584"/>
            <a:ext cx="3803904" cy="530352"/>
          </a:xfrm>
          <a:prstGeom prst="rect">
            <a:avLst/>
          </a:prstGeom>
          <a:noFill/>
          <a:ln/>
        </p:spPr>
        <p:txBody>
          <a:bodyPr wrap="square" lIns="0" tIns="0" rIns="0" bIns="0" rtlCol="0" anchor="ctr">
            <a:normAutofit/>
          </a:bodyPr>
          <a:lstStyle/>
          <a:p>
            <a:pPr algn="ctr" indent="0" marL="0">
              <a:buNone/>
            </a:pPr>
            <a:r>
              <a:rPr lang="en-US" sz="1700" b="1" dirty="0">
                <a:solidFill>
                  <a:srgbClr val="F7FAFC"/>
                </a:solidFill>
              </a:rPr>
              <a:t>cuda.grid(2) gives each thread coordinates (i, j)</a:t>
            </a:r>
            <a:endParaRPr lang="en-US" sz="1700" dirty="0"/>
          </a:p>
        </p:txBody>
      </p:sp>
      <p:sp>
        <p:nvSpPr>
          <p:cNvPr id="63" name="Text 61"/>
          <p:cNvSpPr/>
          <p:nvPr/>
        </p:nvSpPr>
        <p:spPr>
          <a:xfrm>
            <a:off x="6126480" y="4480560"/>
            <a:ext cx="3749040" cy="960120"/>
          </a:xfrm>
          <a:prstGeom prst="rect">
            <a:avLst/>
          </a:prstGeom>
          <a:noFill/>
          <a:ln/>
        </p:spPr>
        <p:txBody>
          <a:bodyPr wrap="square" lIns="381" tIns="381" rIns="381" bIns="381" rtlCol="0" anchor="t">
            <a:normAutofit/>
          </a:bodyPr>
          <a:lstStyle/>
          <a:p>
            <a:r>
              <a:rPr lang="en-US" sz="1300" dirty="0">
                <a:solidFill>
                  <a:srgbClr val="F7FAFC"/>
                </a:solidFill>
              </a:rPr>
              <a:t>Grid is 2D because the output is a matrix.</a:t>
            </a:r>
            <a:endParaRPr lang="en-US" sz="1300" dirty="0"/>
          </a:p>
          <a:p>
            <a:r>
              <a:rPr lang="en-US" sz="1300" dirty="0">
                <a:solidFill>
                  <a:srgbClr val="F7FAFC"/>
                </a:solidFill>
              </a:rPr>
              <a:t>Boundary check handles extra threads.</a:t>
            </a:r>
            <a:endParaRPr lang="en-US" sz="1300" dirty="0"/>
          </a:p>
          <a:p>
            <a:r>
              <a:rPr lang="en-US" sz="1300" dirty="0">
                <a:solidFill>
                  <a:srgbClr val="F7FAFC"/>
                </a:solidFill>
              </a:rPr>
              <a:t>Threads write independent locations: iou_out[i, j].</a:t>
            </a:r>
            <a:endParaRPr lang="en-US" sz="1300" dirty="0"/>
          </a:p>
        </p:txBody>
      </p:sp>
      <p:sp>
        <p:nvSpPr>
          <p:cNvPr id="65" name="Text 62"/>
          <p:cNvSpPr/>
          <p:nvPr/>
        </p:nvSpPr>
        <p:spPr>
          <a:xfrm>
            <a:off x="11777472"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2"/>
          </a:solidFill>
          <a:ln w="12700">
            <a:solidFill>
              <a:srgbClr val="0B0F12">
                <a:alpha val="0"/>
              </a:srgbClr>
            </a:solidFill>
            <a:prstDash val="solid"/>
          </a:ln>
        </p:spPr>
      </p:sp>
      <p:sp>
        <p:nvSpPr>
          <p:cNvPr id="3" name="Shape 1"/>
          <p:cNvSpPr/>
          <p:nvPr/>
        </p:nvSpPr>
        <p:spPr>
          <a:xfrm>
            <a:off x="0" y="0"/>
            <a:ext cx="109728" cy="6858000"/>
          </a:xfrm>
          <a:prstGeom prst="rect">
            <a:avLst/>
          </a:prstGeom>
          <a:solidFill>
            <a:srgbClr val="76B900"/>
          </a:solidFill>
          <a:ln w="12700">
            <a:solidFill>
              <a:srgbClr val="76B900"/>
            </a:solidFill>
            <a:prstDash val="solid"/>
          </a:ln>
        </p:spPr>
      </p:sp>
      <p:sp>
        <p:nvSpPr>
          <p:cNvPr id="4" name="Shape 2"/>
          <p:cNvSpPr/>
          <p:nvPr/>
        </p:nvSpPr>
        <p:spPr>
          <a:xfrm>
            <a:off x="146304" y="0"/>
            <a:ext cx="12045391" cy="73152"/>
          </a:xfrm>
          <a:prstGeom prst="rect">
            <a:avLst/>
          </a:prstGeom>
          <a:solidFill>
            <a:srgbClr val="76B900">
              <a:alpha val="85000"/>
            </a:srgbClr>
          </a:solidFill>
          <a:ln w="12700">
            <a:solidFill>
              <a:srgbClr val="76B900">
                <a:alpha val="0"/>
              </a:srgbClr>
            </a:solidFill>
            <a:prstDash val="solid"/>
          </a:ln>
        </p:spPr>
      </p:sp>
      <p:sp>
        <p:nvSpPr>
          <p:cNvPr id="5" name="Text 3"/>
          <p:cNvSpPr/>
          <p:nvPr/>
        </p:nvSpPr>
        <p:spPr>
          <a:xfrm>
            <a:off x="438912" y="256032"/>
            <a:ext cx="9692640" cy="384048"/>
          </a:xfrm>
          <a:prstGeom prst="rect">
            <a:avLst/>
          </a:prstGeom>
          <a:noFill/>
          <a:ln/>
        </p:spPr>
        <p:txBody>
          <a:bodyPr wrap="square" lIns="0" tIns="0" rIns="0" bIns="0" rtlCol="0" anchor="ctr"/>
          <a:lstStyle/>
          <a:p>
            <a:pPr indent="0" marL="0">
              <a:buNone/>
            </a:pPr>
            <a:r>
              <a:rPr lang="en-US" sz="2500" b="1" dirty="0">
                <a:solidFill>
                  <a:srgbClr val="F7FAFC"/>
                </a:solidFill>
                <a:latin typeface="Aptos Display" pitchFamily="34" charset="0"/>
                <a:ea typeface="Aptos Display" pitchFamily="34" charset="-122"/>
                <a:cs typeface="Aptos Display" pitchFamily="34" charset="-120"/>
              </a:rPr>
              <a:t>IoU Computation Inside Kernel</a:t>
            </a:r>
            <a:endParaRPr lang="en-US" sz="2500" dirty="0"/>
          </a:p>
        </p:txBody>
      </p:sp>
      <p:sp>
        <p:nvSpPr>
          <p:cNvPr id="6" name="Text 4"/>
          <p:cNvSpPr/>
          <p:nvPr/>
        </p:nvSpPr>
        <p:spPr>
          <a:xfrm>
            <a:off x="438912" y="658368"/>
            <a:ext cx="8686800" cy="256032"/>
          </a:xfrm>
          <a:prstGeom prst="rect">
            <a:avLst/>
          </a:prstGeom>
          <a:noFill/>
          <a:ln/>
        </p:spPr>
        <p:txBody>
          <a:bodyPr wrap="square" lIns="0" tIns="0" rIns="0" bIns="0" rtlCol="0" anchor="ctr"/>
          <a:lstStyle/>
          <a:p>
            <a:pPr indent="0" marL="0">
              <a:buNone/>
            </a:pPr>
            <a:r>
              <a:rPr lang="en-US" sz="1050" dirty="0">
                <a:solidFill>
                  <a:srgbClr val="B7C0C9"/>
                </a:solidFill>
              </a:rPr>
              <a:t>Intersection over Union for one pair of boxes</a:t>
            </a:r>
            <a:endParaRPr lang="en-US" sz="1050" dirty="0"/>
          </a:p>
        </p:txBody>
      </p:sp>
      <p:sp>
        <p:nvSpPr>
          <p:cNvPr id="7" name="Text 5"/>
          <p:cNvSpPr/>
          <p:nvPr/>
        </p:nvSpPr>
        <p:spPr>
          <a:xfrm>
            <a:off x="9738360" y="6446520"/>
            <a:ext cx="1965960" cy="201168"/>
          </a:xfrm>
          <a:prstGeom prst="rect">
            <a:avLst/>
          </a:prstGeom>
          <a:noFill/>
          <a:ln/>
        </p:spPr>
        <p:txBody>
          <a:bodyPr wrap="square" lIns="0" tIns="0" rIns="0" bIns="0" rtlCol="0" anchor="ctr"/>
          <a:lstStyle/>
          <a:p>
            <a:pPr algn="r" indent="0" marL="0">
              <a:buNone/>
            </a:pPr>
            <a:r>
              <a:rPr lang="en-US" sz="850" dirty="0">
                <a:solidFill>
                  <a:srgbClr val="6B7280"/>
                </a:solidFill>
              </a:rPr>
              <a:t>CUDA NMS · Seminar 2</a:t>
            </a:r>
            <a:endParaRPr lang="en-US" sz="850" dirty="0"/>
          </a:p>
        </p:txBody>
      </p:sp>
      <p:sp>
        <p:nvSpPr>
          <p:cNvPr id="8" name="Shape 6"/>
          <p:cNvSpPr/>
          <p:nvPr/>
        </p:nvSpPr>
        <p:spPr>
          <a:xfrm>
            <a:off x="1097280" y="1417320"/>
            <a:ext cx="2057400" cy="1463040"/>
          </a:xfrm>
          <a:prstGeom prst="rect">
            <a:avLst/>
          </a:prstGeom>
          <a:solidFill>
            <a:srgbClr val="0B0F12">
              <a:alpha val="0"/>
            </a:srgbClr>
          </a:solidFill>
          <a:ln w="25400">
            <a:solidFill>
              <a:srgbClr val="76B900"/>
            </a:solidFill>
            <a:prstDash val="solid"/>
          </a:ln>
        </p:spPr>
      </p:sp>
      <p:sp>
        <p:nvSpPr>
          <p:cNvPr id="9" name="Shape 7"/>
          <p:cNvSpPr/>
          <p:nvPr/>
        </p:nvSpPr>
        <p:spPr>
          <a:xfrm>
            <a:off x="1874520" y="1874520"/>
            <a:ext cx="2057400" cy="1463040"/>
          </a:xfrm>
          <a:prstGeom prst="rect">
            <a:avLst/>
          </a:prstGeom>
          <a:solidFill>
            <a:srgbClr val="0B0F12">
              <a:alpha val="0"/>
            </a:srgbClr>
          </a:solidFill>
          <a:ln w="25400">
            <a:solidFill>
              <a:srgbClr val="38BDF8"/>
            </a:solidFill>
            <a:prstDash val="solid"/>
          </a:ln>
        </p:spPr>
      </p:sp>
      <p:sp>
        <p:nvSpPr>
          <p:cNvPr id="10" name="Shape 8"/>
          <p:cNvSpPr/>
          <p:nvPr/>
        </p:nvSpPr>
        <p:spPr>
          <a:xfrm>
            <a:off x="1874520" y="1874520"/>
            <a:ext cx="1280160" cy="1005840"/>
          </a:xfrm>
          <a:prstGeom prst="rect">
            <a:avLst/>
          </a:prstGeom>
          <a:solidFill>
            <a:srgbClr val="76B900">
              <a:alpha val="35000"/>
            </a:srgbClr>
          </a:solidFill>
          <a:ln w="12700">
            <a:solidFill>
              <a:srgbClr val="76B900">
                <a:alpha val="0"/>
              </a:srgbClr>
            </a:solidFill>
            <a:prstDash val="solid"/>
          </a:ln>
        </p:spPr>
      </p:sp>
      <p:sp>
        <p:nvSpPr>
          <p:cNvPr id="11" name="Text 9"/>
          <p:cNvSpPr/>
          <p:nvPr/>
        </p:nvSpPr>
        <p:spPr>
          <a:xfrm>
            <a:off x="1993392" y="2267712"/>
            <a:ext cx="1051560" cy="164592"/>
          </a:xfrm>
          <a:prstGeom prst="rect">
            <a:avLst/>
          </a:prstGeom>
          <a:noFill/>
          <a:ln/>
        </p:spPr>
        <p:txBody>
          <a:bodyPr wrap="square" lIns="0" tIns="0" rIns="0" bIns="0" rtlCol="0" anchor="ctr"/>
          <a:lstStyle/>
          <a:p>
            <a:pPr algn="ctr" indent="0" marL="0">
              <a:buNone/>
            </a:pPr>
            <a:r>
              <a:rPr lang="en-US" sz="1000" b="1" dirty="0">
                <a:solidFill>
                  <a:srgbClr val="F7FAFC"/>
                </a:solidFill>
              </a:rPr>
              <a:t>intersection</a:t>
            </a:r>
            <a:endParaRPr lang="en-US" sz="1000" dirty="0"/>
          </a:p>
        </p:txBody>
      </p:sp>
      <p:sp>
        <p:nvSpPr>
          <p:cNvPr id="12" name="Shape 10"/>
          <p:cNvSpPr/>
          <p:nvPr/>
        </p:nvSpPr>
        <p:spPr>
          <a:xfrm>
            <a:off x="4754880" y="1234440"/>
            <a:ext cx="5029200" cy="731520"/>
          </a:xfrm>
          <a:prstGeom prst="roundRect">
            <a:avLst>
              <a:gd name="adj" fmla="val 12500"/>
            </a:avLst>
          </a:prstGeom>
          <a:solidFill>
            <a:srgbClr val="0F1720"/>
          </a:solidFill>
          <a:ln w="12700">
            <a:solidFill>
              <a:srgbClr val="76B900">
                <a:alpha val="70000"/>
              </a:srgbClr>
            </a:solidFill>
            <a:prstDash val="solid"/>
          </a:ln>
        </p:spPr>
      </p:sp>
      <p:sp>
        <p:nvSpPr>
          <p:cNvPr id="13" name="Text 11"/>
          <p:cNvSpPr/>
          <p:nvPr/>
        </p:nvSpPr>
        <p:spPr>
          <a:xfrm>
            <a:off x="4864608" y="1380744"/>
            <a:ext cx="4809744" cy="512064"/>
          </a:xfrm>
          <a:prstGeom prst="rect">
            <a:avLst/>
          </a:prstGeom>
          <a:noFill/>
          <a:ln/>
        </p:spPr>
        <p:txBody>
          <a:bodyPr wrap="square" lIns="0" tIns="0" rIns="0" bIns="0" rtlCol="0" anchor="ctr">
            <a:normAutofit/>
          </a:bodyPr>
          <a:lstStyle/>
          <a:p>
            <a:pPr algn="ctr" indent="0" marL="0">
              <a:buNone/>
            </a:pPr>
            <a:r>
              <a:rPr lang="en-US" sz="1700" b="1" dirty="0">
                <a:solidFill>
                  <a:srgbClr val="F7FAFC"/>
                </a:solidFill>
              </a:rPr>
              <a:t>inter = max(0, xB - xA) × max(0, yB - yA)</a:t>
            </a:r>
            <a:endParaRPr lang="en-US" sz="1700" dirty="0"/>
          </a:p>
        </p:txBody>
      </p:sp>
      <p:sp>
        <p:nvSpPr>
          <p:cNvPr id="14" name="Shape 12"/>
          <p:cNvSpPr/>
          <p:nvPr/>
        </p:nvSpPr>
        <p:spPr>
          <a:xfrm>
            <a:off x="4754880" y="2240280"/>
            <a:ext cx="5029200" cy="731520"/>
          </a:xfrm>
          <a:prstGeom prst="roundRect">
            <a:avLst>
              <a:gd name="adj" fmla="val 12500"/>
            </a:avLst>
          </a:prstGeom>
          <a:solidFill>
            <a:srgbClr val="0F1720"/>
          </a:solidFill>
          <a:ln w="12700">
            <a:solidFill>
              <a:srgbClr val="76B900">
                <a:alpha val="70000"/>
              </a:srgbClr>
            </a:solidFill>
            <a:prstDash val="solid"/>
          </a:ln>
        </p:spPr>
      </p:sp>
      <p:sp>
        <p:nvSpPr>
          <p:cNvPr id="15" name="Text 13"/>
          <p:cNvSpPr/>
          <p:nvPr/>
        </p:nvSpPr>
        <p:spPr>
          <a:xfrm>
            <a:off x="4864608" y="2386584"/>
            <a:ext cx="4809744" cy="512064"/>
          </a:xfrm>
          <a:prstGeom prst="rect">
            <a:avLst/>
          </a:prstGeom>
          <a:noFill/>
          <a:ln/>
        </p:spPr>
        <p:txBody>
          <a:bodyPr wrap="square" lIns="0" tIns="0" rIns="0" bIns="0" rtlCol="0" anchor="ctr">
            <a:normAutofit/>
          </a:bodyPr>
          <a:lstStyle/>
          <a:p>
            <a:pPr algn="ctr" indent="0" marL="0">
              <a:buNone/>
            </a:pPr>
            <a:r>
              <a:rPr lang="en-US" sz="1700" b="1" dirty="0">
                <a:solidFill>
                  <a:srgbClr val="F7FAFC"/>
                </a:solidFill>
              </a:rPr>
              <a:t>union = areaA + areaB − inter</a:t>
            </a:r>
            <a:endParaRPr lang="en-US" sz="1700" dirty="0"/>
          </a:p>
        </p:txBody>
      </p:sp>
      <p:sp>
        <p:nvSpPr>
          <p:cNvPr id="16" name="Shape 14"/>
          <p:cNvSpPr/>
          <p:nvPr/>
        </p:nvSpPr>
        <p:spPr>
          <a:xfrm>
            <a:off x="4754880" y="3246120"/>
            <a:ext cx="5029200" cy="731520"/>
          </a:xfrm>
          <a:prstGeom prst="roundRect">
            <a:avLst>
              <a:gd name="adj" fmla="val 12500"/>
            </a:avLst>
          </a:prstGeom>
          <a:solidFill>
            <a:srgbClr val="0F1720"/>
          </a:solidFill>
          <a:ln w="12700">
            <a:solidFill>
              <a:srgbClr val="76B900">
                <a:alpha val="70000"/>
              </a:srgbClr>
            </a:solidFill>
            <a:prstDash val="solid"/>
          </a:ln>
        </p:spPr>
      </p:sp>
      <p:sp>
        <p:nvSpPr>
          <p:cNvPr id="17" name="Text 15"/>
          <p:cNvSpPr/>
          <p:nvPr/>
        </p:nvSpPr>
        <p:spPr>
          <a:xfrm>
            <a:off x="4864608" y="3392424"/>
            <a:ext cx="4809744" cy="512064"/>
          </a:xfrm>
          <a:prstGeom prst="rect">
            <a:avLst/>
          </a:prstGeom>
          <a:noFill/>
          <a:ln/>
        </p:spPr>
        <p:txBody>
          <a:bodyPr wrap="square" lIns="0" tIns="0" rIns="0" bIns="0" rtlCol="0" anchor="ctr">
            <a:normAutofit/>
          </a:bodyPr>
          <a:lstStyle/>
          <a:p>
            <a:pPr algn="ctr" indent="0" marL="0">
              <a:buNone/>
            </a:pPr>
            <a:r>
              <a:rPr lang="en-US" sz="1700" b="1" dirty="0">
                <a:solidFill>
                  <a:srgbClr val="F7FAFC"/>
                </a:solidFill>
              </a:rPr>
              <a:t>IoU = inter / union</a:t>
            </a:r>
            <a:endParaRPr lang="en-US" sz="1700" dirty="0"/>
          </a:p>
        </p:txBody>
      </p:sp>
      <p:sp>
        <p:nvSpPr>
          <p:cNvPr id="18" name="Text 16"/>
          <p:cNvSpPr/>
          <p:nvPr/>
        </p:nvSpPr>
        <p:spPr>
          <a:xfrm>
            <a:off x="1143000" y="4800600"/>
            <a:ext cx="9326880" cy="868680"/>
          </a:xfrm>
          <a:prstGeom prst="rect">
            <a:avLst/>
          </a:prstGeom>
          <a:noFill/>
          <a:ln/>
        </p:spPr>
        <p:txBody>
          <a:bodyPr wrap="square" lIns="381" tIns="381" rIns="381" bIns="381" rtlCol="0" anchor="t">
            <a:normAutofit/>
          </a:bodyPr>
          <a:lstStyle/>
          <a:p>
            <a:r>
              <a:rPr lang="en-US" sz="1400" dirty="0">
                <a:solidFill>
                  <a:srgbClr val="F7FAFC"/>
                </a:solidFill>
              </a:rPr>
              <a:t>Same math as CPU baseline.</a:t>
            </a:r>
            <a:endParaRPr lang="en-US" sz="1400" dirty="0"/>
          </a:p>
          <a:p>
            <a:r>
              <a:rPr lang="en-US" sz="1400" dirty="0">
                <a:solidFill>
                  <a:srgbClr val="F7FAFC"/>
                </a:solidFill>
              </a:rPr>
              <a:t>GPU changes how many pairs are computed at the same time.</a:t>
            </a:r>
            <a:endParaRPr lang="en-US" sz="1400" dirty="0"/>
          </a:p>
          <a:p>
            <a:r>
              <a:rPr lang="en-US" sz="1400" dirty="0">
                <a:solidFill>
                  <a:srgbClr val="F7FAFC"/>
                </a:solidFill>
              </a:rPr>
              <a:t>Numerical type: float32 for memory and GPU efficiency.</a:t>
            </a:r>
            <a:endParaRPr lang="en-US" sz="1400" dirty="0"/>
          </a:p>
        </p:txBody>
      </p:sp>
      <p:sp>
        <p:nvSpPr>
          <p:cNvPr id="20" name="Text 17"/>
          <p:cNvSpPr/>
          <p:nvPr/>
        </p:nvSpPr>
        <p:spPr>
          <a:xfrm>
            <a:off x="11777472"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2"/>
          </a:solidFill>
          <a:ln w="12700">
            <a:solidFill>
              <a:srgbClr val="0B0F12">
                <a:alpha val="0"/>
              </a:srgbClr>
            </a:solidFill>
            <a:prstDash val="solid"/>
          </a:ln>
        </p:spPr>
      </p:sp>
      <p:sp>
        <p:nvSpPr>
          <p:cNvPr id="3" name="Shape 1"/>
          <p:cNvSpPr/>
          <p:nvPr/>
        </p:nvSpPr>
        <p:spPr>
          <a:xfrm>
            <a:off x="0" y="0"/>
            <a:ext cx="109728" cy="6858000"/>
          </a:xfrm>
          <a:prstGeom prst="rect">
            <a:avLst/>
          </a:prstGeom>
          <a:solidFill>
            <a:srgbClr val="76B900"/>
          </a:solidFill>
          <a:ln w="12700">
            <a:solidFill>
              <a:srgbClr val="76B900"/>
            </a:solidFill>
            <a:prstDash val="solid"/>
          </a:ln>
        </p:spPr>
      </p:sp>
      <p:sp>
        <p:nvSpPr>
          <p:cNvPr id="4" name="Shape 2"/>
          <p:cNvSpPr/>
          <p:nvPr/>
        </p:nvSpPr>
        <p:spPr>
          <a:xfrm>
            <a:off x="146304" y="0"/>
            <a:ext cx="12045391" cy="73152"/>
          </a:xfrm>
          <a:prstGeom prst="rect">
            <a:avLst/>
          </a:prstGeom>
          <a:solidFill>
            <a:srgbClr val="76B900">
              <a:alpha val="85000"/>
            </a:srgbClr>
          </a:solidFill>
          <a:ln w="12700">
            <a:solidFill>
              <a:srgbClr val="76B900">
                <a:alpha val="0"/>
              </a:srgbClr>
            </a:solidFill>
            <a:prstDash val="solid"/>
          </a:ln>
        </p:spPr>
      </p:sp>
      <p:sp>
        <p:nvSpPr>
          <p:cNvPr id="5" name="Text 3"/>
          <p:cNvSpPr/>
          <p:nvPr/>
        </p:nvSpPr>
        <p:spPr>
          <a:xfrm>
            <a:off x="438912" y="256032"/>
            <a:ext cx="9692640" cy="384048"/>
          </a:xfrm>
          <a:prstGeom prst="rect">
            <a:avLst/>
          </a:prstGeom>
          <a:noFill/>
          <a:ln/>
        </p:spPr>
        <p:txBody>
          <a:bodyPr wrap="square" lIns="0" tIns="0" rIns="0" bIns="0" rtlCol="0" anchor="ctr"/>
          <a:lstStyle/>
          <a:p>
            <a:pPr indent="0" marL="0">
              <a:buNone/>
            </a:pPr>
            <a:r>
              <a:rPr lang="en-US" sz="2500" b="1" dirty="0">
                <a:solidFill>
                  <a:srgbClr val="F7FAFC"/>
                </a:solidFill>
                <a:latin typeface="Aptos Display" pitchFamily="34" charset="0"/>
                <a:ea typeface="Aptos Display" pitchFamily="34" charset="-122"/>
                <a:cs typeface="Aptos Display" pitchFamily="34" charset="-120"/>
              </a:rPr>
              <a:t>Memory Transfer Flow</a:t>
            </a:r>
            <a:endParaRPr lang="en-US" sz="2500" dirty="0"/>
          </a:p>
        </p:txBody>
      </p:sp>
      <p:sp>
        <p:nvSpPr>
          <p:cNvPr id="6" name="Text 4"/>
          <p:cNvSpPr/>
          <p:nvPr/>
        </p:nvSpPr>
        <p:spPr>
          <a:xfrm>
            <a:off x="438912" y="658368"/>
            <a:ext cx="8686800" cy="256032"/>
          </a:xfrm>
          <a:prstGeom prst="rect">
            <a:avLst/>
          </a:prstGeom>
          <a:noFill/>
          <a:ln/>
        </p:spPr>
        <p:txBody>
          <a:bodyPr wrap="square" lIns="0" tIns="0" rIns="0" bIns="0" rtlCol="0" anchor="ctr"/>
          <a:lstStyle/>
          <a:p>
            <a:pPr indent="0" marL="0">
              <a:buNone/>
            </a:pPr>
            <a:r>
              <a:rPr lang="en-US" sz="1050" dirty="0">
                <a:solidFill>
                  <a:srgbClr val="B7C0C9"/>
                </a:solidFill>
              </a:rPr>
              <a:t>Understanding host–device movement</a:t>
            </a:r>
            <a:endParaRPr lang="en-US" sz="1050" dirty="0"/>
          </a:p>
        </p:txBody>
      </p:sp>
      <p:sp>
        <p:nvSpPr>
          <p:cNvPr id="7" name="Text 5"/>
          <p:cNvSpPr/>
          <p:nvPr/>
        </p:nvSpPr>
        <p:spPr>
          <a:xfrm>
            <a:off x="9738360" y="6446520"/>
            <a:ext cx="1965960" cy="201168"/>
          </a:xfrm>
          <a:prstGeom prst="rect">
            <a:avLst/>
          </a:prstGeom>
          <a:noFill/>
          <a:ln/>
        </p:spPr>
        <p:txBody>
          <a:bodyPr wrap="square" lIns="0" tIns="0" rIns="0" bIns="0" rtlCol="0" anchor="ctr"/>
          <a:lstStyle/>
          <a:p>
            <a:pPr algn="r" indent="0" marL="0">
              <a:buNone/>
            </a:pPr>
            <a:r>
              <a:rPr lang="en-US" sz="850" dirty="0">
                <a:solidFill>
                  <a:srgbClr val="6B7280"/>
                </a:solidFill>
              </a:rPr>
              <a:t>CUDA NMS · Seminar 2</a:t>
            </a:r>
            <a:endParaRPr lang="en-US" sz="850" dirty="0"/>
          </a:p>
        </p:txBody>
      </p:sp>
      <p:sp>
        <p:nvSpPr>
          <p:cNvPr id="8" name="Shape 6"/>
          <p:cNvSpPr/>
          <p:nvPr/>
        </p:nvSpPr>
        <p:spPr>
          <a:xfrm>
            <a:off x="822960" y="1828800"/>
            <a:ext cx="1828800" cy="822960"/>
          </a:xfrm>
          <a:prstGeom prst="roundRect">
            <a:avLst>
              <a:gd name="adj" fmla="val 13333"/>
            </a:avLst>
          </a:prstGeom>
          <a:solidFill>
            <a:srgbClr val="16202A"/>
          </a:solidFill>
          <a:ln w="12700">
            <a:solidFill>
              <a:srgbClr val="334155"/>
            </a:solidFill>
            <a:prstDash val="solid"/>
          </a:ln>
        </p:spPr>
      </p:sp>
      <p:sp>
        <p:nvSpPr>
          <p:cNvPr id="9" name="Text 7"/>
          <p:cNvSpPr/>
          <p:nvPr/>
        </p:nvSpPr>
        <p:spPr>
          <a:xfrm>
            <a:off x="932688" y="1938528"/>
            <a:ext cx="1609344" cy="603504"/>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CPU RAM</a:t>
            </a:r>
            <a:endParaRPr lang="en-US" sz="1400" dirty="0"/>
          </a:p>
          <a:p>
            <a:pPr algn="ctr" indent="0" marL="0">
              <a:buNone/>
            </a:pPr>
            <a:r>
              <a:rPr lang="en-US" sz="1400" b="1" dirty="0">
                <a:solidFill>
                  <a:srgbClr val="F7FAFC"/>
                </a:solidFill>
              </a:rPr>
              <a:t>boxes_sorted</a:t>
            </a:r>
            <a:endParaRPr lang="en-US" sz="1400" dirty="0"/>
          </a:p>
        </p:txBody>
      </p:sp>
      <p:sp>
        <p:nvSpPr>
          <p:cNvPr id="10" name="Shape 8"/>
          <p:cNvSpPr/>
          <p:nvPr/>
        </p:nvSpPr>
        <p:spPr>
          <a:xfrm>
            <a:off x="3657600" y="1828800"/>
            <a:ext cx="1828800" cy="822960"/>
          </a:xfrm>
          <a:prstGeom prst="roundRect">
            <a:avLst>
              <a:gd name="adj" fmla="val 13333"/>
            </a:avLst>
          </a:prstGeom>
          <a:solidFill>
            <a:srgbClr val="202B36"/>
          </a:solidFill>
          <a:ln w="12700">
            <a:solidFill>
              <a:srgbClr val="334155"/>
            </a:solidFill>
            <a:prstDash val="solid"/>
          </a:ln>
        </p:spPr>
      </p:sp>
      <p:sp>
        <p:nvSpPr>
          <p:cNvPr id="11" name="Text 9"/>
          <p:cNvSpPr/>
          <p:nvPr/>
        </p:nvSpPr>
        <p:spPr>
          <a:xfrm>
            <a:off x="3767328" y="1938528"/>
            <a:ext cx="1609344" cy="603504"/>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GPU Memory</a:t>
            </a:r>
            <a:endParaRPr lang="en-US" sz="1400" dirty="0"/>
          </a:p>
          <a:p>
            <a:pPr algn="ctr" indent="0" marL="0">
              <a:buNone/>
            </a:pPr>
            <a:r>
              <a:rPr lang="en-US" sz="1400" b="1" dirty="0">
                <a:solidFill>
                  <a:srgbClr val="F7FAFC"/>
                </a:solidFill>
              </a:rPr>
              <a:t>d_boxes</a:t>
            </a:r>
            <a:endParaRPr lang="en-US" sz="1400" dirty="0"/>
          </a:p>
        </p:txBody>
      </p:sp>
      <p:sp>
        <p:nvSpPr>
          <p:cNvPr id="12" name="Shape 10"/>
          <p:cNvSpPr/>
          <p:nvPr/>
        </p:nvSpPr>
        <p:spPr>
          <a:xfrm>
            <a:off x="6492240" y="1828800"/>
            <a:ext cx="1828800" cy="822960"/>
          </a:xfrm>
          <a:prstGeom prst="roundRect">
            <a:avLst>
              <a:gd name="adj" fmla="val 13333"/>
            </a:avLst>
          </a:prstGeom>
          <a:solidFill>
            <a:srgbClr val="202B36"/>
          </a:solidFill>
          <a:ln w="12700">
            <a:solidFill>
              <a:srgbClr val="334155"/>
            </a:solidFill>
            <a:prstDash val="solid"/>
          </a:ln>
        </p:spPr>
      </p:sp>
      <p:sp>
        <p:nvSpPr>
          <p:cNvPr id="13" name="Text 11"/>
          <p:cNvSpPr/>
          <p:nvPr/>
        </p:nvSpPr>
        <p:spPr>
          <a:xfrm>
            <a:off x="6601968" y="1938528"/>
            <a:ext cx="1609344" cy="603504"/>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GPU Memory</a:t>
            </a:r>
            <a:endParaRPr lang="en-US" sz="1400" dirty="0"/>
          </a:p>
          <a:p>
            <a:pPr algn="ctr" indent="0" marL="0">
              <a:buNone/>
            </a:pPr>
            <a:r>
              <a:rPr lang="en-US" sz="1400" b="1" dirty="0">
                <a:solidFill>
                  <a:srgbClr val="F7FAFC"/>
                </a:solidFill>
              </a:rPr>
              <a:t>d_iou</a:t>
            </a:r>
            <a:endParaRPr lang="en-US" sz="1400" dirty="0"/>
          </a:p>
        </p:txBody>
      </p:sp>
      <p:sp>
        <p:nvSpPr>
          <p:cNvPr id="14" name="Shape 12"/>
          <p:cNvSpPr/>
          <p:nvPr/>
        </p:nvSpPr>
        <p:spPr>
          <a:xfrm>
            <a:off x="9326880" y="1828800"/>
            <a:ext cx="1828800" cy="822960"/>
          </a:xfrm>
          <a:prstGeom prst="roundRect">
            <a:avLst>
              <a:gd name="adj" fmla="val 13333"/>
            </a:avLst>
          </a:prstGeom>
          <a:solidFill>
            <a:srgbClr val="16202A"/>
          </a:solidFill>
          <a:ln w="12700">
            <a:solidFill>
              <a:srgbClr val="334155"/>
            </a:solidFill>
            <a:prstDash val="solid"/>
          </a:ln>
        </p:spPr>
      </p:sp>
      <p:sp>
        <p:nvSpPr>
          <p:cNvPr id="15" name="Text 13"/>
          <p:cNvSpPr/>
          <p:nvPr/>
        </p:nvSpPr>
        <p:spPr>
          <a:xfrm>
            <a:off x="9436608" y="1938528"/>
            <a:ext cx="1609344" cy="603504"/>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CPU RAM</a:t>
            </a:r>
            <a:endParaRPr lang="en-US" sz="1400" dirty="0"/>
          </a:p>
          <a:p>
            <a:pPr algn="ctr" indent="0" marL="0">
              <a:buNone/>
            </a:pPr>
            <a:r>
              <a:rPr lang="en-US" sz="1400" b="1" dirty="0">
                <a:solidFill>
                  <a:srgbClr val="F7FAFC"/>
                </a:solidFill>
              </a:rPr>
              <a:t>iou_matrix</a:t>
            </a:r>
            <a:endParaRPr lang="en-US" sz="1400" dirty="0"/>
          </a:p>
        </p:txBody>
      </p:sp>
      <p:sp>
        <p:nvSpPr>
          <p:cNvPr id="16" name="Shape 14"/>
          <p:cNvSpPr/>
          <p:nvPr/>
        </p:nvSpPr>
        <p:spPr>
          <a:xfrm>
            <a:off x="2651760" y="2240280"/>
            <a:ext cx="1005840" cy="0"/>
          </a:xfrm>
          <a:prstGeom prst="line">
            <a:avLst/>
          </a:prstGeom>
          <a:noFill/>
          <a:ln w="25400">
            <a:solidFill>
              <a:srgbClr val="76B900"/>
            </a:solidFill>
            <a:prstDash val="solid"/>
            <a:headEnd type="none"/>
            <a:tailEnd type="triangle"/>
          </a:ln>
        </p:spPr>
      </p:sp>
      <p:sp>
        <p:nvSpPr>
          <p:cNvPr id="17" name="Shape 15"/>
          <p:cNvSpPr/>
          <p:nvPr/>
        </p:nvSpPr>
        <p:spPr>
          <a:xfrm>
            <a:off x="5486400" y="2240280"/>
            <a:ext cx="1005840" cy="0"/>
          </a:xfrm>
          <a:prstGeom prst="line">
            <a:avLst/>
          </a:prstGeom>
          <a:noFill/>
          <a:ln w="25400">
            <a:solidFill>
              <a:srgbClr val="76B900"/>
            </a:solidFill>
            <a:prstDash val="solid"/>
            <a:headEnd type="none"/>
            <a:tailEnd type="triangle"/>
          </a:ln>
        </p:spPr>
      </p:sp>
      <p:sp>
        <p:nvSpPr>
          <p:cNvPr id="18" name="Shape 16"/>
          <p:cNvSpPr/>
          <p:nvPr/>
        </p:nvSpPr>
        <p:spPr>
          <a:xfrm>
            <a:off x="8321040" y="2240280"/>
            <a:ext cx="1005840" cy="0"/>
          </a:xfrm>
          <a:prstGeom prst="line">
            <a:avLst/>
          </a:prstGeom>
          <a:noFill/>
          <a:ln w="25400">
            <a:solidFill>
              <a:srgbClr val="38BDF8"/>
            </a:solidFill>
            <a:prstDash val="solid"/>
            <a:headEnd type="none"/>
            <a:tailEnd type="triangle"/>
          </a:ln>
        </p:spPr>
      </p:sp>
      <p:sp>
        <p:nvSpPr>
          <p:cNvPr id="19" name="Text 17"/>
          <p:cNvSpPr/>
          <p:nvPr/>
        </p:nvSpPr>
        <p:spPr>
          <a:xfrm>
            <a:off x="2697480" y="1874520"/>
            <a:ext cx="914400" cy="182880"/>
          </a:xfrm>
          <a:prstGeom prst="rect">
            <a:avLst/>
          </a:prstGeom>
          <a:noFill/>
          <a:ln/>
        </p:spPr>
        <p:txBody>
          <a:bodyPr wrap="square" lIns="0" tIns="0" rIns="0" bIns="0" rtlCol="0" anchor="ctr"/>
          <a:lstStyle/>
          <a:p>
            <a:pPr algn="ctr" indent="0" marL="0">
              <a:buNone/>
            </a:pPr>
            <a:r>
              <a:rPr lang="en-US" sz="950" b="1" dirty="0">
                <a:solidFill>
                  <a:srgbClr val="76B900"/>
                </a:solidFill>
              </a:rPr>
              <a:t>cuda.to_device()</a:t>
            </a:r>
            <a:endParaRPr lang="en-US" sz="950" dirty="0"/>
          </a:p>
        </p:txBody>
      </p:sp>
      <p:sp>
        <p:nvSpPr>
          <p:cNvPr id="20" name="Text 18"/>
          <p:cNvSpPr/>
          <p:nvPr/>
        </p:nvSpPr>
        <p:spPr>
          <a:xfrm>
            <a:off x="5623560" y="1874520"/>
            <a:ext cx="822960" cy="182880"/>
          </a:xfrm>
          <a:prstGeom prst="rect">
            <a:avLst/>
          </a:prstGeom>
          <a:noFill/>
          <a:ln/>
        </p:spPr>
        <p:txBody>
          <a:bodyPr wrap="square" lIns="0" tIns="0" rIns="0" bIns="0" rtlCol="0" anchor="ctr"/>
          <a:lstStyle/>
          <a:p>
            <a:pPr algn="ctr" indent="0" marL="0">
              <a:buNone/>
            </a:pPr>
            <a:r>
              <a:rPr lang="en-US" sz="950" b="1" dirty="0">
                <a:solidFill>
                  <a:srgbClr val="76B900"/>
                </a:solidFill>
              </a:rPr>
              <a:t>kernel writes</a:t>
            </a:r>
            <a:endParaRPr lang="en-US" sz="950" dirty="0"/>
          </a:p>
        </p:txBody>
      </p:sp>
      <p:sp>
        <p:nvSpPr>
          <p:cNvPr id="21" name="Text 19"/>
          <p:cNvSpPr/>
          <p:nvPr/>
        </p:nvSpPr>
        <p:spPr>
          <a:xfrm>
            <a:off x="8430768" y="1874520"/>
            <a:ext cx="868680" cy="182880"/>
          </a:xfrm>
          <a:prstGeom prst="rect">
            <a:avLst/>
          </a:prstGeom>
          <a:noFill/>
          <a:ln/>
        </p:spPr>
        <p:txBody>
          <a:bodyPr wrap="square" lIns="0" tIns="0" rIns="0" bIns="0" rtlCol="0" anchor="ctr">
            <a:normAutofit/>
          </a:bodyPr>
          <a:lstStyle/>
          <a:p>
            <a:pPr algn="ctr" indent="0" marL="0">
              <a:buNone/>
            </a:pPr>
            <a:r>
              <a:rPr lang="en-US" sz="950" b="1" dirty="0">
                <a:solidFill>
                  <a:srgbClr val="38BDF8"/>
                </a:solidFill>
              </a:rPr>
              <a:t>copy_to_host()</a:t>
            </a:r>
            <a:endParaRPr lang="en-US" sz="950" dirty="0"/>
          </a:p>
        </p:txBody>
      </p:sp>
      <p:sp>
        <p:nvSpPr>
          <p:cNvPr id="22" name="Shape 20"/>
          <p:cNvSpPr/>
          <p:nvPr/>
        </p:nvSpPr>
        <p:spPr>
          <a:xfrm>
            <a:off x="2240280" y="4297680"/>
            <a:ext cx="7680960" cy="777240"/>
          </a:xfrm>
          <a:prstGeom prst="roundRect">
            <a:avLst>
              <a:gd name="adj" fmla="val 11765"/>
            </a:avLst>
          </a:prstGeom>
          <a:solidFill>
            <a:srgbClr val="0F1720"/>
          </a:solidFill>
          <a:ln w="12700">
            <a:solidFill>
              <a:srgbClr val="76B900">
                <a:alpha val="70000"/>
              </a:srgbClr>
            </a:solidFill>
            <a:prstDash val="solid"/>
          </a:ln>
        </p:spPr>
      </p:sp>
      <p:sp>
        <p:nvSpPr>
          <p:cNvPr id="23" name="Text 21"/>
          <p:cNvSpPr/>
          <p:nvPr/>
        </p:nvSpPr>
        <p:spPr>
          <a:xfrm>
            <a:off x="2350008" y="4443984"/>
            <a:ext cx="7461504" cy="557784"/>
          </a:xfrm>
          <a:prstGeom prst="rect">
            <a:avLst/>
          </a:prstGeom>
          <a:noFill/>
          <a:ln/>
        </p:spPr>
        <p:txBody>
          <a:bodyPr wrap="square" lIns="0" tIns="0" rIns="0" bIns="0" rtlCol="0" anchor="ctr">
            <a:normAutofit/>
          </a:bodyPr>
          <a:lstStyle/>
          <a:p>
            <a:pPr algn="ctr" indent="0" marL="0">
              <a:buNone/>
            </a:pPr>
            <a:r>
              <a:rPr lang="en-US" sz="1700" b="1" dirty="0">
                <a:solidFill>
                  <a:srgbClr val="F7FAFC"/>
                </a:solidFill>
              </a:rPr>
              <a:t>V1 cost: O(N²) GPU memory + device-to-host transfer</a:t>
            </a:r>
            <a:endParaRPr lang="en-US" sz="1700" dirty="0"/>
          </a:p>
        </p:txBody>
      </p:sp>
      <p:sp>
        <p:nvSpPr>
          <p:cNvPr id="25" name="Text 22"/>
          <p:cNvSpPr/>
          <p:nvPr/>
        </p:nvSpPr>
        <p:spPr>
          <a:xfrm>
            <a:off x="11777472"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F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2"/>
          </a:solidFill>
          <a:ln w="12700">
            <a:solidFill>
              <a:srgbClr val="0B0F12">
                <a:alpha val="0"/>
              </a:srgbClr>
            </a:solidFill>
            <a:prstDash val="solid"/>
          </a:ln>
        </p:spPr>
      </p:sp>
      <p:sp>
        <p:nvSpPr>
          <p:cNvPr id="3" name="Shape 1"/>
          <p:cNvSpPr/>
          <p:nvPr/>
        </p:nvSpPr>
        <p:spPr>
          <a:xfrm>
            <a:off x="0" y="0"/>
            <a:ext cx="109728" cy="6858000"/>
          </a:xfrm>
          <a:prstGeom prst="rect">
            <a:avLst/>
          </a:prstGeom>
          <a:solidFill>
            <a:srgbClr val="76B900"/>
          </a:solidFill>
          <a:ln w="12700">
            <a:solidFill>
              <a:srgbClr val="76B900"/>
            </a:solidFill>
            <a:prstDash val="solid"/>
          </a:ln>
        </p:spPr>
      </p:sp>
      <p:sp>
        <p:nvSpPr>
          <p:cNvPr id="4" name="Shape 2"/>
          <p:cNvSpPr/>
          <p:nvPr/>
        </p:nvSpPr>
        <p:spPr>
          <a:xfrm>
            <a:off x="146304" y="0"/>
            <a:ext cx="12045391" cy="73152"/>
          </a:xfrm>
          <a:prstGeom prst="rect">
            <a:avLst/>
          </a:prstGeom>
          <a:solidFill>
            <a:srgbClr val="76B900">
              <a:alpha val="85000"/>
            </a:srgbClr>
          </a:solidFill>
          <a:ln w="12700">
            <a:solidFill>
              <a:srgbClr val="76B900">
                <a:alpha val="0"/>
              </a:srgbClr>
            </a:solidFill>
            <a:prstDash val="solid"/>
          </a:ln>
        </p:spPr>
      </p:sp>
      <p:sp>
        <p:nvSpPr>
          <p:cNvPr id="5" name="Text 3"/>
          <p:cNvSpPr/>
          <p:nvPr/>
        </p:nvSpPr>
        <p:spPr>
          <a:xfrm>
            <a:off x="438912" y="256032"/>
            <a:ext cx="9692640" cy="384048"/>
          </a:xfrm>
          <a:prstGeom prst="rect">
            <a:avLst/>
          </a:prstGeom>
          <a:noFill/>
          <a:ln/>
        </p:spPr>
        <p:txBody>
          <a:bodyPr wrap="square" lIns="0" tIns="0" rIns="0" bIns="0" rtlCol="0" anchor="ctr"/>
          <a:lstStyle/>
          <a:p>
            <a:pPr indent="0" marL="0">
              <a:buNone/>
            </a:pPr>
            <a:r>
              <a:rPr lang="en-US" sz="2500" b="1" dirty="0">
                <a:solidFill>
                  <a:srgbClr val="F7FAFC"/>
                </a:solidFill>
                <a:latin typeface="Aptos Display" pitchFamily="34" charset="0"/>
                <a:ea typeface="Aptos Display" pitchFamily="34" charset="-122"/>
                <a:cs typeface="Aptos Display" pitchFamily="34" charset="-120"/>
              </a:rPr>
              <a:t>Correctness Verification</a:t>
            </a:r>
            <a:endParaRPr lang="en-US" sz="2500" dirty="0"/>
          </a:p>
        </p:txBody>
      </p:sp>
      <p:sp>
        <p:nvSpPr>
          <p:cNvPr id="6" name="Text 4"/>
          <p:cNvSpPr/>
          <p:nvPr/>
        </p:nvSpPr>
        <p:spPr>
          <a:xfrm>
            <a:off x="438912" y="658368"/>
            <a:ext cx="8686800" cy="256032"/>
          </a:xfrm>
          <a:prstGeom prst="rect">
            <a:avLst/>
          </a:prstGeom>
          <a:noFill/>
          <a:ln/>
        </p:spPr>
        <p:txBody>
          <a:bodyPr wrap="square" lIns="0" tIns="0" rIns="0" bIns="0" rtlCol="0" anchor="ctr"/>
          <a:lstStyle/>
          <a:p>
            <a:pPr indent="0" marL="0">
              <a:buNone/>
            </a:pPr>
            <a:r>
              <a:rPr lang="en-US" sz="1050" dirty="0">
                <a:solidFill>
                  <a:srgbClr val="B7C0C9"/>
                </a:solidFill>
              </a:rPr>
              <a:t>GPU output must match CPU reference</a:t>
            </a:r>
            <a:endParaRPr lang="en-US" sz="1050" dirty="0"/>
          </a:p>
        </p:txBody>
      </p:sp>
      <p:sp>
        <p:nvSpPr>
          <p:cNvPr id="7" name="Text 5"/>
          <p:cNvSpPr/>
          <p:nvPr/>
        </p:nvSpPr>
        <p:spPr>
          <a:xfrm>
            <a:off x="9738360" y="6446520"/>
            <a:ext cx="1965960" cy="201168"/>
          </a:xfrm>
          <a:prstGeom prst="rect">
            <a:avLst/>
          </a:prstGeom>
          <a:noFill/>
          <a:ln/>
        </p:spPr>
        <p:txBody>
          <a:bodyPr wrap="square" lIns="0" tIns="0" rIns="0" bIns="0" rtlCol="0" anchor="ctr"/>
          <a:lstStyle/>
          <a:p>
            <a:pPr algn="r" indent="0" marL="0">
              <a:buNone/>
            </a:pPr>
            <a:r>
              <a:rPr lang="en-US" sz="850" dirty="0">
                <a:solidFill>
                  <a:srgbClr val="6B7280"/>
                </a:solidFill>
              </a:rPr>
              <a:t>CUDA NMS · Seminar 2</a:t>
            </a:r>
            <a:endParaRPr lang="en-US" sz="850" dirty="0"/>
          </a:p>
        </p:txBody>
      </p:sp>
      <p:sp>
        <p:nvSpPr>
          <p:cNvPr id="8" name="Shape 6"/>
          <p:cNvSpPr/>
          <p:nvPr/>
        </p:nvSpPr>
        <p:spPr>
          <a:xfrm>
            <a:off x="1143000" y="1828800"/>
            <a:ext cx="2377440" cy="822960"/>
          </a:xfrm>
          <a:prstGeom prst="roundRect">
            <a:avLst>
              <a:gd name="adj" fmla="val 13333"/>
            </a:avLst>
          </a:prstGeom>
          <a:solidFill>
            <a:srgbClr val="16202A"/>
          </a:solidFill>
          <a:ln w="12700">
            <a:solidFill>
              <a:srgbClr val="334155"/>
            </a:solidFill>
            <a:prstDash val="solid"/>
          </a:ln>
        </p:spPr>
      </p:sp>
      <p:sp>
        <p:nvSpPr>
          <p:cNvPr id="9" name="Text 7"/>
          <p:cNvSpPr/>
          <p:nvPr/>
        </p:nvSpPr>
        <p:spPr>
          <a:xfrm>
            <a:off x="1252728" y="1938528"/>
            <a:ext cx="2157984" cy="603504"/>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CPU Baseline</a:t>
            </a:r>
            <a:endParaRPr lang="en-US" sz="1400" dirty="0"/>
          </a:p>
          <a:p>
            <a:pPr algn="ctr" indent="0" marL="0">
              <a:buNone/>
            </a:pPr>
            <a:r>
              <a:rPr lang="en-US" sz="1400" b="1" dirty="0">
                <a:solidFill>
                  <a:srgbClr val="F7FAFC"/>
                </a:solidFill>
              </a:rPr>
              <a:t>keep indices</a:t>
            </a:r>
            <a:endParaRPr lang="en-US" sz="1400" dirty="0"/>
          </a:p>
        </p:txBody>
      </p:sp>
      <p:sp>
        <p:nvSpPr>
          <p:cNvPr id="10" name="Shape 8"/>
          <p:cNvSpPr/>
          <p:nvPr/>
        </p:nvSpPr>
        <p:spPr>
          <a:xfrm>
            <a:off x="1143000" y="3749040"/>
            <a:ext cx="2377440" cy="822960"/>
          </a:xfrm>
          <a:prstGeom prst="roundRect">
            <a:avLst>
              <a:gd name="adj" fmla="val 13333"/>
            </a:avLst>
          </a:prstGeom>
          <a:solidFill>
            <a:srgbClr val="16202A"/>
          </a:solidFill>
          <a:ln w="12700">
            <a:solidFill>
              <a:srgbClr val="334155"/>
            </a:solidFill>
            <a:prstDash val="solid"/>
          </a:ln>
        </p:spPr>
      </p:sp>
      <p:sp>
        <p:nvSpPr>
          <p:cNvPr id="11" name="Text 9"/>
          <p:cNvSpPr/>
          <p:nvPr/>
        </p:nvSpPr>
        <p:spPr>
          <a:xfrm>
            <a:off x="1252728" y="3858768"/>
            <a:ext cx="2157984" cy="603504"/>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GPU V1</a:t>
            </a:r>
            <a:endParaRPr lang="en-US" sz="1400" dirty="0"/>
          </a:p>
          <a:p>
            <a:pPr algn="ctr" indent="0" marL="0">
              <a:buNone/>
            </a:pPr>
            <a:r>
              <a:rPr lang="en-US" sz="1400" b="1" dirty="0">
                <a:solidFill>
                  <a:srgbClr val="F7FAFC"/>
                </a:solidFill>
              </a:rPr>
              <a:t>keep indices</a:t>
            </a:r>
            <a:endParaRPr lang="en-US" sz="1400" dirty="0"/>
          </a:p>
        </p:txBody>
      </p:sp>
      <p:sp>
        <p:nvSpPr>
          <p:cNvPr id="12" name="Shape 10"/>
          <p:cNvSpPr/>
          <p:nvPr/>
        </p:nvSpPr>
        <p:spPr>
          <a:xfrm>
            <a:off x="4800600" y="2788920"/>
            <a:ext cx="1828800" cy="822960"/>
          </a:xfrm>
          <a:prstGeom prst="roundRect">
            <a:avLst>
              <a:gd name="adj" fmla="val 13333"/>
            </a:avLst>
          </a:prstGeom>
          <a:solidFill>
            <a:srgbClr val="76B900"/>
          </a:solidFill>
          <a:ln w="12700">
            <a:solidFill>
              <a:srgbClr val="334155"/>
            </a:solidFill>
            <a:prstDash val="solid"/>
          </a:ln>
        </p:spPr>
      </p:sp>
      <p:sp>
        <p:nvSpPr>
          <p:cNvPr id="13" name="Text 11"/>
          <p:cNvSpPr/>
          <p:nvPr/>
        </p:nvSpPr>
        <p:spPr>
          <a:xfrm>
            <a:off x="4910328" y="2898648"/>
            <a:ext cx="1609344" cy="603504"/>
          </a:xfrm>
          <a:prstGeom prst="rect">
            <a:avLst/>
          </a:prstGeom>
          <a:noFill/>
          <a:ln/>
        </p:spPr>
        <p:txBody>
          <a:bodyPr wrap="square" lIns="254" tIns="254" rIns="254" bIns="254" rtlCol="0" anchor="ctr">
            <a:normAutofit/>
          </a:bodyPr>
          <a:lstStyle/>
          <a:p>
            <a:pPr algn="ctr" indent="0" marL="0">
              <a:buNone/>
            </a:pPr>
            <a:r>
              <a:rPr lang="en-US" sz="1400" b="1" dirty="0">
                <a:solidFill>
                  <a:srgbClr val="0B0F12"/>
                </a:solidFill>
              </a:rPr>
              <a:t>Compare</a:t>
            </a:r>
            <a:endParaRPr lang="en-US" sz="1400" dirty="0"/>
          </a:p>
          <a:p>
            <a:pPr algn="ctr" indent="0" marL="0">
              <a:buNone/>
            </a:pPr>
            <a:r>
              <a:rPr lang="en-US" sz="1400" b="1" dirty="0">
                <a:solidFill>
                  <a:srgbClr val="0B0F12"/>
                </a:solidFill>
              </a:rPr>
              <a:t>outputs</a:t>
            </a:r>
            <a:endParaRPr lang="en-US" sz="1400" dirty="0"/>
          </a:p>
        </p:txBody>
      </p:sp>
      <p:sp>
        <p:nvSpPr>
          <p:cNvPr id="14" name="Shape 12"/>
          <p:cNvSpPr/>
          <p:nvPr/>
        </p:nvSpPr>
        <p:spPr>
          <a:xfrm>
            <a:off x="7909560" y="2788920"/>
            <a:ext cx="1828800" cy="822960"/>
          </a:xfrm>
          <a:prstGeom prst="roundRect">
            <a:avLst>
              <a:gd name="adj" fmla="val 13333"/>
            </a:avLst>
          </a:prstGeom>
          <a:solidFill>
            <a:srgbClr val="76B900"/>
          </a:solidFill>
          <a:ln w="12700">
            <a:solidFill>
              <a:srgbClr val="334155"/>
            </a:solidFill>
            <a:prstDash val="solid"/>
          </a:ln>
        </p:spPr>
      </p:sp>
      <p:sp>
        <p:nvSpPr>
          <p:cNvPr id="15" name="Text 13"/>
          <p:cNvSpPr/>
          <p:nvPr/>
        </p:nvSpPr>
        <p:spPr>
          <a:xfrm>
            <a:off x="8019288" y="2898648"/>
            <a:ext cx="1609344" cy="603504"/>
          </a:xfrm>
          <a:prstGeom prst="rect">
            <a:avLst/>
          </a:prstGeom>
          <a:noFill/>
          <a:ln/>
        </p:spPr>
        <p:txBody>
          <a:bodyPr wrap="square" lIns="254" tIns="254" rIns="254" bIns="254" rtlCol="0" anchor="ctr">
            <a:normAutofit/>
          </a:bodyPr>
          <a:lstStyle/>
          <a:p>
            <a:pPr algn="ctr" indent="0" marL="0">
              <a:buNone/>
            </a:pPr>
            <a:r>
              <a:rPr lang="en-US" sz="2200" b="1" dirty="0">
                <a:solidFill>
                  <a:srgbClr val="0B0F12"/>
                </a:solidFill>
              </a:rPr>
              <a:t>PASS</a:t>
            </a:r>
            <a:endParaRPr lang="en-US" sz="2200" dirty="0"/>
          </a:p>
        </p:txBody>
      </p:sp>
      <p:sp>
        <p:nvSpPr>
          <p:cNvPr id="16" name="Shape 14"/>
          <p:cNvSpPr/>
          <p:nvPr/>
        </p:nvSpPr>
        <p:spPr>
          <a:xfrm>
            <a:off x="3520440" y="2240280"/>
            <a:ext cx="1280160" cy="822960"/>
          </a:xfrm>
          <a:prstGeom prst="line">
            <a:avLst/>
          </a:prstGeom>
          <a:noFill/>
          <a:ln w="25400">
            <a:solidFill>
              <a:srgbClr val="76B900"/>
            </a:solidFill>
            <a:prstDash val="solid"/>
            <a:headEnd type="none"/>
            <a:tailEnd type="triangle"/>
          </a:ln>
        </p:spPr>
      </p:sp>
      <p:sp>
        <p:nvSpPr>
          <p:cNvPr id="17" name="Shape 15"/>
          <p:cNvSpPr/>
          <p:nvPr/>
        </p:nvSpPr>
        <p:spPr>
          <a:xfrm>
            <a:off x="3520440" y="4160520"/>
            <a:ext cx="1280160" cy="-914400"/>
          </a:xfrm>
          <a:prstGeom prst="line">
            <a:avLst/>
          </a:prstGeom>
          <a:noFill/>
          <a:ln w="25400">
            <a:solidFill>
              <a:srgbClr val="76B900"/>
            </a:solidFill>
            <a:prstDash val="solid"/>
            <a:headEnd type="none"/>
            <a:tailEnd type="triangle"/>
          </a:ln>
        </p:spPr>
      </p:sp>
      <p:sp>
        <p:nvSpPr>
          <p:cNvPr id="18" name="Shape 16"/>
          <p:cNvSpPr/>
          <p:nvPr/>
        </p:nvSpPr>
        <p:spPr>
          <a:xfrm>
            <a:off x="6629400" y="3200400"/>
            <a:ext cx="1280160" cy="0"/>
          </a:xfrm>
          <a:prstGeom prst="line">
            <a:avLst/>
          </a:prstGeom>
          <a:noFill/>
          <a:ln w="25400">
            <a:solidFill>
              <a:srgbClr val="76B900"/>
            </a:solidFill>
            <a:prstDash val="solid"/>
            <a:headEnd type="none"/>
            <a:tailEnd type="triangle"/>
          </a:ln>
        </p:spPr>
      </p:sp>
      <p:sp>
        <p:nvSpPr>
          <p:cNvPr id="19" name="Shape 17"/>
          <p:cNvSpPr/>
          <p:nvPr/>
        </p:nvSpPr>
        <p:spPr>
          <a:xfrm>
            <a:off x="1280160" y="5577840"/>
            <a:ext cx="1828800" cy="347472"/>
          </a:xfrm>
          <a:prstGeom prst="roundRect">
            <a:avLst>
              <a:gd name="adj" fmla="val 21053"/>
            </a:avLst>
          </a:prstGeom>
          <a:solidFill>
            <a:srgbClr val="38BDF8">
              <a:alpha val="92000"/>
            </a:srgbClr>
          </a:solidFill>
          <a:ln w="12700">
            <a:solidFill>
              <a:srgbClr val="38BDF8">
                <a:alpha val="80000"/>
              </a:srgbClr>
            </a:solidFill>
            <a:prstDash val="solid"/>
          </a:ln>
        </p:spPr>
      </p:sp>
      <p:sp>
        <p:nvSpPr>
          <p:cNvPr id="20" name="Text 18"/>
          <p:cNvSpPr/>
          <p:nvPr/>
        </p:nvSpPr>
        <p:spPr>
          <a:xfrm>
            <a:off x="1371600" y="5664708"/>
            <a:ext cx="1645920" cy="155448"/>
          </a:xfrm>
          <a:prstGeom prst="rect">
            <a:avLst/>
          </a:prstGeom>
          <a:noFill/>
          <a:ln/>
        </p:spPr>
        <p:txBody>
          <a:bodyPr wrap="square" lIns="0" tIns="0" rIns="0" bIns="0" rtlCol="0" anchor="ctr"/>
          <a:lstStyle/>
          <a:p>
            <a:pPr algn="ctr" indent="0" marL="0">
              <a:buNone/>
            </a:pPr>
            <a:r>
              <a:rPr lang="en-US" sz="1050" b="1" dirty="0">
                <a:solidFill>
                  <a:srgbClr val="F7FAFC"/>
                </a:solidFill>
              </a:rPr>
              <a:t>pytest tests/</a:t>
            </a:r>
            <a:endParaRPr lang="en-US" sz="1050" dirty="0"/>
          </a:p>
        </p:txBody>
      </p:sp>
      <p:sp>
        <p:nvSpPr>
          <p:cNvPr id="21" name="Shape 19"/>
          <p:cNvSpPr/>
          <p:nvPr/>
        </p:nvSpPr>
        <p:spPr>
          <a:xfrm>
            <a:off x="3474720" y="5577840"/>
            <a:ext cx="2331720" cy="347472"/>
          </a:xfrm>
          <a:prstGeom prst="roundRect">
            <a:avLst>
              <a:gd name="adj" fmla="val 21053"/>
            </a:avLst>
          </a:prstGeom>
          <a:solidFill>
            <a:srgbClr val="76B900">
              <a:alpha val="92000"/>
            </a:srgbClr>
          </a:solidFill>
          <a:ln w="12700">
            <a:solidFill>
              <a:srgbClr val="76B900">
                <a:alpha val="80000"/>
              </a:srgbClr>
            </a:solidFill>
            <a:prstDash val="solid"/>
          </a:ln>
        </p:spPr>
      </p:sp>
      <p:sp>
        <p:nvSpPr>
          <p:cNvPr id="22" name="Text 20"/>
          <p:cNvSpPr/>
          <p:nvPr/>
        </p:nvSpPr>
        <p:spPr>
          <a:xfrm>
            <a:off x="3566160" y="5664708"/>
            <a:ext cx="2148840" cy="155448"/>
          </a:xfrm>
          <a:prstGeom prst="rect">
            <a:avLst/>
          </a:prstGeom>
          <a:noFill/>
          <a:ln/>
        </p:spPr>
        <p:txBody>
          <a:bodyPr wrap="square" lIns="0" tIns="0" rIns="0" bIns="0" rtlCol="0" anchor="ctr"/>
          <a:lstStyle/>
          <a:p>
            <a:pPr algn="ctr" indent="0" marL="0">
              <a:buNone/>
            </a:pPr>
            <a:r>
              <a:rPr lang="en-US" sz="1050" b="1" dirty="0">
                <a:solidFill>
                  <a:srgbClr val="F7FAFC"/>
                </a:solidFill>
              </a:rPr>
              <a:t>same selected boxes</a:t>
            </a:r>
            <a:endParaRPr lang="en-US" sz="1050" dirty="0"/>
          </a:p>
        </p:txBody>
      </p:sp>
      <p:sp>
        <p:nvSpPr>
          <p:cNvPr id="23" name="Shape 21"/>
          <p:cNvSpPr/>
          <p:nvPr/>
        </p:nvSpPr>
        <p:spPr>
          <a:xfrm>
            <a:off x="6172200" y="5577840"/>
            <a:ext cx="2743200" cy="347472"/>
          </a:xfrm>
          <a:prstGeom prst="roundRect">
            <a:avLst>
              <a:gd name="adj" fmla="val 21053"/>
            </a:avLst>
          </a:prstGeom>
          <a:solidFill>
            <a:srgbClr val="A78BFA">
              <a:alpha val="92000"/>
            </a:srgbClr>
          </a:solidFill>
          <a:ln w="12700">
            <a:solidFill>
              <a:srgbClr val="A78BFA">
                <a:alpha val="80000"/>
              </a:srgbClr>
            </a:solidFill>
            <a:prstDash val="solid"/>
          </a:ln>
        </p:spPr>
      </p:sp>
      <p:sp>
        <p:nvSpPr>
          <p:cNvPr id="24" name="Text 22"/>
          <p:cNvSpPr/>
          <p:nvPr/>
        </p:nvSpPr>
        <p:spPr>
          <a:xfrm>
            <a:off x="6263640" y="5664708"/>
            <a:ext cx="2560320" cy="155448"/>
          </a:xfrm>
          <a:prstGeom prst="rect">
            <a:avLst/>
          </a:prstGeom>
          <a:noFill/>
          <a:ln/>
        </p:spPr>
        <p:txBody>
          <a:bodyPr wrap="square" lIns="0" tIns="0" rIns="0" bIns="0" rtlCol="0" anchor="ctr"/>
          <a:lstStyle/>
          <a:p>
            <a:pPr algn="ctr" indent="0" marL="0">
              <a:buNone/>
            </a:pPr>
            <a:r>
              <a:rPr lang="en-US" sz="1050" b="1" dirty="0">
                <a:solidFill>
                  <a:srgbClr val="F7FAFC"/>
                </a:solidFill>
              </a:rPr>
              <a:t>float tolerance when needed</a:t>
            </a:r>
            <a:endParaRPr lang="en-US" sz="1050" dirty="0"/>
          </a:p>
        </p:txBody>
      </p:sp>
      <p:sp>
        <p:nvSpPr>
          <p:cNvPr id="26" name="Text 23"/>
          <p:cNvSpPr/>
          <p:nvPr/>
        </p:nvSpPr>
        <p:spPr>
          <a:xfrm>
            <a:off x="11777472"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F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2"/>
          </a:solidFill>
          <a:ln w="12700">
            <a:solidFill>
              <a:srgbClr val="0B0F12">
                <a:alpha val="0"/>
              </a:srgbClr>
            </a:solidFill>
            <a:prstDash val="solid"/>
          </a:ln>
        </p:spPr>
      </p:sp>
      <p:sp>
        <p:nvSpPr>
          <p:cNvPr id="3" name="Shape 1"/>
          <p:cNvSpPr/>
          <p:nvPr/>
        </p:nvSpPr>
        <p:spPr>
          <a:xfrm>
            <a:off x="0" y="0"/>
            <a:ext cx="109728" cy="6858000"/>
          </a:xfrm>
          <a:prstGeom prst="rect">
            <a:avLst/>
          </a:prstGeom>
          <a:solidFill>
            <a:srgbClr val="76B900"/>
          </a:solidFill>
          <a:ln w="12700">
            <a:solidFill>
              <a:srgbClr val="76B900"/>
            </a:solidFill>
            <a:prstDash val="solid"/>
          </a:ln>
        </p:spPr>
      </p:sp>
      <p:sp>
        <p:nvSpPr>
          <p:cNvPr id="4" name="Shape 2"/>
          <p:cNvSpPr/>
          <p:nvPr/>
        </p:nvSpPr>
        <p:spPr>
          <a:xfrm>
            <a:off x="146304" y="0"/>
            <a:ext cx="12045391" cy="73152"/>
          </a:xfrm>
          <a:prstGeom prst="rect">
            <a:avLst/>
          </a:prstGeom>
          <a:solidFill>
            <a:srgbClr val="76B900">
              <a:alpha val="85000"/>
            </a:srgbClr>
          </a:solidFill>
          <a:ln w="12700">
            <a:solidFill>
              <a:srgbClr val="76B900">
                <a:alpha val="0"/>
              </a:srgbClr>
            </a:solidFill>
            <a:prstDash val="solid"/>
          </a:ln>
        </p:spPr>
      </p:sp>
      <p:sp>
        <p:nvSpPr>
          <p:cNvPr id="5" name="Text 3"/>
          <p:cNvSpPr/>
          <p:nvPr/>
        </p:nvSpPr>
        <p:spPr>
          <a:xfrm>
            <a:off x="438912" y="256032"/>
            <a:ext cx="9692640" cy="384048"/>
          </a:xfrm>
          <a:prstGeom prst="rect">
            <a:avLst/>
          </a:prstGeom>
          <a:noFill/>
          <a:ln/>
        </p:spPr>
        <p:txBody>
          <a:bodyPr wrap="square" lIns="0" tIns="0" rIns="0" bIns="0" rtlCol="0" anchor="ctr"/>
          <a:lstStyle/>
          <a:p>
            <a:pPr indent="0" marL="0">
              <a:buNone/>
            </a:pPr>
            <a:r>
              <a:rPr lang="en-US" sz="2500" b="1" dirty="0">
                <a:solidFill>
                  <a:srgbClr val="F7FAFC"/>
                </a:solidFill>
                <a:latin typeface="Aptos Display" pitchFamily="34" charset="0"/>
                <a:ea typeface="Aptos Display" pitchFamily="34" charset="-122"/>
                <a:cs typeface="Aptos Display" pitchFamily="34" charset="-120"/>
              </a:rPr>
              <a:t>Benchmark Methodology</a:t>
            </a:r>
            <a:endParaRPr lang="en-US" sz="2500" dirty="0"/>
          </a:p>
        </p:txBody>
      </p:sp>
      <p:sp>
        <p:nvSpPr>
          <p:cNvPr id="6" name="Text 4"/>
          <p:cNvSpPr/>
          <p:nvPr/>
        </p:nvSpPr>
        <p:spPr>
          <a:xfrm>
            <a:off x="438912" y="658368"/>
            <a:ext cx="8686800" cy="256032"/>
          </a:xfrm>
          <a:prstGeom prst="rect">
            <a:avLst/>
          </a:prstGeom>
          <a:noFill/>
          <a:ln/>
        </p:spPr>
        <p:txBody>
          <a:bodyPr wrap="square" lIns="0" tIns="0" rIns="0" bIns="0" rtlCol="0" anchor="ctr"/>
          <a:lstStyle/>
          <a:p>
            <a:pPr indent="0" marL="0">
              <a:buNone/>
            </a:pPr>
            <a:r>
              <a:rPr lang="en-US" sz="1050" dirty="0">
                <a:solidFill>
                  <a:srgbClr val="B7C0C9"/>
                </a:solidFill>
              </a:rPr>
              <a:t>Measure repeatable performance, not first-run noise</a:t>
            </a:r>
            <a:endParaRPr lang="en-US" sz="1050" dirty="0"/>
          </a:p>
        </p:txBody>
      </p:sp>
      <p:sp>
        <p:nvSpPr>
          <p:cNvPr id="7" name="Text 5"/>
          <p:cNvSpPr/>
          <p:nvPr/>
        </p:nvSpPr>
        <p:spPr>
          <a:xfrm>
            <a:off x="9738360" y="6446520"/>
            <a:ext cx="1965960" cy="201168"/>
          </a:xfrm>
          <a:prstGeom prst="rect">
            <a:avLst/>
          </a:prstGeom>
          <a:noFill/>
          <a:ln/>
        </p:spPr>
        <p:txBody>
          <a:bodyPr wrap="square" lIns="0" tIns="0" rIns="0" bIns="0" rtlCol="0" anchor="ctr"/>
          <a:lstStyle/>
          <a:p>
            <a:pPr algn="r" indent="0" marL="0">
              <a:buNone/>
            </a:pPr>
            <a:r>
              <a:rPr lang="en-US" sz="850" dirty="0">
                <a:solidFill>
                  <a:srgbClr val="6B7280"/>
                </a:solidFill>
              </a:rPr>
              <a:t>CUDA NMS · Seminar 2</a:t>
            </a:r>
            <a:endParaRPr lang="en-US" sz="850" dirty="0"/>
          </a:p>
        </p:txBody>
      </p:sp>
      <p:sp>
        <p:nvSpPr>
          <p:cNvPr id="8" name="Shape 6"/>
          <p:cNvSpPr/>
          <p:nvPr/>
        </p:nvSpPr>
        <p:spPr>
          <a:xfrm>
            <a:off x="914400" y="1828800"/>
            <a:ext cx="1965960" cy="914400"/>
          </a:xfrm>
          <a:prstGeom prst="roundRect">
            <a:avLst>
              <a:gd name="adj" fmla="val 12000"/>
            </a:avLst>
          </a:prstGeom>
          <a:solidFill>
            <a:srgbClr val="76B900"/>
          </a:solidFill>
          <a:ln w="12700">
            <a:solidFill>
              <a:srgbClr val="334155"/>
            </a:solidFill>
            <a:prstDash val="solid"/>
          </a:ln>
        </p:spPr>
      </p:sp>
      <p:sp>
        <p:nvSpPr>
          <p:cNvPr id="9" name="Text 7"/>
          <p:cNvSpPr/>
          <p:nvPr/>
        </p:nvSpPr>
        <p:spPr>
          <a:xfrm>
            <a:off x="1024128" y="1938528"/>
            <a:ext cx="1746504" cy="694944"/>
          </a:xfrm>
          <a:prstGeom prst="rect">
            <a:avLst/>
          </a:prstGeom>
          <a:noFill/>
          <a:ln/>
        </p:spPr>
        <p:txBody>
          <a:bodyPr wrap="square" lIns="254" tIns="254" rIns="254" bIns="254" rtlCol="0" anchor="ctr">
            <a:normAutofit/>
          </a:bodyPr>
          <a:lstStyle/>
          <a:p>
            <a:pPr algn="ctr" indent="0" marL="0">
              <a:buNone/>
            </a:pPr>
            <a:r>
              <a:rPr lang="en-US" sz="1200" b="1" dirty="0">
                <a:solidFill>
                  <a:srgbClr val="0B0F12"/>
                </a:solidFill>
              </a:rPr>
              <a:t>Warmup</a:t>
            </a:r>
            <a:endParaRPr lang="en-US" sz="1200" dirty="0"/>
          </a:p>
          <a:p>
            <a:pPr algn="ctr" indent="0" marL="0">
              <a:buNone/>
            </a:pPr>
            <a:r>
              <a:rPr lang="en-US" sz="1200" b="1" dirty="0">
                <a:solidFill>
                  <a:srgbClr val="0B0F12"/>
                </a:solidFill>
              </a:rPr>
              <a:t>avoid JIT / first-kernel noise</a:t>
            </a:r>
            <a:endParaRPr lang="en-US" sz="1200" dirty="0"/>
          </a:p>
        </p:txBody>
      </p:sp>
      <p:sp>
        <p:nvSpPr>
          <p:cNvPr id="10" name="Shape 8"/>
          <p:cNvSpPr/>
          <p:nvPr/>
        </p:nvSpPr>
        <p:spPr>
          <a:xfrm>
            <a:off x="2880360" y="2286000"/>
            <a:ext cx="777240" cy="0"/>
          </a:xfrm>
          <a:prstGeom prst="line">
            <a:avLst/>
          </a:prstGeom>
          <a:noFill/>
          <a:ln w="25400">
            <a:solidFill>
              <a:srgbClr val="76B900"/>
            </a:solidFill>
            <a:prstDash val="solid"/>
            <a:headEnd type="none"/>
            <a:tailEnd type="triangle"/>
          </a:ln>
        </p:spPr>
      </p:sp>
      <p:sp>
        <p:nvSpPr>
          <p:cNvPr id="11" name="Shape 9"/>
          <p:cNvSpPr/>
          <p:nvPr/>
        </p:nvSpPr>
        <p:spPr>
          <a:xfrm>
            <a:off x="3657600" y="1828800"/>
            <a:ext cx="1965960" cy="914400"/>
          </a:xfrm>
          <a:prstGeom prst="roundRect">
            <a:avLst>
              <a:gd name="adj" fmla="val 12000"/>
            </a:avLst>
          </a:prstGeom>
          <a:solidFill>
            <a:srgbClr val="16202A"/>
          </a:solidFill>
          <a:ln w="12700">
            <a:solidFill>
              <a:srgbClr val="334155"/>
            </a:solidFill>
            <a:prstDash val="solid"/>
          </a:ln>
        </p:spPr>
      </p:sp>
      <p:sp>
        <p:nvSpPr>
          <p:cNvPr id="12" name="Text 10"/>
          <p:cNvSpPr/>
          <p:nvPr/>
        </p:nvSpPr>
        <p:spPr>
          <a:xfrm>
            <a:off x="3767328" y="1938528"/>
            <a:ext cx="1746504" cy="694944"/>
          </a:xfrm>
          <a:prstGeom prst="rect">
            <a:avLst/>
          </a:prstGeom>
          <a:noFill/>
          <a:ln/>
        </p:spPr>
        <p:txBody>
          <a:bodyPr wrap="square" lIns="254" tIns="254" rIns="254" bIns="254" rtlCol="0" anchor="ctr">
            <a:normAutofit/>
          </a:bodyPr>
          <a:lstStyle/>
          <a:p>
            <a:pPr algn="ctr" indent="0" marL="0">
              <a:buNone/>
            </a:pPr>
            <a:r>
              <a:rPr lang="en-US" sz="1200" b="1" dirty="0">
                <a:solidFill>
                  <a:srgbClr val="F7FAFC"/>
                </a:solidFill>
              </a:rPr>
              <a:t>Repeat</a:t>
            </a:r>
            <a:endParaRPr lang="en-US" sz="1200" dirty="0"/>
          </a:p>
          <a:p>
            <a:pPr algn="ctr" indent="0" marL="0">
              <a:buNone/>
            </a:pPr>
            <a:r>
              <a:rPr lang="en-US" sz="1200" b="1" dirty="0">
                <a:solidFill>
                  <a:srgbClr val="F7FAFC"/>
                </a:solidFill>
              </a:rPr>
              <a:t>run several trials</a:t>
            </a:r>
            <a:endParaRPr lang="en-US" sz="1200" dirty="0"/>
          </a:p>
        </p:txBody>
      </p:sp>
      <p:sp>
        <p:nvSpPr>
          <p:cNvPr id="13" name="Shape 11"/>
          <p:cNvSpPr/>
          <p:nvPr/>
        </p:nvSpPr>
        <p:spPr>
          <a:xfrm>
            <a:off x="5623560" y="2286000"/>
            <a:ext cx="777240" cy="0"/>
          </a:xfrm>
          <a:prstGeom prst="line">
            <a:avLst/>
          </a:prstGeom>
          <a:noFill/>
          <a:ln w="25400">
            <a:solidFill>
              <a:srgbClr val="76B900"/>
            </a:solidFill>
            <a:prstDash val="solid"/>
            <a:headEnd type="none"/>
            <a:tailEnd type="triangle"/>
          </a:ln>
        </p:spPr>
      </p:sp>
      <p:sp>
        <p:nvSpPr>
          <p:cNvPr id="14" name="Shape 12"/>
          <p:cNvSpPr/>
          <p:nvPr/>
        </p:nvSpPr>
        <p:spPr>
          <a:xfrm>
            <a:off x="6400800" y="1828800"/>
            <a:ext cx="1965960" cy="914400"/>
          </a:xfrm>
          <a:prstGeom prst="roundRect">
            <a:avLst>
              <a:gd name="adj" fmla="val 12000"/>
            </a:avLst>
          </a:prstGeom>
          <a:solidFill>
            <a:srgbClr val="16202A"/>
          </a:solidFill>
          <a:ln w="12700">
            <a:solidFill>
              <a:srgbClr val="334155"/>
            </a:solidFill>
            <a:prstDash val="solid"/>
          </a:ln>
        </p:spPr>
      </p:sp>
      <p:sp>
        <p:nvSpPr>
          <p:cNvPr id="15" name="Text 13"/>
          <p:cNvSpPr/>
          <p:nvPr/>
        </p:nvSpPr>
        <p:spPr>
          <a:xfrm>
            <a:off x="6510528" y="1938528"/>
            <a:ext cx="1746504" cy="694944"/>
          </a:xfrm>
          <a:prstGeom prst="rect">
            <a:avLst/>
          </a:prstGeom>
          <a:noFill/>
          <a:ln/>
        </p:spPr>
        <p:txBody>
          <a:bodyPr wrap="square" lIns="254" tIns="254" rIns="254" bIns="254" rtlCol="0" anchor="ctr">
            <a:normAutofit/>
          </a:bodyPr>
          <a:lstStyle/>
          <a:p>
            <a:pPr algn="ctr" indent="0" marL="0">
              <a:buNone/>
            </a:pPr>
            <a:r>
              <a:rPr lang="en-US" sz="1200" b="1" dirty="0">
                <a:solidFill>
                  <a:srgbClr val="F7FAFC"/>
                </a:solidFill>
              </a:rPr>
              <a:t>Aggregate</a:t>
            </a:r>
            <a:endParaRPr lang="en-US" sz="1200" dirty="0"/>
          </a:p>
          <a:p>
            <a:pPr algn="ctr" indent="0" marL="0">
              <a:buNone/>
            </a:pPr>
            <a:r>
              <a:rPr lang="en-US" sz="1200" b="1" dirty="0">
                <a:solidFill>
                  <a:srgbClr val="F7FAFC"/>
                </a:solidFill>
              </a:rPr>
              <a:t>mean / median / std</a:t>
            </a:r>
            <a:endParaRPr lang="en-US" sz="1200" dirty="0"/>
          </a:p>
        </p:txBody>
      </p:sp>
      <p:sp>
        <p:nvSpPr>
          <p:cNvPr id="16" name="Shape 14"/>
          <p:cNvSpPr/>
          <p:nvPr/>
        </p:nvSpPr>
        <p:spPr>
          <a:xfrm>
            <a:off x="8366760" y="2286000"/>
            <a:ext cx="777240" cy="0"/>
          </a:xfrm>
          <a:prstGeom prst="line">
            <a:avLst/>
          </a:prstGeom>
          <a:noFill/>
          <a:ln w="25400">
            <a:solidFill>
              <a:srgbClr val="76B900"/>
            </a:solidFill>
            <a:prstDash val="solid"/>
            <a:headEnd type="none"/>
            <a:tailEnd type="triangle"/>
          </a:ln>
        </p:spPr>
      </p:sp>
      <p:sp>
        <p:nvSpPr>
          <p:cNvPr id="17" name="Shape 15"/>
          <p:cNvSpPr/>
          <p:nvPr/>
        </p:nvSpPr>
        <p:spPr>
          <a:xfrm>
            <a:off x="9144000" y="1828800"/>
            <a:ext cx="1965960" cy="914400"/>
          </a:xfrm>
          <a:prstGeom prst="roundRect">
            <a:avLst>
              <a:gd name="adj" fmla="val 12000"/>
            </a:avLst>
          </a:prstGeom>
          <a:solidFill>
            <a:srgbClr val="16202A"/>
          </a:solidFill>
          <a:ln w="12700">
            <a:solidFill>
              <a:srgbClr val="334155"/>
            </a:solidFill>
            <a:prstDash val="solid"/>
          </a:ln>
        </p:spPr>
      </p:sp>
      <p:sp>
        <p:nvSpPr>
          <p:cNvPr id="18" name="Text 16"/>
          <p:cNvSpPr/>
          <p:nvPr/>
        </p:nvSpPr>
        <p:spPr>
          <a:xfrm>
            <a:off x="9253728" y="1938528"/>
            <a:ext cx="1746504" cy="694944"/>
          </a:xfrm>
          <a:prstGeom prst="rect">
            <a:avLst/>
          </a:prstGeom>
          <a:noFill/>
          <a:ln/>
        </p:spPr>
        <p:txBody>
          <a:bodyPr wrap="square" lIns="254" tIns="254" rIns="254" bIns="254" rtlCol="0" anchor="ctr">
            <a:normAutofit/>
          </a:bodyPr>
          <a:lstStyle/>
          <a:p>
            <a:pPr algn="ctr" indent="0" marL="0">
              <a:buNone/>
            </a:pPr>
            <a:r>
              <a:rPr lang="en-US" sz="1200" b="1" dirty="0">
                <a:solidFill>
                  <a:srgbClr val="F7FAFC"/>
                </a:solidFill>
              </a:rPr>
              <a:t>Compare</a:t>
            </a:r>
            <a:endParaRPr lang="en-US" sz="1200" dirty="0"/>
          </a:p>
          <a:p>
            <a:pPr algn="ctr" indent="0" marL="0">
              <a:buNone/>
            </a:pPr>
            <a:r>
              <a:rPr lang="en-US" sz="1200" b="1" dirty="0">
                <a:solidFill>
                  <a:srgbClr val="F7FAFC"/>
                </a:solidFill>
              </a:rPr>
              <a:t>CPU vs GPU V1</a:t>
            </a:r>
            <a:endParaRPr lang="en-US" sz="1200" dirty="0"/>
          </a:p>
        </p:txBody>
      </p:sp>
      <p:sp>
        <p:nvSpPr>
          <p:cNvPr id="19" name="Shape 17"/>
          <p:cNvSpPr/>
          <p:nvPr/>
        </p:nvSpPr>
        <p:spPr>
          <a:xfrm>
            <a:off x="1051560" y="3977640"/>
            <a:ext cx="3474720" cy="731520"/>
          </a:xfrm>
          <a:prstGeom prst="roundRect">
            <a:avLst>
              <a:gd name="adj" fmla="val 12500"/>
            </a:avLst>
          </a:prstGeom>
          <a:solidFill>
            <a:srgbClr val="0F1720"/>
          </a:solidFill>
          <a:ln w="12700">
            <a:solidFill>
              <a:srgbClr val="76B900">
                <a:alpha val="70000"/>
              </a:srgbClr>
            </a:solidFill>
            <a:prstDash val="solid"/>
          </a:ln>
        </p:spPr>
      </p:sp>
      <p:sp>
        <p:nvSpPr>
          <p:cNvPr id="20" name="Text 18"/>
          <p:cNvSpPr/>
          <p:nvPr/>
        </p:nvSpPr>
        <p:spPr>
          <a:xfrm>
            <a:off x="1161288" y="4123944"/>
            <a:ext cx="3255264" cy="512064"/>
          </a:xfrm>
          <a:prstGeom prst="rect">
            <a:avLst/>
          </a:prstGeom>
          <a:noFill/>
          <a:ln/>
        </p:spPr>
        <p:txBody>
          <a:bodyPr wrap="square" lIns="0" tIns="0" rIns="0" bIns="0" rtlCol="0" anchor="ctr">
            <a:normAutofit/>
          </a:bodyPr>
          <a:lstStyle/>
          <a:p>
            <a:pPr algn="ctr" indent="0" marL="0">
              <a:buNone/>
            </a:pPr>
            <a:r>
              <a:rPr lang="en-US" sz="1700" b="1" dirty="0">
                <a:solidFill>
                  <a:srgbClr val="F7FAFC"/>
                </a:solidFill>
              </a:rPr>
              <a:t>N ∈ {100, 1,000, 10,000} boxes</a:t>
            </a:r>
            <a:endParaRPr lang="en-US" sz="1700" dirty="0"/>
          </a:p>
        </p:txBody>
      </p:sp>
      <p:sp>
        <p:nvSpPr>
          <p:cNvPr id="21" name="Shape 19"/>
          <p:cNvSpPr/>
          <p:nvPr/>
        </p:nvSpPr>
        <p:spPr>
          <a:xfrm>
            <a:off x="4754880" y="3977640"/>
            <a:ext cx="2834640" cy="731520"/>
          </a:xfrm>
          <a:prstGeom prst="roundRect">
            <a:avLst>
              <a:gd name="adj" fmla="val 12500"/>
            </a:avLst>
          </a:prstGeom>
          <a:solidFill>
            <a:srgbClr val="0F1720"/>
          </a:solidFill>
          <a:ln w="12700">
            <a:solidFill>
              <a:srgbClr val="76B900">
                <a:alpha val="70000"/>
              </a:srgbClr>
            </a:solidFill>
            <a:prstDash val="solid"/>
          </a:ln>
        </p:spPr>
      </p:sp>
      <p:sp>
        <p:nvSpPr>
          <p:cNvPr id="22" name="Text 20"/>
          <p:cNvSpPr/>
          <p:nvPr/>
        </p:nvSpPr>
        <p:spPr>
          <a:xfrm>
            <a:off x="4864608" y="4123944"/>
            <a:ext cx="2615184" cy="512064"/>
          </a:xfrm>
          <a:prstGeom prst="rect">
            <a:avLst/>
          </a:prstGeom>
          <a:noFill/>
          <a:ln/>
        </p:spPr>
        <p:txBody>
          <a:bodyPr wrap="square" lIns="0" tIns="0" rIns="0" bIns="0" rtlCol="0" anchor="ctr">
            <a:normAutofit/>
          </a:bodyPr>
          <a:lstStyle/>
          <a:p>
            <a:pPr algn="ctr" indent="0" marL="0">
              <a:buNone/>
            </a:pPr>
            <a:r>
              <a:rPr lang="en-US" sz="1700" b="1" dirty="0">
                <a:solidFill>
                  <a:srgbClr val="F7FAFC"/>
                </a:solidFill>
              </a:rPr>
              <a:t>Report latency + speedup</a:t>
            </a:r>
            <a:endParaRPr lang="en-US" sz="1700" dirty="0"/>
          </a:p>
        </p:txBody>
      </p:sp>
      <p:sp>
        <p:nvSpPr>
          <p:cNvPr id="23" name="Shape 21"/>
          <p:cNvSpPr/>
          <p:nvPr/>
        </p:nvSpPr>
        <p:spPr>
          <a:xfrm>
            <a:off x="7818120" y="3977640"/>
            <a:ext cx="3291840" cy="731520"/>
          </a:xfrm>
          <a:prstGeom prst="roundRect">
            <a:avLst>
              <a:gd name="adj" fmla="val 12500"/>
            </a:avLst>
          </a:prstGeom>
          <a:solidFill>
            <a:srgbClr val="0F1720"/>
          </a:solidFill>
          <a:ln w="12700">
            <a:solidFill>
              <a:srgbClr val="76B900">
                <a:alpha val="70000"/>
              </a:srgbClr>
            </a:solidFill>
            <a:prstDash val="solid"/>
          </a:ln>
        </p:spPr>
      </p:sp>
      <p:sp>
        <p:nvSpPr>
          <p:cNvPr id="24" name="Text 22"/>
          <p:cNvSpPr/>
          <p:nvPr/>
        </p:nvSpPr>
        <p:spPr>
          <a:xfrm>
            <a:off x="7927848" y="4123944"/>
            <a:ext cx="3072384" cy="512064"/>
          </a:xfrm>
          <a:prstGeom prst="rect">
            <a:avLst/>
          </a:prstGeom>
          <a:noFill/>
          <a:ln/>
        </p:spPr>
        <p:txBody>
          <a:bodyPr wrap="square" lIns="0" tIns="0" rIns="0" bIns="0" rtlCol="0" anchor="ctr">
            <a:normAutofit/>
          </a:bodyPr>
          <a:lstStyle/>
          <a:p>
            <a:pPr algn="ctr" indent="0" marL="0">
              <a:buNone/>
            </a:pPr>
            <a:r>
              <a:rPr lang="en-US" sz="1700" b="1" dirty="0">
                <a:solidFill>
                  <a:srgbClr val="F7FAFC"/>
                </a:solidFill>
              </a:rPr>
              <a:t>Environment: Colab GPU / local CPU</a:t>
            </a:r>
            <a:endParaRPr lang="en-US" sz="1700" dirty="0"/>
          </a:p>
        </p:txBody>
      </p:sp>
      <p:sp>
        <p:nvSpPr>
          <p:cNvPr id="26" name="Text 23"/>
          <p:cNvSpPr/>
          <p:nvPr/>
        </p:nvSpPr>
        <p:spPr>
          <a:xfrm>
            <a:off x="11777472"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F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2"/>
          </a:solidFill>
          <a:ln w="12700">
            <a:solidFill>
              <a:srgbClr val="0B0F12">
                <a:alpha val="0"/>
              </a:srgbClr>
            </a:solidFill>
            <a:prstDash val="solid"/>
          </a:ln>
        </p:spPr>
      </p:sp>
      <p:sp>
        <p:nvSpPr>
          <p:cNvPr id="3" name="Shape 1"/>
          <p:cNvSpPr/>
          <p:nvPr/>
        </p:nvSpPr>
        <p:spPr>
          <a:xfrm>
            <a:off x="0" y="0"/>
            <a:ext cx="109728" cy="6858000"/>
          </a:xfrm>
          <a:prstGeom prst="rect">
            <a:avLst/>
          </a:prstGeom>
          <a:solidFill>
            <a:srgbClr val="76B900"/>
          </a:solidFill>
          <a:ln w="12700">
            <a:solidFill>
              <a:srgbClr val="76B900"/>
            </a:solidFill>
            <a:prstDash val="solid"/>
          </a:ln>
        </p:spPr>
      </p:sp>
      <p:sp>
        <p:nvSpPr>
          <p:cNvPr id="4" name="Shape 2"/>
          <p:cNvSpPr/>
          <p:nvPr/>
        </p:nvSpPr>
        <p:spPr>
          <a:xfrm>
            <a:off x="146304" y="0"/>
            <a:ext cx="12045391" cy="73152"/>
          </a:xfrm>
          <a:prstGeom prst="rect">
            <a:avLst/>
          </a:prstGeom>
          <a:solidFill>
            <a:srgbClr val="76B900">
              <a:alpha val="85000"/>
            </a:srgbClr>
          </a:solidFill>
          <a:ln w="12700">
            <a:solidFill>
              <a:srgbClr val="76B900">
                <a:alpha val="0"/>
              </a:srgbClr>
            </a:solidFill>
            <a:prstDash val="solid"/>
          </a:ln>
        </p:spPr>
      </p:sp>
      <p:sp>
        <p:nvSpPr>
          <p:cNvPr id="5" name="Text 3"/>
          <p:cNvSpPr/>
          <p:nvPr/>
        </p:nvSpPr>
        <p:spPr>
          <a:xfrm>
            <a:off x="438912" y="256032"/>
            <a:ext cx="9692640" cy="384048"/>
          </a:xfrm>
          <a:prstGeom prst="rect">
            <a:avLst/>
          </a:prstGeom>
          <a:noFill/>
          <a:ln/>
        </p:spPr>
        <p:txBody>
          <a:bodyPr wrap="square" lIns="0" tIns="0" rIns="0" bIns="0" rtlCol="0" anchor="ctr"/>
          <a:lstStyle/>
          <a:p>
            <a:pPr indent="0" marL="0">
              <a:buNone/>
            </a:pPr>
            <a:r>
              <a:rPr lang="en-US" sz="2500" b="1" dirty="0">
                <a:solidFill>
                  <a:srgbClr val="F7FAFC"/>
                </a:solidFill>
                <a:latin typeface="Aptos Display" pitchFamily="34" charset="0"/>
                <a:ea typeface="Aptos Display" pitchFamily="34" charset="-122"/>
                <a:cs typeface="Aptos Display" pitchFamily="34" charset="-120"/>
              </a:rPr>
              <a:t>Benchmark Results</a:t>
            </a:r>
            <a:endParaRPr lang="en-US" sz="2500" dirty="0"/>
          </a:p>
        </p:txBody>
      </p:sp>
      <p:sp>
        <p:nvSpPr>
          <p:cNvPr id="6" name="Text 4"/>
          <p:cNvSpPr/>
          <p:nvPr/>
        </p:nvSpPr>
        <p:spPr>
          <a:xfrm>
            <a:off x="438912" y="658368"/>
            <a:ext cx="8686800" cy="256032"/>
          </a:xfrm>
          <a:prstGeom prst="rect">
            <a:avLst/>
          </a:prstGeom>
          <a:noFill/>
          <a:ln/>
        </p:spPr>
        <p:txBody>
          <a:bodyPr wrap="square" lIns="0" tIns="0" rIns="0" bIns="0" rtlCol="0" anchor="ctr"/>
          <a:lstStyle/>
          <a:p>
            <a:pPr indent="0" marL="0">
              <a:buNone/>
            </a:pPr>
            <a:r>
              <a:rPr lang="en-US" sz="1050" dirty="0">
                <a:solidFill>
                  <a:srgbClr val="B7C0C9"/>
                </a:solidFill>
              </a:rPr>
              <a:t>Replace placeholders with latest measured numbers</a:t>
            </a:r>
            <a:endParaRPr lang="en-US" sz="1050" dirty="0"/>
          </a:p>
        </p:txBody>
      </p:sp>
      <p:sp>
        <p:nvSpPr>
          <p:cNvPr id="7" name="Text 5"/>
          <p:cNvSpPr/>
          <p:nvPr/>
        </p:nvSpPr>
        <p:spPr>
          <a:xfrm>
            <a:off x="9738360" y="6446520"/>
            <a:ext cx="1965960" cy="201168"/>
          </a:xfrm>
          <a:prstGeom prst="rect">
            <a:avLst/>
          </a:prstGeom>
          <a:noFill/>
          <a:ln/>
        </p:spPr>
        <p:txBody>
          <a:bodyPr wrap="square" lIns="0" tIns="0" rIns="0" bIns="0" rtlCol="0" anchor="ctr"/>
          <a:lstStyle/>
          <a:p>
            <a:pPr algn="r" indent="0" marL="0">
              <a:buNone/>
            </a:pPr>
            <a:r>
              <a:rPr lang="en-US" sz="850" dirty="0">
                <a:solidFill>
                  <a:srgbClr val="6B7280"/>
                </a:solidFill>
              </a:rPr>
              <a:t>CUDA NMS · Seminar 2</a:t>
            </a:r>
            <a:endParaRPr lang="en-US" sz="850" dirty="0"/>
          </a:p>
        </p:txBody>
      </p:sp>
      <p:sp>
        <p:nvSpPr>
          <p:cNvPr id="8" name="Text 6"/>
          <p:cNvSpPr/>
          <p:nvPr/>
        </p:nvSpPr>
        <p:spPr>
          <a:xfrm>
            <a:off x="868680" y="1115568"/>
            <a:ext cx="3383280" cy="237744"/>
          </a:xfrm>
          <a:prstGeom prst="rect">
            <a:avLst/>
          </a:prstGeom>
          <a:noFill/>
          <a:ln/>
        </p:spPr>
        <p:txBody>
          <a:bodyPr wrap="square" lIns="0" tIns="0" rIns="0" bIns="0" rtlCol="0" anchor="ctr"/>
          <a:lstStyle/>
          <a:p>
            <a:pPr indent="0" marL="0">
              <a:buNone/>
            </a:pPr>
            <a:r>
              <a:rPr lang="en-US" sz="1600" b="1" dirty="0">
                <a:solidFill>
                  <a:srgbClr val="F7FAFC"/>
                </a:solidFill>
              </a:rPr>
              <a:t>Latency by input size</a:t>
            </a:r>
            <a:endParaRPr lang="en-US" sz="1600" dirty="0"/>
          </a:p>
        </p:txBody>
      </p:sp>
      <p:sp>
        <p:nvSpPr>
          <p:cNvPr id="9" name="Shape 7"/>
          <p:cNvSpPr/>
          <p:nvPr/>
        </p:nvSpPr>
        <p:spPr>
          <a:xfrm>
            <a:off x="914400" y="3703320"/>
            <a:ext cx="320040" cy="502920"/>
          </a:xfrm>
          <a:prstGeom prst="rect">
            <a:avLst/>
          </a:prstGeom>
          <a:solidFill>
            <a:srgbClr val="F59E0B">
              <a:alpha val="90000"/>
            </a:srgbClr>
          </a:solidFill>
          <a:ln w="12700">
            <a:solidFill>
              <a:srgbClr val="F59E0B"/>
            </a:solidFill>
            <a:prstDash val="solid"/>
          </a:ln>
        </p:spPr>
      </p:sp>
      <p:sp>
        <p:nvSpPr>
          <p:cNvPr id="10" name="Shape 8"/>
          <p:cNvSpPr/>
          <p:nvPr/>
        </p:nvSpPr>
        <p:spPr>
          <a:xfrm>
            <a:off x="1298448" y="3611880"/>
            <a:ext cx="320040" cy="594360"/>
          </a:xfrm>
          <a:prstGeom prst="rect">
            <a:avLst/>
          </a:prstGeom>
          <a:solidFill>
            <a:srgbClr val="76B900">
              <a:alpha val="95000"/>
            </a:srgbClr>
          </a:solidFill>
          <a:ln w="12700">
            <a:solidFill>
              <a:srgbClr val="76B900"/>
            </a:solidFill>
            <a:prstDash val="solid"/>
          </a:ln>
        </p:spPr>
      </p:sp>
      <p:sp>
        <p:nvSpPr>
          <p:cNvPr id="11" name="Text 9"/>
          <p:cNvSpPr/>
          <p:nvPr/>
        </p:nvSpPr>
        <p:spPr>
          <a:xfrm>
            <a:off x="914400" y="4315968"/>
            <a:ext cx="731520" cy="182880"/>
          </a:xfrm>
          <a:prstGeom prst="rect">
            <a:avLst/>
          </a:prstGeom>
          <a:noFill/>
          <a:ln/>
        </p:spPr>
        <p:txBody>
          <a:bodyPr wrap="square" lIns="0" tIns="0" rIns="0" bIns="0" rtlCol="0" anchor="ctr"/>
          <a:lstStyle/>
          <a:p>
            <a:pPr algn="ctr" indent="0" marL="0">
              <a:buNone/>
            </a:pPr>
            <a:r>
              <a:rPr lang="en-US" sz="1000" dirty="0">
                <a:solidFill>
                  <a:srgbClr val="B7C0C9"/>
                </a:solidFill>
              </a:rPr>
              <a:t>100</a:t>
            </a:r>
            <a:endParaRPr lang="en-US" sz="1000" dirty="0"/>
          </a:p>
        </p:txBody>
      </p:sp>
      <p:sp>
        <p:nvSpPr>
          <p:cNvPr id="12" name="Shape 10"/>
          <p:cNvSpPr/>
          <p:nvPr/>
        </p:nvSpPr>
        <p:spPr>
          <a:xfrm>
            <a:off x="2057400" y="2880360"/>
            <a:ext cx="320040" cy="1325880"/>
          </a:xfrm>
          <a:prstGeom prst="rect">
            <a:avLst/>
          </a:prstGeom>
          <a:solidFill>
            <a:srgbClr val="F59E0B">
              <a:alpha val="90000"/>
            </a:srgbClr>
          </a:solidFill>
          <a:ln w="12700">
            <a:solidFill>
              <a:srgbClr val="F59E0B"/>
            </a:solidFill>
            <a:prstDash val="solid"/>
          </a:ln>
        </p:spPr>
      </p:sp>
      <p:sp>
        <p:nvSpPr>
          <p:cNvPr id="13" name="Shape 11"/>
          <p:cNvSpPr/>
          <p:nvPr/>
        </p:nvSpPr>
        <p:spPr>
          <a:xfrm>
            <a:off x="2441448" y="3429000"/>
            <a:ext cx="320040" cy="777240"/>
          </a:xfrm>
          <a:prstGeom prst="rect">
            <a:avLst/>
          </a:prstGeom>
          <a:solidFill>
            <a:srgbClr val="76B900">
              <a:alpha val="95000"/>
            </a:srgbClr>
          </a:solidFill>
          <a:ln w="12700">
            <a:solidFill>
              <a:srgbClr val="76B900"/>
            </a:solidFill>
            <a:prstDash val="solid"/>
          </a:ln>
        </p:spPr>
      </p:sp>
      <p:sp>
        <p:nvSpPr>
          <p:cNvPr id="14" name="Text 12"/>
          <p:cNvSpPr/>
          <p:nvPr/>
        </p:nvSpPr>
        <p:spPr>
          <a:xfrm>
            <a:off x="2057400" y="4315968"/>
            <a:ext cx="731520" cy="182880"/>
          </a:xfrm>
          <a:prstGeom prst="rect">
            <a:avLst/>
          </a:prstGeom>
          <a:noFill/>
          <a:ln/>
        </p:spPr>
        <p:txBody>
          <a:bodyPr wrap="square" lIns="0" tIns="0" rIns="0" bIns="0" rtlCol="0" anchor="ctr"/>
          <a:lstStyle/>
          <a:p>
            <a:pPr algn="ctr" indent="0" marL="0">
              <a:buNone/>
            </a:pPr>
            <a:r>
              <a:rPr lang="en-US" sz="1000" dirty="0">
                <a:solidFill>
                  <a:srgbClr val="B7C0C9"/>
                </a:solidFill>
              </a:rPr>
              <a:t>1k</a:t>
            </a:r>
            <a:endParaRPr lang="en-US" sz="1000" dirty="0"/>
          </a:p>
        </p:txBody>
      </p:sp>
      <p:sp>
        <p:nvSpPr>
          <p:cNvPr id="15" name="Shape 13"/>
          <p:cNvSpPr/>
          <p:nvPr/>
        </p:nvSpPr>
        <p:spPr>
          <a:xfrm>
            <a:off x="3200400" y="2011680"/>
            <a:ext cx="320040" cy="2194560"/>
          </a:xfrm>
          <a:prstGeom prst="rect">
            <a:avLst/>
          </a:prstGeom>
          <a:solidFill>
            <a:srgbClr val="F59E0B">
              <a:alpha val="90000"/>
            </a:srgbClr>
          </a:solidFill>
          <a:ln w="12700">
            <a:solidFill>
              <a:srgbClr val="F59E0B"/>
            </a:solidFill>
            <a:prstDash val="solid"/>
          </a:ln>
        </p:spPr>
      </p:sp>
      <p:sp>
        <p:nvSpPr>
          <p:cNvPr id="16" name="Shape 14"/>
          <p:cNvSpPr/>
          <p:nvPr/>
        </p:nvSpPr>
        <p:spPr>
          <a:xfrm>
            <a:off x="3584448" y="3063240"/>
            <a:ext cx="320040" cy="1143000"/>
          </a:xfrm>
          <a:prstGeom prst="rect">
            <a:avLst/>
          </a:prstGeom>
          <a:solidFill>
            <a:srgbClr val="76B900">
              <a:alpha val="95000"/>
            </a:srgbClr>
          </a:solidFill>
          <a:ln w="12700">
            <a:solidFill>
              <a:srgbClr val="76B900"/>
            </a:solidFill>
            <a:prstDash val="solid"/>
          </a:ln>
        </p:spPr>
      </p:sp>
      <p:sp>
        <p:nvSpPr>
          <p:cNvPr id="17" name="Text 15"/>
          <p:cNvSpPr/>
          <p:nvPr/>
        </p:nvSpPr>
        <p:spPr>
          <a:xfrm>
            <a:off x="3200400" y="4315968"/>
            <a:ext cx="731520" cy="182880"/>
          </a:xfrm>
          <a:prstGeom prst="rect">
            <a:avLst/>
          </a:prstGeom>
          <a:noFill/>
          <a:ln/>
        </p:spPr>
        <p:txBody>
          <a:bodyPr wrap="square" lIns="0" tIns="0" rIns="0" bIns="0" rtlCol="0" anchor="ctr"/>
          <a:lstStyle/>
          <a:p>
            <a:pPr algn="ctr" indent="0" marL="0">
              <a:buNone/>
            </a:pPr>
            <a:r>
              <a:rPr lang="en-US" sz="1000" dirty="0">
                <a:solidFill>
                  <a:srgbClr val="B7C0C9"/>
                </a:solidFill>
              </a:rPr>
              <a:t>10k</a:t>
            </a:r>
            <a:endParaRPr lang="en-US" sz="1000" dirty="0"/>
          </a:p>
        </p:txBody>
      </p:sp>
      <p:sp>
        <p:nvSpPr>
          <p:cNvPr id="18" name="Text 16"/>
          <p:cNvSpPr/>
          <p:nvPr/>
        </p:nvSpPr>
        <p:spPr>
          <a:xfrm>
            <a:off x="3520440" y="1554480"/>
            <a:ext cx="457200" cy="164592"/>
          </a:xfrm>
          <a:prstGeom prst="rect">
            <a:avLst/>
          </a:prstGeom>
          <a:noFill/>
          <a:ln/>
        </p:spPr>
        <p:txBody>
          <a:bodyPr wrap="square" lIns="0" tIns="0" rIns="0" bIns="0" rtlCol="0" anchor="ctr"/>
          <a:lstStyle/>
          <a:p>
            <a:pPr indent="0" marL="0">
              <a:buNone/>
            </a:pPr>
            <a:r>
              <a:rPr lang="en-US" sz="950" b="1" dirty="0">
                <a:solidFill>
                  <a:srgbClr val="F59E0B"/>
                </a:solidFill>
              </a:rPr>
              <a:t>CPU</a:t>
            </a:r>
            <a:endParaRPr lang="en-US" sz="950" dirty="0"/>
          </a:p>
        </p:txBody>
      </p:sp>
      <p:sp>
        <p:nvSpPr>
          <p:cNvPr id="19" name="Text 17"/>
          <p:cNvSpPr/>
          <p:nvPr/>
        </p:nvSpPr>
        <p:spPr>
          <a:xfrm>
            <a:off x="4023360" y="1554480"/>
            <a:ext cx="731520" cy="164592"/>
          </a:xfrm>
          <a:prstGeom prst="rect">
            <a:avLst/>
          </a:prstGeom>
          <a:noFill/>
          <a:ln/>
        </p:spPr>
        <p:txBody>
          <a:bodyPr wrap="square" lIns="0" tIns="0" rIns="0" bIns="0" rtlCol="0" anchor="ctr"/>
          <a:lstStyle/>
          <a:p>
            <a:pPr indent="0" marL="0">
              <a:buNone/>
            </a:pPr>
            <a:r>
              <a:rPr lang="en-US" sz="950" b="1" dirty="0">
                <a:solidFill>
                  <a:srgbClr val="76B900"/>
                </a:solidFill>
              </a:rPr>
              <a:t>GPU V1</a:t>
            </a:r>
            <a:endParaRPr lang="en-US" sz="950" dirty="0"/>
          </a:p>
        </p:txBody>
      </p:sp>
      <p:sp>
        <p:nvSpPr>
          <p:cNvPr id="20" name="Shape 18"/>
          <p:cNvSpPr/>
          <p:nvPr/>
        </p:nvSpPr>
        <p:spPr>
          <a:xfrm>
            <a:off x="822960" y="4206240"/>
            <a:ext cx="3703320" cy="0"/>
          </a:xfrm>
          <a:prstGeom prst="line">
            <a:avLst/>
          </a:prstGeom>
          <a:noFill/>
          <a:ln w="12700">
            <a:solidFill>
              <a:srgbClr val="334155"/>
            </a:solidFill>
            <a:prstDash val="solid"/>
          </a:ln>
        </p:spPr>
      </p:sp>
      <p:sp>
        <p:nvSpPr>
          <p:cNvPr id="21" name="Text 19"/>
          <p:cNvSpPr/>
          <p:nvPr/>
        </p:nvSpPr>
        <p:spPr>
          <a:xfrm>
            <a:off x="6309360" y="1115568"/>
            <a:ext cx="1828800" cy="237744"/>
          </a:xfrm>
          <a:prstGeom prst="rect">
            <a:avLst/>
          </a:prstGeom>
          <a:noFill/>
          <a:ln/>
        </p:spPr>
        <p:txBody>
          <a:bodyPr wrap="square" lIns="0" tIns="0" rIns="0" bIns="0" rtlCol="0" anchor="ctr"/>
          <a:lstStyle/>
          <a:p>
            <a:pPr indent="0" marL="0">
              <a:buNone/>
            </a:pPr>
            <a:r>
              <a:rPr lang="en-US" sz="1600" b="1" dirty="0">
                <a:solidFill>
                  <a:srgbClr val="F7FAFC"/>
                </a:solidFill>
              </a:rPr>
              <a:t>Speedup</a:t>
            </a:r>
            <a:endParaRPr lang="en-US" sz="1600" dirty="0"/>
          </a:p>
        </p:txBody>
      </p:sp>
      <p:sp>
        <p:nvSpPr>
          <p:cNvPr id="22" name="Shape 20"/>
          <p:cNvSpPr/>
          <p:nvPr/>
        </p:nvSpPr>
        <p:spPr>
          <a:xfrm>
            <a:off x="6309360" y="3474720"/>
            <a:ext cx="502920" cy="731520"/>
          </a:xfrm>
          <a:prstGeom prst="rect">
            <a:avLst/>
          </a:prstGeom>
          <a:solidFill>
            <a:srgbClr val="76B900">
              <a:alpha val="93000"/>
            </a:srgbClr>
          </a:solidFill>
          <a:ln w="12700">
            <a:solidFill>
              <a:srgbClr val="76B900"/>
            </a:solidFill>
            <a:prstDash val="solid"/>
          </a:ln>
        </p:spPr>
      </p:sp>
      <p:sp>
        <p:nvSpPr>
          <p:cNvPr id="23" name="Text 21"/>
          <p:cNvSpPr/>
          <p:nvPr/>
        </p:nvSpPr>
        <p:spPr>
          <a:xfrm>
            <a:off x="6217920" y="4315968"/>
            <a:ext cx="685800" cy="182880"/>
          </a:xfrm>
          <a:prstGeom prst="rect">
            <a:avLst/>
          </a:prstGeom>
          <a:noFill/>
          <a:ln/>
        </p:spPr>
        <p:txBody>
          <a:bodyPr wrap="square" lIns="0" tIns="0" rIns="0" bIns="0" rtlCol="0" anchor="ctr"/>
          <a:lstStyle/>
          <a:p>
            <a:pPr algn="ctr" indent="0" marL="0">
              <a:buNone/>
            </a:pPr>
            <a:r>
              <a:rPr lang="en-US" sz="1000" dirty="0">
                <a:solidFill>
                  <a:srgbClr val="B7C0C9"/>
                </a:solidFill>
              </a:rPr>
              <a:t>100</a:t>
            </a:r>
            <a:endParaRPr lang="en-US" sz="1000" dirty="0"/>
          </a:p>
        </p:txBody>
      </p:sp>
      <p:sp>
        <p:nvSpPr>
          <p:cNvPr id="24" name="Shape 22"/>
          <p:cNvSpPr/>
          <p:nvPr/>
        </p:nvSpPr>
        <p:spPr>
          <a:xfrm>
            <a:off x="7543800" y="2743200"/>
            <a:ext cx="502920" cy="1463040"/>
          </a:xfrm>
          <a:prstGeom prst="rect">
            <a:avLst/>
          </a:prstGeom>
          <a:solidFill>
            <a:srgbClr val="76B900">
              <a:alpha val="93000"/>
            </a:srgbClr>
          </a:solidFill>
          <a:ln w="12700">
            <a:solidFill>
              <a:srgbClr val="76B900"/>
            </a:solidFill>
            <a:prstDash val="solid"/>
          </a:ln>
        </p:spPr>
      </p:sp>
      <p:sp>
        <p:nvSpPr>
          <p:cNvPr id="25" name="Text 23"/>
          <p:cNvSpPr/>
          <p:nvPr/>
        </p:nvSpPr>
        <p:spPr>
          <a:xfrm>
            <a:off x="7452360" y="4315968"/>
            <a:ext cx="685800" cy="182880"/>
          </a:xfrm>
          <a:prstGeom prst="rect">
            <a:avLst/>
          </a:prstGeom>
          <a:noFill/>
          <a:ln/>
        </p:spPr>
        <p:txBody>
          <a:bodyPr wrap="square" lIns="0" tIns="0" rIns="0" bIns="0" rtlCol="0" anchor="ctr"/>
          <a:lstStyle/>
          <a:p>
            <a:pPr algn="ctr" indent="0" marL="0">
              <a:buNone/>
            </a:pPr>
            <a:r>
              <a:rPr lang="en-US" sz="1000" dirty="0">
                <a:solidFill>
                  <a:srgbClr val="B7C0C9"/>
                </a:solidFill>
              </a:rPr>
              <a:t>1k</a:t>
            </a:r>
            <a:endParaRPr lang="en-US" sz="1000" dirty="0"/>
          </a:p>
        </p:txBody>
      </p:sp>
      <p:sp>
        <p:nvSpPr>
          <p:cNvPr id="26" name="Shape 24"/>
          <p:cNvSpPr/>
          <p:nvPr/>
        </p:nvSpPr>
        <p:spPr>
          <a:xfrm>
            <a:off x="8778240" y="1737360"/>
            <a:ext cx="502920" cy="2468880"/>
          </a:xfrm>
          <a:prstGeom prst="rect">
            <a:avLst/>
          </a:prstGeom>
          <a:solidFill>
            <a:srgbClr val="76B900">
              <a:alpha val="93000"/>
            </a:srgbClr>
          </a:solidFill>
          <a:ln w="12700">
            <a:solidFill>
              <a:srgbClr val="76B900"/>
            </a:solidFill>
            <a:prstDash val="solid"/>
          </a:ln>
        </p:spPr>
      </p:sp>
      <p:sp>
        <p:nvSpPr>
          <p:cNvPr id="27" name="Text 25"/>
          <p:cNvSpPr/>
          <p:nvPr/>
        </p:nvSpPr>
        <p:spPr>
          <a:xfrm>
            <a:off x="8686800" y="4315968"/>
            <a:ext cx="685800" cy="182880"/>
          </a:xfrm>
          <a:prstGeom prst="rect">
            <a:avLst/>
          </a:prstGeom>
          <a:noFill/>
          <a:ln/>
        </p:spPr>
        <p:txBody>
          <a:bodyPr wrap="square" lIns="0" tIns="0" rIns="0" bIns="0" rtlCol="0" anchor="ctr"/>
          <a:lstStyle/>
          <a:p>
            <a:pPr algn="ctr" indent="0" marL="0">
              <a:buNone/>
            </a:pPr>
            <a:r>
              <a:rPr lang="en-US" sz="1000" dirty="0">
                <a:solidFill>
                  <a:srgbClr val="B7C0C9"/>
                </a:solidFill>
              </a:rPr>
              <a:t>10k</a:t>
            </a:r>
            <a:endParaRPr lang="en-US" sz="1000" dirty="0"/>
          </a:p>
        </p:txBody>
      </p:sp>
      <p:sp>
        <p:nvSpPr>
          <p:cNvPr id="28" name="Shape 26"/>
          <p:cNvSpPr/>
          <p:nvPr/>
        </p:nvSpPr>
        <p:spPr>
          <a:xfrm>
            <a:off x="6172200" y="4206240"/>
            <a:ext cx="3931920" cy="0"/>
          </a:xfrm>
          <a:prstGeom prst="line">
            <a:avLst/>
          </a:prstGeom>
          <a:noFill/>
          <a:ln w="12700">
            <a:solidFill>
              <a:srgbClr val="334155"/>
            </a:solidFill>
            <a:prstDash val="solid"/>
          </a:ln>
        </p:spPr>
      </p:sp>
      <p:sp>
        <p:nvSpPr>
          <p:cNvPr id="29" name="Shape 27"/>
          <p:cNvSpPr/>
          <p:nvPr/>
        </p:nvSpPr>
        <p:spPr>
          <a:xfrm>
            <a:off x="868680" y="5074920"/>
            <a:ext cx="10012680" cy="566928"/>
          </a:xfrm>
          <a:prstGeom prst="roundRect">
            <a:avLst>
              <a:gd name="adj" fmla="val 16129"/>
            </a:avLst>
          </a:prstGeom>
          <a:solidFill>
            <a:srgbClr val="16202A"/>
          </a:solidFill>
          <a:ln w="12700">
            <a:solidFill>
              <a:srgbClr val="334155">
                <a:alpha val="80000"/>
              </a:srgbClr>
            </a:solidFill>
            <a:prstDash val="solid"/>
          </a:ln>
        </p:spPr>
      </p:sp>
      <p:sp>
        <p:nvSpPr>
          <p:cNvPr id="30" name="Text 28"/>
          <p:cNvSpPr/>
          <p:nvPr/>
        </p:nvSpPr>
        <p:spPr>
          <a:xfrm>
            <a:off x="1051560" y="5257800"/>
            <a:ext cx="9601200" cy="164592"/>
          </a:xfrm>
          <a:prstGeom prst="rect">
            <a:avLst/>
          </a:prstGeom>
          <a:noFill/>
          <a:ln/>
        </p:spPr>
        <p:txBody>
          <a:bodyPr wrap="square" lIns="0" tIns="0" rIns="0" bIns="0" rtlCol="0" anchor="ctr"/>
          <a:lstStyle/>
          <a:p>
            <a:pPr algn="ctr" indent="0" marL="0">
              <a:buNone/>
            </a:pPr>
            <a:r>
              <a:rPr lang="en-US" sz="1200" dirty="0">
                <a:solidFill>
                  <a:srgbClr val="B7C0C9"/>
                </a:solidFill>
              </a:rPr>
              <a:t>Note: values shown are placeholders. Replace with benchmark JSON output before presenting.</a:t>
            </a:r>
            <a:endParaRPr lang="en-US" sz="1200" dirty="0"/>
          </a:p>
        </p:txBody>
      </p:sp>
      <p:sp>
        <p:nvSpPr>
          <p:cNvPr id="32" name="Text 29"/>
          <p:cNvSpPr/>
          <p:nvPr/>
        </p:nvSpPr>
        <p:spPr>
          <a:xfrm>
            <a:off x="11777472"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F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2"/>
          </a:solidFill>
          <a:ln w="12700">
            <a:solidFill>
              <a:srgbClr val="0B0F12">
                <a:alpha val="0"/>
              </a:srgbClr>
            </a:solidFill>
            <a:prstDash val="solid"/>
          </a:ln>
        </p:spPr>
      </p:sp>
      <p:sp>
        <p:nvSpPr>
          <p:cNvPr id="3" name="Shape 1"/>
          <p:cNvSpPr/>
          <p:nvPr/>
        </p:nvSpPr>
        <p:spPr>
          <a:xfrm>
            <a:off x="0" y="0"/>
            <a:ext cx="109728" cy="6858000"/>
          </a:xfrm>
          <a:prstGeom prst="rect">
            <a:avLst/>
          </a:prstGeom>
          <a:solidFill>
            <a:srgbClr val="76B900"/>
          </a:solidFill>
          <a:ln w="12700">
            <a:solidFill>
              <a:srgbClr val="76B900"/>
            </a:solidFill>
            <a:prstDash val="solid"/>
          </a:ln>
        </p:spPr>
      </p:sp>
      <p:sp>
        <p:nvSpPr>
          <p:cNvPr id="4" name="Shape 2"/>
          <p:cNvSpPr/>
          <p:nvPr/>
        </p:nvSpPr>
        <p:spPr>
          <a:xfrm>
            <a:off x="146304" y="0"/>
            <a:ext cx="12045391" cy="73152"/>
          </a:xfrm>
          <a:prstGeom prst="rect">
            <a:avLst/>
          </a:prstGeom>
          <a:solidFill>
            <a:srgbClr val="76B900">
              <a:alpha val="85000"/>
            </a:srgbClr>
          </a:solidFill>
          <a:ln w="12700">
            <a:solidFill>
              <a:srgbClr val="76B900">
                <a:alpha val="0"/>
              </a:srgbClr>
            </a:solidFill>
            <a:prstDash val="solid"/>
          </a:ln>
        </p:spPr>
      </p:sp>
      <p:sp>
        <p:nvSpPr>
          <p:cNvPr id="5" name="Text 3"/>
          <p:cNvSpPr/>
          <p:nvPr/>
        </p:nvSpPr>
        <p:spPr>
          <a:xfrm>
            <a:off x="438912" y="256032"/>
            <a:ext cx="9692640" cy="384048"/>
          </a:xfrm>
          <a:prstGeom prst="rect">
            <a:avLst/>
          </a:prstGeom>
          <a:noFill/>
          <a:ln/>
        </p:spPr>
        <p:txBody>
          <a:bodyPr wrap="square" lIns="0" tIns="0" rIns="0" bIns="0" rtlCol="0" anchor="ctr"/>
          <a:lstStyle/>
          <a:p>
            <a:pPr indent="0" marL="0">
              <a:buNone/>
            </a:pPr>
            <a:r>
              <a:rPr lang="en-US" sz="2500" b="1" dirty="0">
                <a:solidFill>
                  <a:srgbClr val="F7FAFC"/>
                </a:solidFill>
                <a:latin typeface="Aptos Display" pitchFamily="34" charset="0"/>
                <a:ea typeface="Aptos Display" pitchFamily="34" charset="-122"/>
                <a:cs typeface="Aptos Display" pitchFamily="34" charset="-120"/>
              </a:rPr>
              <a:t>Performance Analysis</a:t>
            </a:r>
            <a:endParaRPr lang="en-US" sz="2500" dirty="0"/>
          </a:p>
        </p:txBody>
      </p:sp>
      <p:sp>
        <p:nvSpPr>
          <p:cNvPr id="6" name="Text 4"/>
          <p:cNvSpPr/>
          <p:nvPr/>
        </p:nvSpPr>
        <p:spPr>
          <a:xfrm>
            <a:off x="438912" y="658368"/>
            <a:ext cx="8686800" cy="256032"/>
          </a:xfrm>
          <a:prstGeom prst="rect">
            <a:avLst/>
          </a:prstGeom>
          <a:noFill/>
          <a:ln/>
        </p:spPr>
        <p:txBody>
          <a:bodyPr wrap="square" lIns="0" tIns="0" rIns="0" bIns="0" rtlCol="0" anchor="ctr"/>
          <a:lstStyle/>
          <a:p>
            <a:pPr indent="0" marL="0">
              <a:buNone/>
            </a:pPr>
            <a:r>
              <a:rPr lang="en-US" sz="1050" dirty="0">
                <a:solidFill>
                  <a:srgbClr val="B7C0C9"/>
                </a:solidFill>
              </a:rPr>
              <a:t>Where GPU V1 helps — and where it still pays overhead</a:t>
            </a:r>
            <a:endParaRPr lang="en-US" sz="1050" dirty="0"/>
          </a:p>
        </p:txBody>
      </p:sp>
      <p:sp>
        <p:nvSpPr>
          <p:cNvPr id="7" name="Text 5"/>
          <p:cNvSpPr/>
          <p:nvPr/>
        </p:nvSpPr>
        <p:spPr>
          <a:xfrm>
            <a:off x="9738360" y="6446520"/>
            <a:ext cx="1965960" cy="201168"/>
          </a:xfrm>
          <a:prstGeom prst="rect">
            <a:avLst/>
          </a:prstGeom>
          <a:noFill/>
          <a:ln/>
        </p:spPr>
        <p:txBody>
          <a:bodyPr wrap="square" lIns="0" tIns="0" rIns="0" bIns="0" rtlCol="0" anchor="ctr"/>
          <a:lstStyle/>
          <a:p>
            <a:pPr algn="r" indent="0" marL="0">
              <a:buNone/>
            </a:pPr>
            <a:r>
              <a:rPr lang="en-US" sz="850" dirty="0">
                <a:solidFill>
                  <a:srgbClr val="6B7280"/>
                </a:solidFill>
              </a:rPr>
              <a:t>CUDA NMS · Seminar 2</a:t>
            </a:r>
            <a:endParaRPr lang="en-US" sz="850" dirty="0"/>
          </a:p>
        </p:txBody>
      </p:sp>
      <p:sp>
        <p:nvSpPr>
          <p:cNvPr id="8" name="Shape 6"/>
          <p:cNvSpPr/>
          <p:nvPr/>
        </p:nvSpPr>
        <p:spPr>
          <a:xfrm>
            <a:off x="914400" y="1554480"/>
            <a:ext cx="2834640" cy="1280160"/>
          </a:xfrm>
          <a:prstGeom prst="roundRect">
            <a:avLst>
              <a:gd name="adj" fmla="val 8571"/>
            </a:avLst>
          </a:prstGeom>
          <a:solidFill>
            <a:srgbClr val="16202A"/>
          </a:solidFill>
          <a:ln w="12700">
            <a:solidFill>
              <a:srgbClr val="334155"/>
            </a:solidFill>
            <a:prstDash val="solid"/>
          </a:ln>
        </p:spPr>
      </p:sp>
      <p:sp>
        <p:nvSpPr>
          <p:cNvPr id="9" name="Text 7"/>
          <p:cNvSpPr/>
          <p:nvPr/>
        </p:nvSpPr>
        <p:spPr>
          <a:xfrm>
            <a:off x="1024128" y="1664208"/>
            <a:ext cx="2615184" cy="1060704"/>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CPU Baseline</a:t>
            </a:r>
            <a:endParaRPr lang="en-US" sz="1400" dirty="0"/>
          </a:p>
          <a:p>
            <a:pPr algn="ctr" indent="0" marL="0">
              <a:buNone/>
            </a:pPr>
            <a:r>
              <a:rPr lang="en-US" sz="1400" b="1" dirty="0">
                <a:solidFill>
                  <a:srgbClr val="F7FAFC"/>
                </a:solidFill>
              </a:rPr>
              <a:t>repeated IoU</a:t>
            </a:r>
            <a:endParaRPr lang="en-US" sz="1400" dirty="0"/>
          </a:p>
          <a:p>
            <a:pPr algn="ctr" indent="0" marL="0">
              <a:buNone/>
            </a:pPr>
            <a:r>
              <a:rPr lang="en-US" sz="1400" b="1" dirty="0">
                <a:solidFill>
                  <a:srgbClr val="F7FAFC"/>
                </a:solidFill>
              </a:rPr>
              <a:t>sequential control</a:t>
            </a:r>
            <a:endParaRPr lang="en-US" sz="1400" dirty="0"/>
          </a:p>
        </p:txBody>
      </p:sp>
      <p:sp>
        <p:nvSpPr>
          <p:cNvPr id="10" name="Shape 8"/>
          <p:cNvSpPr/>
          <p:nvPr/>
        </p:nvSpPr>
        <p:spPr>
          <a:xfrm>
            <a:off x="4709160" y="1554480"/>
            <a:ext cx="2834640" cy="1280160"/>
          </a:xfrm>
          <a:prstGeom prst="roundRect">
            <a:avLst>
              <a:gd name="adj" fmla="val 8571"/>
            </a:avLst>
          </a:prstGeom>
          <a:solidFill>
            <a:srgbClr val="76B900"/>
          </a:solidFill>
          <a:ln w="12700">
            <a:solidFill>
              <a:srgbClr val="334155"/>
            </a:solidFill>
            <a:prstDash val="solid"/>
          </a:ln>
        </p:spPr>
      </p:sp>
      <p:sp>
        <p:nvSpPr>
          <p:cNvPr id="11" name="Text 9"/>
          <p:cNvSpPr/>
          <p:nvPr/>
        </p:nvSpPr>
        <p:spPr>
          <a:xfrm>
            <a:off x="4818888" y="1664208"/>
            <a:ext cx="2615184" cy="1060704"/>
          </a:xfrm>
          <a:prstGeom prst="rect">
            <a:avLst/>
          </a:prstGeom>
          <a:noFill/>
          <a:ln/>
        </p:spPr>
        <p:txBody>
          <a:bodyPr wrap="square" lIns="254" tIns="254" rIns="254" bIns="254" rtlCol="0" anchor="ctr">
            <a:normAutofit/>
          </a:bodyPr>
          <a:lstStyle/>
          <a:p>
            <a:pPr algn="ctr" indent="0" marL="0">
              <a:buNone/>
            </a:pPr>
            <a:r>
              <a:rPr lang="en-US" sz="1400" b="1" dirty="0">
                <a:solidFill>
                  <a:srgbClr val="0B0F12"/>
                </a:solidFill>
              </a:rPr>
              <a:t>GPU V1</a:t>
            </a:r>
            <a:endParaRPr lang="en-US" sz="1400" dirty="0"/>
          </a:p>
          <a:p>
            <a:pPr algn="ctr" indent="0" marL="0">
              <a:buNone/>
            </a:pPr>
            <a:r>
              <a:rPr lang="en-US" sz="1400" b="1" dirty="0">
                <a:solidFill>
                  <a:srgbClr val="0B0F12"/>
                </a:solidFill>
              </a:rPr>
              <a:t>all-pairs IoU</a:t>
            </a:r>
            <a:endParaRPr lang="en-US" sz="1400" dirty="0"/>
          </a:p>
          <a:p>
            <a:pPr algn="ctr" indent="0" marL="0">
              <a:buNone/>
            </a:pPr>
            <a:r>
              <a:rPr lang="en-US" sz="1400" b="1" dirty="0">
                <a:solidFill>
                  <a:srgbClr val="0B0F12"/>
                </a:solidFill>
              </a:rPr>
              <a:t>parallel threads</a:t>
            </a:r>
            <a:endParaRPr lang="en-US" sz="1400" dirty="0"/>
          </a:p>
        </p:txBody>
      </p:sp>
      <p:sp>
        <p:nvSpPr>
          <p:cNvPr id="12" name="Shape 10"/>
          <p:cNvSpPr/>
          <p:nvPr/>
        </p:nvSpPr>
        <p:spPr>
          <a:xfrm>
            <a:off x="8503920" y="1554480"/>
            <a:ext cx="2834640" cy="1280160"/>
          </a:xfrm>
          <a:prstGeom prst="roundRect">
            <a:avLst>
              <a:gd name="adj" fmla="val 8571"/>
            </a:avLst>
          </a:prstGeom>
          <a:solidFill>
            <a:srgbClr val="16202A"/>
          </a:solidFill>
          <a:ln w="12700">
            <a:solidFill>
              <a:srgbClr val="334155"/>
            </a:solidFill>
            <a:prstDash val="solid"/>
          </a:ln>
        </p:spPr>
      </p:sp>
      <p:sp>
        <p:nvSpPr>
          <p:cNvPr id="13" name="Text 11"/>
          <p:cNvSpPr/>
          <p:nvPr/>
        </p:nvSpPr>
        <p:spPr>
          <a:xfrm>
            <a:off x="8613648" y="1664208"/>
            <a:ext cx="2615184" cy="1060704"/>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Overheads</a:t>
            </a:r>
            <a:endParaRPr lang="en-US" sz="1400" dirty="0"/>
          </a:p>
          <a:p>
            <a:pPr algn="ctr" indent="0" marL="0">
              <a:buNone/>
            </a:pPr>
            <a:r>
              <a:rPr lang="en-US" sz="1400" b="1" dirty="0">
                <a:solidFill>
                  <a:srgbClr val="F7FAFC"/>
                </a:solidFill>
              </a:rPr>
              <a:t>kernel launch</a:t>
            </a:r>
            <a:endParaRPr lang="en-US" sz="1400" dirty="0"/>
          </a:p>
          <a:p>
            <a:pPr algn="ctr" indent="0" marL="0">
              <a:buNone/>
            </a:pPr>
            <a:r>
              <a:rPr lang="en-US" sz="1400" b="1" dirty="0">
                <a:solidFill>
                  <a:srgbClr val="F7FAFC"/>
                </a:solidFill>
              </a:rPr>
              <a:t>memory transfer</a:t>
            </a:r>
            <a:endParaRPr lang="en-US" sz="1400" dirty="0"/>
          </a:p>
        </p:txBody>
      </p:sp>
      <p:sp>
        <p:nvSpPr>
          <p:cNvPr id="14" name="Shape 12"/>
          <p:cNvSpPr/>
          <p:nvPr/>
        </p:nvSpPr>
        <p:spPr>
          <a:xfrm>
            <a:off x="1005840" y="3886200"/>
            <a:ext cx="2926080" cy="685800"/>
          </a:xfrm>
          <a:prstGeom prst="roundRect">
            <a:avLst>
              <a:gd name="adj" fmla="val 13333"/>
            </a:avLst>
          </a:prstGeom>
          <a:solidFill>
            <a:srgbClr val="0F1720"/>
          </a:solidFill>
          <a:ln w="12700">
            <a:solidFill>
              <a:srgbClr val="76B900">
                <a:alpha val="70000"/>
              </a:srgbClr>
            </a:solidFill>
            <a:prstDash val="solid"/>
          </a:ln>
        </p:spPr>
      </p:sp>
      <p:sp>
        <p:nvSpPr>
          <p:cNvPr id="15" name="Text 13"/>
          <p:cNvSpPr/>
          <p:nvPr/>
        </p:nvSpPr>
        <p:spPr>
          <a:xfrm>
            <a:off x="1115568" y="4032504"/>
            <a:ext cx="2706624" cy="466344"/>
          </a:xfrm>
          <a:prstGeom prst="rect">
            <a:avLst/>
          </a:prstGeom>
          <a:noFill/>
          <a:ln/>
        </p:spPr>
        <p:txBody>
          <a:bodyPr wrap="square" lIns="0" tIns="0" rIns="0" bIns="0" rtlCol="0" anchor="ctr">
            <a:normAutofit/>
          </a:bodyPr>
          <a:lstStyle/>
          <a:p>
            <a:pPr algn="ctr" indent="0" marL="0">
              <a:buNone/>
            </a:pPr>
            <a:r>
              <a:rPr lang="en-US" sz="1700" b="1" dirty="0">
                <a:solidFill>
                  <a:srgbClr val="F7FAFC"/>
                </a:solidFill>
              </a:rPr>
              <a:t>Small N: overhead can dominate</a:t>
            </a:r>
            <a:endParaRPr lang="en-US" sz="1700" dirty="0"/>
          </a:p>
        </p:txBody>
      </p:sp>
      <p:sp>
        <p:nvSpPr>
          <p:cNvPr id="16" name="Shape 14"/>
          <p:cNvSpPr/>
          <p:nvPr/>
        </p:nvSpPr>
        <p:spPr>
          <a:xfrm>
            <a:off x="4572000" y="3886200"/>
            <a:ext cx="3063240" cy="685800"/>
          </a:xfrm>
          <a:prstGeom prst="roundRect">
            <a:avLst>
              <a:gd name="adj" fmla="val 13333"/>
            </a:avLst>
          </a:prstGeom>
          <a:solidFill>
            <a:srgbClr val="0F1720"/>
          </a:solidFill>
          <a:ln w="12700">
            <a:solidFill>
              <a:srgbClr val="76B900">
                <a:alpha val="70000"/>
              </a:srgbClr>
            </a:solidFill>
            <a:prstDash val="solid"/>
          </a:ln>
        </p:spPr>
      </p:sp>
      <p:sp>
        <p:nvSpPr>
          <p:cNvPr id="17" name="Text 15"/>
          <p:cNvSpPr/>
          <p:nvPr/>
        </p:nvSpPr>
        <p:spPr>
          <a:xfrm>
            <a:off x="4681728" y="4032504"/>
            <a:ext cx="2843784" cy="466344"/>
          </a:xfrm>
          <a:prstGeom prst="rect">
            <a:avLst/>
          </a:prstGeom>
          <a:noFill/>
          <a:ln/>
        </p:spPr>
        <p:txBody>
          <a:bodyPr wrap="square" lIns="0" tIns="0" rIns="0" bIns="0" rtlCol="0" anchor="ctr">
            <a:normAutofit/>
          </a:bodyPr>
          <a:lstStyle/>
          <a:p>
            <a:pPr algn="ctr" indent="0" marL="0">
              <a:buNone/>
            </a:pPr>
            <a:r>
              <a:rPr lang="en-US" sz="1700" b="1" dirty="0">
                <a:solidFill>
                  <a:srgbClr val="F7FAFC"/>
                </a:solidFill>
              </a:rPr>
              <a:t>Large N: parallelism dominates</a:t>
            </a:r>
            <a:endParaRPr lang="en-US" sz="1700" dirty="0"/>
          </a:p>
        </p:txBody>
      </p:sp>
      <p:sp>
        <p:nvSpPr>
          <p:cNvPr id="18" name="Shape 16"/>
          <p:cNvSpPr/>
          <p:nvPr/>
        </p:nvSpPr>
        <p:spPr>
          <a:xfrm>
            <a:off x="8183880" y="3886200"/>
            <a:ext cx="3063240" cy="685800"/>
          </a:xfrm>
          <a:prstGeom prst="roundRect">
            <a:avLst>
              <a:gd name="adj" fmla="val 13333"/>
            </a:avLst>
          </a:prstGeom>
          <a:solidFill>
            <a:srgbClr val="0F1720"/>
          </a:solidFill>
          <a:ln w="12700">
            <a:solidFill>
              <a:srgbClr val="76B900">
                <a:alpha val="70000"/>
              </a:srgbClr>
            </a:solidFill>
            <a:prstDash val="solid"/>
          </a:ln>
        </p:spPr>
      </p:sp>
      <p:sp>
        <p:nvSpPr>
          <p:cNvPr id="19" name="Text 17"/>
          <p:cNvSpPr/>
          <p:nvPr/>
        </p:nvSpPr>
        <p:spPr>
          <a:xfrm>
            <a:off x="8293608" y="4032504"/>
            <a:ext cx="2843784" cy="466344"/>
          </a:xfrm>
          <a:prstGeom prst="rect">
            <a:avLst/>
          </a:prstGeom>
          <a:noFill/>
          <a:ln/>
        </p:spPr>
        <p:txBody>
          <a:bodyPr wrap="square" lIns="0" tIns="0" rIns="0" bIns="0" rtlCol="0" anchor="ctr">
            <a:normAutofit/>
          </a:bodyPr>
          <a:lstStyle/>
          <a:p>
            <a:pPr algn="ctr" indent="0" marL="0">
              <a:buNone/>
            </a:pPr>
            <a:r>
              <a:rPr lang="en-US" sz="1700" b="1" dirty="0">
                <a:solidFill>
                  <a:srgbClr val="F7FAFC"/>
                </a:solidFill>
              </a:rPr>
              <a:t>V1 bottleneck shifts to memory</a:t>
            </a:r>
            <a:endParaRPr lang="en-US" sz="1700" dirty="0"/>
          </a:p>
        </p:txBody>
      </p:sp>
      <p:sp>
        <p:nvSpPr>
          <p:cNvPr id="21" name="Text 18"/>
          <p:cNvSpPr/>
          <p:nvPr/>
        </p:nvSpPr>
        <p:spPr>
          <a:xfrm>
            <a:off x="11777472"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F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2"/>
          </a:solidFill>
          <a:ln w="12700">
            <a:solidFill>
              <a:srgbClr val="0B0F12">
                <a:alpha val="0"/>
              </a:srgbClr>
            </a:solidFill>
            <a:prstDash val="solid"/>
          </a:ln>
        </p:spPr>
      </p:sp>
      <p:sp>
        <p:nvSpPr>
          <p:cNvPr id="3" name="Shape 1"/>
          <p:cNvSpPr/>
          <p:nvPr/>
        </p:nvSpPr>
        <p:spPr>
          <a:xfrm>
            <a:off x="0" y="0"/>
            <a:ext cx="109728" cy="6858000"/>
          </a:xfrm>
          <a:prstGeom prst="rect">
            <a:avLst/>
          </a:prstGeom>
          <a:solidFill>
            <a:srgbClr val="76B900"/>
          </a:solidFill>
          <a:ln w="12700">
            <a:solidFill>
              <a:srgbClr val="76B900"/>
            </a:solidFill>
            <a:prstDash val="solid"/>
          </a:ln>
        </p:spPr>
      </p:sp>
      <p:sp>
        <p:nvSpPr>
          <p:cNvPr id="4" name="Shape 2"/>
          <p:cNvSpPr/>
          <p:nvPr/>
        </p:nvSpPr>
        <p:spPr>
          <a:xfrm>
            <a:off x="146304" y="0"/>
            <a:ext cx="12045391" cy="73152"/>
          </a:xfrm>
          <a:prstGeom prst="rect">
            <a:avLst/>
          </a:prstGeom>
          <a:solidFill>
            <a:srgbClr val="76B900">
              <a:alpha val="85000"/>
            </a:srgbClr>
          </a:solidFill>
          <a:ln w="12700">
            <a:solidFill>
              <a:srgbClr val="76B900">
                <a:alpha val="0"/>
              </a:srgbClr>
            </a:solidFill>
            <a:prstDash val="solid"/>
          </a:ln>
        </p:spPr>
      </p:sp>
      <p:sp>
        <p:nvSpPr>
          <p:cNvPr id="5" name="Text 3"/>
          <p:cNvSpPr/>
          <p:nvPr/>
        </p:nvSpPr>
        <p:spPr>
          <a:xfrm>
            <a:off x="438912" y="256032"/>
            <a:ext cx="9692640" cy="384048"/>
          </a:xfrm>
          <a:prstGeom prst="rect">
            <a:avLst/>
          </a:prstGeom>
          <a:noFill/>
          <a:ln/>
        </p:spPr>
        <p:txBody>
          <a:bodyPr wrap="square" lIns="0" tIns="0" rIns="0" bIns="0" rtlCol="0" anchor="ctr"/>
          <a:lstStyle/>
          <a:p>
            <a:pPr indent="0" marL="0">
              <a:buNone/>
            </a:pPr>
            <a:r>
              <a:rPr lang="en-US" sz="2500" b="1" dirty="0">
                <a:solidFill>
                  <a:srgbClr val="F7FAFC"/>
                </a:solidFill>
                <a:latin typeface="Aptos Display" pitchFamily="34" charset="0"/>
                <a:ea typeface="Aptos Display" pitchFamily="34" charset="-122"/>
                <a:cs typeface="Aptos Display" pitchFamily="34" charset="-120"/>
              </a:rPr>
              <a:t>Limitations &amp; Future Work</a:t>
            </a:r>
            <a:endParaRPr lang="en-US" sz="2500" dirty="0"/>
          </a:p>
        </p:txBody>
      </p:sp>
      <p:sp>
        <p:nvSpPr>
          <p:cNvPr id="6" name="Text 4"/>
          <p:cNvSpPr/>
          <p:nvPr/>
        </p:nvSpPr>
        <p:spPr>
          <a:xfrm>
            <a:off x="438912" y="658368"/>
            <a:ext cx="8686800" cy="256032"/>
          </a:xfrm>
          <a:prstGeom prst="rect">
            <a:avLst/>
          </a:prstGeom>
          <a:noFill/>
          <a:ln/>
        </p:spPr>
        <p:txBody>
          <a:bodyPr wrap="square" lIns="0" tIns="0" rIns="0" bIns="0" rtlCol="0" anchor="ctr"/>
          <a:lstStyle/>
          <a:p>
            <a:pPr indent="0" marL="0">
              <a:buNone/>
            </a:pPr>
            <a:r>
              <a:rPr lang="en-US" sz="1050" dirty="0">
                <a:solidFill>
                  <a:srgbClr val="B7C0C9"/>
                </a:solidFill>
              </a:rPr>
              <a:t>GPU V1 is correct and useful, but not the final design</a:t>
            </a:r>
            <a:endParaRPr lang="en-US" sz="1050" dirty="0"/>
          </a:p>
        </p:txBody>
      </p:sp>
      <p:sp>
        <p:nvSpPr>
          <p:cNvPr id="7" name="Text 5"/>
          <p:cNvSpPr/>
          <p:nvPr/>
        </p:nvSpPr>
        <p:spPr>
          <a:xfrm>
            <a:off x="9738360" y="6446520"/>
            <a:ext cx="1965960" cy="201168"/>
          </a:xfrm>
          <a:prstGeom prst="rect">
            <a:avLst/>
          </a:prstGeom>
          <a:noFill/>
          <a:ln/>
        </p:spPr>
        <p:txBody>
          <a:bodyPr wrap="square" lIns="0" tIns="0" rIns="0" bIns="0" rtlCol="0" anchor="ctr"/>
          <a:lstStyle/>
          <a:p>
            <a:pPr algn="r" indent="0" marL="0">
              <a:buNone/>
            </a:pPr>
            <a:r>
              <a:rPr lang="en-US" sz="850" dirty="0">
                <a:solidFill>
                  <a:srgbClr val="6B7280"/>
                </a:solidFill>
              </a:rPr>
              <a:t>CUDA NMS · Seminar 2</a:t>
            </a:r>
            <a:endParaRPr lang="en-US" sz="850" dirty="0"/>
          </a:p>
        </p:txBody>
      </p:sp>
      <p:sp>
        <p:nvSpPr>
          <p:cNvPr id="8" name="Text 6"/>
          <p:cNvSpPr/>
          <p:nvPr/>
        </p:nvSpPr>
        <p:spPr>
          <a:xfrm>
            <a:off x="914400" y="1170432"/>
            <a:ext cx="1828800" cy="201168"/>
          </a:xfrm>
          <a:prstGeom prst="rect">
            <a:avLst/>
          </a:prstGeom>
          <a:noFill/>
          <a:ln/>
        </p:spPr>
        <p:txBody>
          <a:bodyPr wrap="square" lIns="0" tIns="0" rIns="0" bIns="0" rtlCol="0" anchor="ctr"/>
          <a:lstStyle/>
          <a:p>
            <a:pPr indent="0" marL="0">
              <a:buNone/>
            </a:pPr>
            <a:r>
              <a:rPr lang="en-US" sz="950" b="1" dirty="0">
                <a:solidFill>
                  <a:srgbClr val="76B900"/>
                </a:solidFill>
              </a:rPr>
              <a:t>CURRENT LIMITATIONS</a:t>
            </a:r>
            <a:endParaRPr lang="en-US" sz="950" dirty="0"/>
          </a:p>
        </p:txBody>
      </p:sp>
      <p:sp>
        <p:nvSpPr>
          <p:cNvPr id="9" name="Text 7"/>
          <p:cNvSpPr/>
          <p:nvPr/>
        </p:nvSpPr>
        <p:spPr>
          <a:xfrm>
            <a:off x="960120" y="1572768"/>
            <a:ext cx="4754880" cy="1508760"/>
          </a:xfrm>
          <a:prstGeom prst="rect">
            <a:avLst/>
          </a:prstGeom>
          <a:noFill/>
          <a:ln/>
        </p:spPr>
        <p:txBody>
          <a:bodyPr wrap="square" lIns="381" tIns="381" rIns="381" bIns="381" rtlCol="0" anchor="t">
            <a:normAutofit/>
          </a:bodyPr>
          <a:lstStyle/>
          <a:p>
            <a:r>
              <a:rPr lang="en-US" sz="1500" dirty="0">
                <a:solidFill>
                  <a:srgbClr val="F7FAFC"/>
                </a:solidFill>
              </a:rPr>
              <a:t>Greedy suppression still runs on CPU.</a:t>
            </a:r>
            <a:endParaRPr lang="en-US" sz="1500" dirty="0"/>
          </a:p>
          <a:p>
            <a:r>
              <a:rPr lang="en-US" sz="1500" dirty="0">
                <a:solidFill>
                  <a:srgbClr val="F7FAFC"/>
                </a:solidFill>
              </a:rPr>
              <a:t>IoU matrix requires O(N²) memory.</a:t>
            </a:r>
            <a:endParaRPr lang="en-US" sz="1500" dirty="0"/>
          </a:p>
          <a:p>
            <a:r>
              <a:rPr lang="en-US" sz="1500" dirty="0">
                <a:solidFill>
                  <a:srgbClr val="F7FAFC"/>
                </a:solidFill>
              </a:rPr>
              <a:t>Device-to-host transfer grows with N².</a:t>
            </a:r>
            <a:endParaRPr lang="en-US" sz="1500" dirty="0"/>
          </a:p>
          <a:p>
            <a:r>
              <a:rPr lang="en-US" sz="1500" dirty="0">
                <a:solidFill>
                  <a:srgbClr val="F7FAFC"/>
                </a:solidFill>
              </a:rPr>
              <a:t>Not yet batched across images.</a:t>
            </a:r>
            <a:endParaRPr lang="en-US" sz="1500" dirty="0"/>
          </a:p>
        </p:txBody>
      </p:sp>
      <p:sp>
        <p:nvSpPr>
          <p:cNvPr id="10" name="Text 8"/>
          <p:cNvSpPr/>
          <p:nvPr/>
        </p:nvSpPr>
        <p:spPr>
          <a:xfrm>
            <a:off x="6400800" y="1170432"/>
            <a:ext cx="1828800" cy="201168"/>
          </a:xfrm>
          <a:prstGeom prst="rect">
            <a:avLst/>
          </a:prstGeom>
          <a:noFill/>
          <a:ln/>
        </p:spPr>
        <p:txBody>
          <a:bodyPr wrap="square" lIns="0" tIns="0" rIns="0" bIns="0" rtlCol="0" anchor="ctr"/>
          <a:lstStyle/>
          <a:p>
            <a:pPr indent="0" marL="0">
              <a:buNone/>
            </a:pPr>
            <a:r>
              <a:rPr lang="en-US" sz="950" b="1" dirty="0">
                <a:solidFill>
                  <a:srgbClr val="76B900"/>
                </a:solidFill>
              </a:rPr>
              <a:t>NEXT VERSIONS</a:t>
            </a:r>
            <a:endParaRPr lang="en-US" sz="950" dirty="0"/>
          </a:p>
        </p:txBody>
      </p:sp>
      <p:sp>
        <p:nvSpPr>
          <p:cNvPr id="11" name="Shape 9"/>
          <p:cNvSpPr/>
          <p:nvPr/>
        </p:nvSpPr>
        <p:spPr>
          <a:xfrm>
            <a:off x="6400800" y="1572768"/>
            <a:ext cx="1691640" cy="685800"/>
          </a:xfrm>
          <a:prstGeom prst="roundRect">
            <a:avLst>
              <a:gd name="adj" fmla="val 16000"/>
            </a:avLst>
          </a:prstGeom>
          <a:solidFill>
            <a:srgbClr val="76B900"/>
          </a:solidFill>
          <a:ln w="12700">
            <a:solidFill>
              <a:srgbClr val="334155"/>
            </a:solidFill>
            <a:prstDash val="solid"/>
          </a:ln>
        </p:spPr>
      </p:sp>
      <p:sp>
        <p:nvSpPr>
          <p:cNvPr id="12" name="Text 10"/>
          <p:cNvSpPr/>
          <p:nvPr/>
        </p:nvSpPr>
        <p:spPr>
          <a:xfrm>
            <a:off x="6510528" y="1682496"/>
            <a:ext cx="1472184" cy="466344"/>
          </a:xfrm>
          <a:prstGeom prst="rect">
            <a:avLst/>
          </a:prstGeom>
          <a:noFill/>
          <a:ln/>
        </p:spPr>
        <p:txBody>
          <a:bodyPr wrap="square" lIns="254" tIns="254" rIns="254" bIns="254" rtlCol="0" anchor="ctr">
            <a:normAutofit/>
          </a:bodyPr>
          <a:lstStyle/>
          <a:p>
            <a:pPr algn="ctr" indent="0" marL="0">
              <a:buNone/>
            </a:pPr>
            <a:r>
              <a:rPr lang="en-US" sz="1400" b="1" dirty="0">
                <a:solidFill>
                  <a:srgbClr val="0B0F12"/>
                </a:solidFill>
              </a:rPr>
              <a:t>GPU V1</a:t>
            </a:r>
            <a:endParaRPr lang="en-US" sz="1400" dirty="0"/>
          </a:p>
          <a:p>
            <a:pPr algn="ctr" indent="0" marL="0">
              <a:buNone/>
            </a:pPr>
            <a:r>
              <a:rPr lang="en-US" sz="1400" b="1" dirty="0">
                <a:solidFill>
                  <a:srgbClr val="0B0F12"/>
                </a:solidFill>
              </a:rPr>
              <a:t>IoU Matrix</a:t>
            </a:r>
            <a:endParaRPr lang="en-US" sz="1400" dirty="0"/>
          </a:p>
        </p:txBody>
      </p:sp>
      <p:sp>
        <p:nvSpPr>
          <p:cNvPr id="13" name="Shape 11"/>
          <p:cNvSpPr/>
          <p:nvPr/>
        </p:nvSpPr>
        <p:spPr>
          <a:xfrm>
            <a:off x="8321040" y="1572768"/>
            <a:ext cx="1691640" cy="685800"/>
          </a:xfrm>
          <a:prstGeom prst="roundRect">
            <a:avLst>
              <a:gd name="adj" fmla="val 16000"/>
            </a:avLst>
          </a:prstGeom>
          <a:solidFill>
            <a:srgbClr val="16202A"/>
          </a:solidFill>
          <a:ln w="12700">
            <a:solidFill>
              <a:srgbClr val="334155"/>
            </a:solidFill>
            <a:prstDash val="solid"/>
          </a:ln>
        </p:spPr>
      </p:sp>
      <p:sp>
        <p:nvSpPr>
          <p:cNvPr id="14" name="Text 12"/>
          <p:cNvSpPr/>
          <p:nvPr/>
        </p:nvSpPr>
        <p:spPr>
          <a:xfrm>
            <a:off x="8430768" y="1682496"/>
            <a:ext cx="1472184" cy="466344"/>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GPU V2</a:t>
            </a:r>
            <a:endParaRPr lang="en-US" sz="1400" dirty="0"/>
          </a:p>
          <a:p>
            <a:pPr algn="ctr" indent="0" marL="0">
              <a:buNone/>
            </a:pPr>
            <a:r>
              <a:rPr lang="en-US" sz="1400" b="1" dirty="0">
                <a:solidFill>
                  <a:srgbClr val="F7FAFC"/>
                </a:solidFill>
              </a:rPr>
              <a:t>Suppression Mask</a:t>
            </a:r>
            <a:endParaRPr lang="en-US" sz="1400" dirty="0"/>
          </a:p>
        </p:txBody>
      </p:sp>
      <p:sp>
        <p:nvSpPr>
          <p:cNvPr id="15" name="Shape 13"/>
          <p:cNvSpPr/>
          <p:nvPr/>
        </p:nvSpPr>
        <p:spPr>
          <a:xfrm>
            <a:off x="10241280" y="1572768"/>
            <a:ext cx="1508760" cy="685800"/>
          </a:xfrm>
          <a:prstGeom prst="roundRect">
            <a:avLst>
              <a:gd name="adj" fmla="val 16000"/>
            </a:avLst>
          </a:prstGeom>
          <a:solidFill>
            <a:srgbClr val="16202A"/>
          </a:solidFill>
          <a:ln w="12700">
            <a:solidFill>
              <a:srgbClr val="334155"/>
            </a:solidFill>
            <a:prstDash val="solid"/>
          </a:ln>
        </p:spPr>
      </p:sp>
      <p:sp>
        <p:nvSpPr>
          <p:cNvPr id="16" name="Text 14"/>
          <p:cNvSpPr/>
          <p:nvPr/>
        </p:nvSpPr>
        <p:spPr>
          <a:xfrm>
            <a:off x="10351008" y="1682496"/>
            <a:ext cx="1289304" cy="466344"/>
          </a:xfrm>
          <a:prstGeom prst="rect">
            <a:avLst/>
          </a:prstGeom>
          <a:noFill/>
          <a:ln/>
        </p:spPr>
        <p:txBody>
          <a:bodyPr wrap="square" lIns="254" tIns="254" rIns="254" bIns="254" rtlCol="0" anchor="ctr">
            <a:normAutofit/>
          </a:bodyPr>
          <a:lstStyle/>
          <a:p>
            <a:pPr algn="ctr" indent="0" marL="0">
              <a:buNone/>
            </a:pPr>
            <a:r>
              <a:rPr lang="en-US" sz="1400" b="1" dirty="0">
                <a:solidFill>
                  <a:srgbClr val="F7FAFC"/>
                </a:solidFill>
              </a:rPr>
              <a:t>GPU V3</a:t>
            </a:r>
            <a:endParaRPr lang="en-US" sz="1400" dirty="0"/>
          </a:p>
          <a:p>
            <a:pPr algn="ctr" indent="0" marL="0">
              <a:buNone/>
            </a:pPr>
            <a:r>
              <a:rPr lang="en-US" sz="1400" b="1" dirty="0">
                <a:solidFill>
                  <a:srgbClr val="F7FAFC"/>
                </a:solidFill>
              </a:rPr>
              <a:t>Matrix NMS</a:t>
            </a:r>
            <a:endParaRPr lang="en-US" sz="1400" dirty="0"/>
          </a:p>
        </p:txBody>
      </p:sp>
      <p:sp>
        <p:nvSpPr>
          <p:cNvPr id="17" name="Shape 15"/>
          <p:cNvSpPr/>
          <p:nvPr/>
        </p:nvSpPr>
        <p:spPr>
          <a:xfrm>
            <a:off x="8092440" y="1920240"/>
            <a:ext cx="228600" cy="0"/>
          </a:xfrm>
          <a:prstGeom prst="line">
            <a:avLst/>
          </a:prstGeom>
          <a:noFill/>
          <a:ln w="25400">
            <a:solidFill>
              <a:srgbClr val="76B900"/>
            </a:solidFill>
            <a:prstDash val="solid"/>
            <a:headEnd type="none"/>
            <a:tailEnd type="triangle"/>
          </a:ln>
        </p:spPr>
      </p:sp>
      <p:sp>
        <p:nvSpPr>
          <p:cNvPr id="18" name="Shape 16"/>
          <p:cNvSpPr/>
          <p:nvPr/>
        </p:nvSpPr>
        <p:spPr>
          <a:xfrm>
            <a:off x="10012680" y="1920240"/>
            <a:ext cx="228600" cy="0"/>
          </a:xfrm>
          <a:prstGeom prst="line">
            <a:avLst/>
          </a:prstGeom>
          <a:noFill/>
          <a:ln w="25400">
            <a:solidFill>
              <a:srgbClr val="76B900"/>
            </a:solidFill>
            <a:prstDash val="solid"/>
            <a:headEnd type="none"/>
            <a:tailEnd type="triangle"/>
          </a:ln>
        </p:spPr>
      </p:sp>
      <p:sp>
        <p:nvSpPr>
          <p:cNvPr id="19" name="Shape 17"/>
          <p:cNvSpPr/>
          <p:nvPr/>
        </p:nvSpPr>
        <p:spPr>
          <a:xfrm>
            <a:off x="6400800" y="3063240"/>
            <a:ext cx="4983480" cy="685800"/>
          </a:xfrm>
          <a:prstGeom prst="roundRect">
            <a:avLst>
              <a:gd name="adj" fmla="val 13333"/>
            </a:avLst>
          </a:prstGeom>
          <a:solidFill>
            <a:srgbClr val="0F1720"/>
          </a:solidFill>
          <a:ln w="12700">
            <a:solidFill>
              <a:srgbClr val="76B900">
                <a:alpha val="70000"/>
              </a:srgbClr>
            </a:solidFill>
            <a:prstDash val="solid"/>
          </a:ln>
        </p:spPr>
      </p:sp>
      <p:sp>
        <p:nvSpPr>
          <p:cNvPr id="20" name="Text 18"/>
          <p:cNvSpPr/>
          <p:nvPr/>
        </p:nvSpPr>
        <p:spPr>
          <a:xfrm>
            <a:off x="6510528" y="3209544"/>
            <a:ext cx="4764024" cy="466344"/>
          </a:xfrm>
          <a:prstGeom prst="rect">
            <a:avLst/>
          </a:prstGeom>
          <a:noFill/>
          <a:ln/>
        </p:spPr>
        <p:txBody>
          <a:bodyPr wrap="square" lIns="0" tIns="0" rIns="0" bIns="0" rtlCol="0" anchor="ctr">
            <a:normAutofit/>
          </a:bodyPr>
          <a:lstStyle/>
          <a:p>
            <a:pPr algn="ctr" indent="0" marL="0">
              <a:buNone/>
            </a:pPr>
            <a:r>
              <a:rPr lang="en-US" sz="1700" b="1" dirty="0">
                <a:solidFill>
                  <a:srgbClr val="F7FAFC"/>
                </a:solidFill>
              </a:rPr>
              <a:t>V2 idea: reduce CPU work + reduce transfer size</a:t>
            </a:r>
            <a:endParaRPr lang="en-US" sz="1700" dirty="0"/>
          </a:p>
        </p:txBody>
      </p:sp>
      <p:sp>
        <p:nvSpPr>
          <p:cNvPr id="21" name="Shape 19"/>
          <p:cNvSpPr/>
          <p:nvPr/>
        </p:nvSpPr>
        <p:spPr>
          <a:xfrm>
            <a:off x="6400800" y="4023360"/>
            <a:ext cx="4983480" cy="685800"/>
          </a:xfrm>
          <a:prstGeom prst="roundRect">
            <a:avLst>
              <a:gd name="adj" fmla="val 13333"/>
            </a:avLst>
          </a:prstGeom>
          <a:solidFill>
            <a:srgbClr val="0F1720"/>
          </a:solidFill>
          <a:ln w="12700">
            <a:solidFill>
              <a:srgbClr val="76B900">
                <a:alpha val="70000"/>
              </a:srgbClr>
            </a:solidFill>
            <a:prstDash val="solid"/>
          </a:ln>
        </p:spPr>
      </p:sp>
      <p:sp>
        <p:nvSpPr>
          <p:cNvPr id="22" name="Text 20"/>
          <p:cNvSpPr/>
          <p:nvPr/>
        </p:nvSpPr>
        <p:spPr>
          <a:xfrm>
            <a:off x="6510528" y="4169664"/>
            <a:ext cx="4764024" cy="466344"/>
          </a:xfrm>
          <a:prstGeom prst="rect">
            <a:avLst/>
          </a:prstGeom>
          <a:noFill/>
          <a:ln/>
        </p:spPr>
        <p:txBody>
          <a:bodyPr wrap="square" lIns="0" tIns="0" rIns="0" bIns="0" rtlCol="0" anchor="ctr">
            <a:normAutofit/>
          </a:bodyPr>
          <a:lstStyle/>
          <a:p>
            <a:pPr algn="ctr" indent="0" marL="0">
              <a:buNone/>
            </a:pPr>
            <a:r>
              <a:rPr lang="en-US" sz="1700" b="1" dirty="0">
                <a:solidFill>
                  <a:srgbClr val="F7FAFC"/>
                </a:solidFill>
              </a:rPr>
              <a:t>V3 idea: more parallel NMS formulation</a:t>
            </a:r>
            <a:endParaRPr lang="en-US" sz="1700" dirty="0"/>
          </a:p>
        </p:txBody>
      </p:sp>
      <p:sp>
        <p:nvSpPr>
          <p:cNvPr id="24" name="Text 21"/>
          <p:cNvSpPr/>
          <p:nvPr/>
        </p:nvSpPr>
        <p:spPr>
          <a:xfrm>
            <a:off x="11777472"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F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2"/>
          </a:solidFill>
          <a:ln w="12700">
            <a:solidFill>
              <a:srgbClr val="0B0F12">
                <a:alpha val="0"/>
              </a:srgbClr>
            </a:solidFill>
            <a:prstDash val="solid"/>
          </a:ln>
        </p:spPr>
      </p:sp>
      <p:sp>
        <p:nvSpPr>
          <p:cNvPr id="3" name="Shape 1"/>
          <p:cNvSpPr/>
          <p:nvPr/>
        </p:nvSpPr>
        <p:spPr>
          <a:xfrm>
            <a:off x="0" y="0"/>
            <a:ext cx="109728" cy="6858000"/>
          </a:xfrm>
          <a:prstGeom prst="rect">
            <a:avLst/>
          </a:prstGeom>
          <a:solidFill>
            <a:srgbClr val="76B900"/>
          </a:solidFill>
          <a:ln w="12700">
            <a:solidFill>
              <a:srgbClr val="76B900"/>
            </a:solidFill>
            <a:prstDash val="solid"/>
          </a:ln>
        </p:spPr>
      </p:sp>
      <p:sp>
        <p:nvSpPr>
          <p:cNvPr id="4" name="Shape 2"/>
          <p:cNvSpPr/>
          <p:nvPr/>
        </p:nvSpPr>
        <p:spPr>
          <a:xfrm>
            <a:off x="146304" y="0"/>
            <a:ext cx="12045391" cy="73152"/>
          </a:xfrm>
          <a:prstGeom prst="rect">
            <a:avLst/>
          </a:prstGeom>
          <a:solidFill>
            <a:srgbClr val="76B900">
              <a:alpha val="85000"/>
            </a:srgbClr>
          </a:solidFill>
          <a:ln w="12700">
            <a:solidFill>
              <a:srgbClr val="76B900">
                <a:alpha val="0"/>
              </a:srgbClr>
            </a:solidFill>
            <a:prstDash val="solid"/>
          </a:ln>
        </p:spPr>
      </p:sp>
      <p:sp>
        <p:nvSpPr>
          <p:cNvPr id="5" name="Text 3"/>
          <p:cNvSpPr/>
          <p:nvPr/>
        </p:nvSpPr>
        <p:spPr>
          <a:xfrm>
            <a:off x="438912" y="256032"/>
            <a:ext cx="9692640" cy="384048"/>
          </a:xfrm>
          <a:prstGeom prst="rect">
            <a:avLst/>
          </a:prstGeom>
          <a:noFill/>
          <a:ln/>
        </p:spPr>
        <p:txBody>
          <a:bodyPr wrap="square" lIns="0" tIns="0" rIns="0" bIns="0" rtlCol="0" anchor="ctr"/>
          <a:lstStyle/>
          <a:p>
            <a:pPr indent="0" marL="0">
              <a:buNone/>
            </a:pPr>
            <a:r>
              <a:rPr lang="en-US" sz="2500" b="1" dirty="0">
                <a:solidFill>
                  <a:srgbClr val="F7FAFC"/>
                </a:solidFill>
                <a:latin typeface="Aptos Display" pitchFamily="34" charset="0"/>
                <a:ea typeface="Aptos Display" pitchFamily="34" charset="-122"/>
                <a:cs typeface="Aptos Display" pitchFamily="34" charset="-120"/>
              </a:rPr>
              <a:t>Conclusion</a:t>
            </a:r>
            <a:endParaRPr lang="en-US" sz="2500" dirty="0"/>
          </a:p>
        </p:txBody>
      </p:sp>
      <p:sp>
        <p:nvSpPr>
          <p:cNvPr id="6" name="Text 4"/>
          <p:cNvSpPr/>
          <p:nvPr/>
        </p:nvSpPr>
        <p:spPr>
          <a:xfrm>
            <a:off x="438912" y="658368"/>
            <a:ext cx="8686800" cy="256032"/>
          </a:xfrm>
          <a:prstGeom prst="rect">
            <a:avLst/>
          </a:prstGeom>
          <a:noFill/>
          <a:ln/>
        </p:spPr>
        <p:txBody>
          <a:bodyPr wrap="square" lIns="0" tIns="0" rIns="0" bIns="0" rtlCol="0" anchor="ctr"/>
          <a:lstStyle/>
          <a:p>
            <a:pPr indent="0" marL="0">
              <a:buNone/>
            </a:pPr>
            <a:r>
              <a:rPr lang="en-US" sz="1050" dirty="0">
                <a:solidFill>
                  <a:srgbClr val="B7C0C9"/>
                </a:solidFill>
              </a:rPr>
              <a:t>Seminar 2 progress checkpoint</a:t>
            </a:r>
            <a:endParaRPr lang="en-US" sz="1050" dirty="0"/>
          </a:p>
        </p:txBody>
      </p:sp>
      <p:sp>
        <p:nvSpPr>
          <p:cNvPr id="7" name="Text 5"/>
          <p:cNvSpPr/>
          <p:nvPr/>
        </p:nvSpPr>
        <p:spPr>
          <a:xfrm>
            <a:off x="9738360" y="6446520"/>
            <a:ext cx="1965960" cy="201168"/>
          </a:xfrm>
          <a:prstGeom prst="rect">
            <a:avLst/>
          </a:prstGeom>
          <a:noFill/>
          <a:ln/>
        </p:spPr>
        <p:txBody>
          <a:bodyPr wrap="square" lIns="0" tIns="0" rIns="0" bIns="0" rtlCol="0" anchor="ctr"/>
          <a:lstStyle/>
          <a:p>
            <a:pPr algn="r" indent="0" marL="0">
              <a:buNone/>
            </a:pPr>
            <a:r>
              <a:rPr lang="en-US" sz="850" dirty="0">
                <a:solidFill>
                  <a:srgbClr val="6B7280"/>
                </a:solidFill>
              </a:rPr>
              <a:t>CUDA NMS · Seminar 2</a:t>
            </a:r>
            <a:endParaRPr lang="en-US" sz="850" dirty="0"/>
          </a:p>
        </p:txBody>
      </p:sp>
      <p:sp>
        <p:nvSpPr>
          <p:cNvPr id="8" name="Shape 6"/>
          <p:cNvSpPr/>
          <p:nvPr/>
        </p:nvSpPr>
        <p:spPr>
          <a:xfrm>
            <a:off x="1188720" y="1417320"/>
            <a:ext cx="292608" cy="292608"/>
          </a:xfrm>
          <a:prstGeom prst="ellipse">
            <a:avLst/>
          </a:prstGeom>
          <a:solidFill>
            <a:srgbClr val="76B900"/>
          </a:solidFill>
          <a:ln w="12700">
            <a:solidFill>
              <a:srgbClr val="76B900"/>
            </a:solidFill>
            <a:prstDash val="solid"/>
          </a:ln>
        </p:spPr>
      </p:sp>
      <p:sp>
        <p:nvSpPr>
          <p:cNvPr id="9" name="Text 7"/>
          <p:cNvSpPr/>
          <p:nvPr/>
        </p:nvSpPr>
        <p:spPr>
          <a:xfrm>
            <a:off x="1220724" y="1426464"/>
            <a:ext cx="228600" cy="201168"/>
          </a:xfrm>
          <a:prstGeom prst="rect">
            <a:avLst/>
          </a:prstGeom>
          <a:noFill/>
          <a:ln/>
        </p:spPr>
        <p:txBody>
          <a:bodyPr wrap="square" lIns="0" tIns="0" rIns="0" bIns="0" rtlCol="0" anchor="ctr"/>
          <a:lstStyle/>
          <a:p>
            <a:pPr algn="ctr" indent="0" marL="0">
              <a:buNone/>
            </a:pPr>
            <a:r>
              <a:rPr lang="en-US" sz="1300" b="1" dirty="0">
                <a:solidFill>
                  <a:srgbClr val="0B0F12"/>
                </a:solidFill>
              </a:rPr>
              <a:t>✓</a:t>
            </a:r>
            <a:endParaRPr lang="en-US" sz="1300" dirty="0"/>
          </a:p>
        </p:txBody>
      </p:sp>
      <p:sp>
        <p:nvSpPr>
          <p:cNvPr id="10" name="Text 8"/>
          <p:cNvSpPr/>
          <p:nvPr/>
        </p:nvSpPr>
        <p:spPr>
          <a:xfrm>
            <a:off x="1645920" y="1399032"/>
            <a:ext cx="4114800" cy="256032"/>
          </a:xfrm>
          <a:prstGeom prst="rect">
            <a:avLst/>
          </a:prstGeom>
          <a:noFill/>
          <a:ln/>
        </p:spPr>
        <p:txBody>
          <a:bodyPr wrap="square" lIns="0" tIns="0" rIns="0" bIns="0" rtlCol="0" anchor="ctr"/>
          <a:lstStyle/>
          <a:p>
            <a:pPr indent="0" marL="0">
              <a:buNone/>
            </a:pPr>
            <a:r>
              <a:rPr lang="en-US" sz="1600" b="1" dirty="0">
                <a:solidFill>
                  <a:srgbClr val="F7FAFC"/>
                </a:solidFill>
              </a:rPr>
              <a:t>CPU baseline implemented</a:t>
            </a:r>
            <a:endParaRPr lang="en-US" sz="1600" dirty="0"/>
          </a:p>
        </p:txBody>
      </p:sp>
      <p:sp>
        <p:nvSpPr>
          <p:cNvPr id="11" name="Shape 9"/>
          <p:cNvSpPr/>
          <p:nvPr/>
        </p:nvSpPr>
        <p:spPr>
          <a:xfrm>
            <a:off x="1188720" y="2468880"/>
            <a:ext cx="292608" cy="292608"/>
          </a:xfrm>
          <a:prstGeom prst="ellipse">
            <a:avLst/>
          </a:prstGeom>
          <a:solidFill>
            <a:srgbClr val="76B900"/>
          </a:solidFill>
          <a:ln w="12700">
            <a:solidFill>
              <a:srgbClr val="76B900"/>
            </a:solidFill>
            <a:prstDash val="solid"/>
          </a:ln>
        </p:spPr>
      </p:sp>
      <p:sp>
        <p:nvSpPr>
          <p:cNvPr id="12" name="Text 10"/>
          <p:cNvSpPr/>
          <p:nvPr/>
        </p:nvSpPr>
        <p:spPr>
          <a:xfrm>
            <a:off x="1220724" y="2478024"/>
            <a:ext cx="228600" cy="201168"/>
          </a:xfrm>
          <a:prstGeom prst="rect">
            <a:avLst/>
          </a:prstGeom>
          <a:noFill/>
          <a:ln/>
        </p:spPr>
        <p:txBody>
          <a:bodyPr wrap="square" lIns="0" tIns="0" rIns="0" bIns="0" rtlCol="0" anchor="ctr"/>
          <a:lstStyle/>
          <a:p>
            <a:pPr algn="ctr" indent="0" marL="0">
              <a:buNone/>
            </a:pPr>
            <a:r>
              <a:rPr lang="en-US" sz="1300" b="1" dirty="0">
                <a:solidFill>
                  <a:srgbClr val="0B0F12"/>
                </a:solidFill>
              </a:rPr>
              <a:t>✓</a:t>
            </a:r>
            <a:endParaRPr lang="en-US" sz="1300" dirty="0"/>
          </a:p>
        </p:txBody>
      </p:sp>
      <p:sp>
        <p:nvSpPr>
          <p:cNvPr id="13" name="Text 11"/>
          <p:cNvSpPr/>
          <p:nvPr/>
        </p:nvSpPr>
        <p:spPr>
          <a:xfrm>
            <a:off x="1645920" y="2450592"/>
            <a:ext cx="4114800" cy="256032"/>
          </a:xfrm>
          <a:prstGeom prst="rect">
            <a:avLst/>
          </a:prstGeom>
          <a:noFill/>
          <a:ln/>
        </p:spPr>
        <p:txBody>
          <a:bodyPr wrap="square" lIns="0" tIns="0" rIns="0" bIns="0" rtlCol="0" anchor="ctr"/>
          <a:lstStyle/>
          <a:p>
            <a:pPr indent="0" marL="0">
              <a:buNone/>
            </a:pPr>
            <a:r>
              <a:rPr lang="en-US" sz="1600" b="1" dirty="0">
                <a:solidFill>
                  <a:srgbClr val="F7FAFC"/>
                </a:solidFill>
              </a:rPr>
              <a:t>cProfile bottleneck identified</a:t>
            </a:r>
            <a:endParaRPr lang="en-US" sz="1600" dirty="0"/>
          </a:p>
        </p:txBody>
      </p:sp>
      <p:sp>
        <p:nvSpPr>
          <p:cNvPr id="14" name="Shape 12"/>
          <p:cNvSpPr/>
          <p:nvPr/>
        </p:nvSpPr>
        <p:spPr>
          <a:xfrm>
            <a:off x="1188720" y="3520440"/>
            <a:ext cx="292608" cy="292608"/>
          </a:xfrm>
          <a:prstGeom prst="ellipse">
            <a:avLst/>
          </a:prstGeom>
          <a:solidFill>
            <a:srgbClr val="76B900"/>
          </a:solidFill>
          <a:ln w="12700">
            <a:solidFill>
              <a:srgbClr val="76B900"/>
            </a:solidFill>
            <a:prstDash val="solid"/>
          </a:ln>
        </p:spPr>
      </p:sp>
      <p:sp>
        <p:nvSpPr>
          <p:cNvPr id="15" name="Text 13"/>
          <p:cNvSpPr/>
          <p:nvPr/>
        </p:nvSpPr>
        <p:spPr>
          <a:xfrm>
            <a:off x="1220724" y="3529584"/>
            <a:ext cx="228600" cy="201168"/>
          </a:xfrm>
          <a:prstGeom prst="rect">
            <a:avLst/>
          </a:prstGeom>
          <a:noFill/>
          <a:ln/>
        </p:spPr>
        <p:txBody>
          <a:bodyPr wrap="square" lIns="0" tIns="0" rIns="0" bIns="0" rtlCol="0" anchor="ctr"/>
          <a:lstStyle/>
          <a:p>
            <a:pPr algn="ctr" indent="0" marL="0">
              <a:buNone/>
            </a:pPr>
            <a:r>
              <a:rPr lang="en-US" sz="1300" b="1" dirty="0">
                <a:solidFill>
                  <a:srgbClr val="0B0F12"/>
                </a:solidFill>
              </a:rPr>
              <a:t>✓</a:t>
            </a:r>
            <a:endParaRPr lang="en-US" sz="1300" dirty="0"/>
          </a:p>
        </p:txBody>
      </p:sp>
      <p:sp>
        <p:nvSpPr>
          <p:cNvPr id="16" name="Text 14"/>
          <p:cNvSpPr/>
          <p:nvPr/>
        </p:nvSpPr>
        <p:spPr>
          <a:xfrm>
            <a:off x="1645920" y="3502152"/>
            <a:ext cx="4114800" cy="256032"/>
          </a:xfrm>
          <a:prstGeom prst="rect">
            <a:avLst/>
          </a:prstGeom>
          <a:noFill/>
          <a:ln/>
        </p:spPr>
        <p:txBody>
          <a:bodyPr wrap="square" lIns="0" tIns="0" rIns="0" bIns="0" rtlCol="0" anchor="ctr"/>
          <a:lstStyle/>
          <a:p>
            <a:pPr indent="0" marL="0">
              <a:buNone/>
            </a:pPr>
            <a:r>
              <a:rPr lang="en-US" sz="1600" b="1" dirty="0">
                <a:solidFill>
                  <a:srgbClr val="F7FAFC"/>
                </a:solidFill>
              </a:rPr>
              <a:t>GPU V1 IoU kernel implemented</a:t>
            </a:r>
            <a:endParaRPr lang="en-US" sz="1600" dirty="0"/>
          </a:p>
        </p:txBody>
      </p:sp>
      <p:sp>
        <p:nvSpPr>
          <p:cNvPr id="17" name="Shape 15"/>
          <p:cNvSpPr/>
          <p:nvPr/>
        </p:nvSpPr>
        <p:spPr>
          <a:xfrm>
            <a:off x="6400800" y="1417320"/>
            <a:ext cx="292608" cy="292608"/>
          </a:xfrm>
          <a:prstGeom prst="ellipse">
            <a:avLst/>
          </a:prstGeom>
          <a:solidFill>
            <a:srgbClr val="76B900"/>
          </a:solidFill>
          <a:ln w="12700">
            <a:solidFill>
              <a:srgbClr val="76B900"/>
            </a:solidFill>
            <a:prstDash val="solid"/>
          </a:ln>
        </p:spPr>
      </p:sp>
      <p:sp>
        <p:nvSpPr>
          <p:cNvPr id="18" name="Text 16"/>
          <p:cNvSpPr/>
          <p:nvPr/>
        </p:nvSpPr>
        <p:spPr>
          <a:xfrm>
            <a:off x="6432804" y="1426464"/>
            <a:ext cx="228600" cy="201168"/>
          </a:xfrm>
          <a:prstGeom prst="rect">
            <a:avLst/>
          </a:prstGeom>
          <a:noFill/>
          <a:ln/>
        </p:spPr>
        <p:txBody>
          <a:bodyPr wrap="square" lIns="0" tIns="0" rIns="0" bIns="0" rtlCol="0" anchor="ctr"/>
          <a:lstStyle/>
          <a:p>
            <a:pPr algn="ctr" indent="0" marL="0">
              <a:buNone/>
            </a:pPr>
            <a:r>
              <a:rPr lang="en-US" sz="1300" b="1" dirty="0">
                <a:solidFill>
                  <a:srgbClr val="0B0F12"/>
                </a:solidFill>
              </a:rPr>
              <a:t>✓</a:t>
            </a:r>
            <a:endParaRPr lang="en-US" sz="1300" dirty="0"/>
          </a:p>
        </p:txBody>
      </p:sp>
      <p:sp>
        <p:nvSpPr>
          <p:cNvPr id="19" name="Text 17"/>
          <p:cNvSpPr/>
          <p:nvPr/>
        </p:nvSpPr>
        <p:spPr>
          <a:xfrm>
            <a:off x="6858000" y="1399032"/>
            <a:ext cx="4114800" cy="256032"/>
          </a:xfrm>
          <a:prstGeom prst="rect">
            <a:avLst/>
          </a:prstGeom>
          <a:noFill/>
          <a:ln/>
        </p:spPr>
        <p:txBody>
          <a:bodyPr wrap="square" lIns="0" tIns="0" rIns="0" bIns="0" rtlCol="0" anchor="ctr"/>
          <a:lstStyle/>
          <a:p>
            <a:pPr indent="0" marL="0">
              <a:buNone/>
            </a:pPr>
            <a:r>
              <a:rPr lang="en-US" sz="1600" b="1" dirty="0">
                <a:solidFill>
                  <a:srgbClr val="F7FAFC"/>
                </a:solidFill>
              </a:rPr>
              <a:t>Correctness verification prepared</a:t>
            </a:r>
            <a:endParaRPr lang="en-US" sz="1600" dirty="0"/>
          </a:p>
        </p:txBody>
      </p:sp>
      <p:sp>
        <p:nvSpPr>
          <p:cNvPr id="20" name="Shape 18"/>
          <p:cNvSpPr/>
          <p:nvPr/>
        </p:nvSpPr>
        <p:spPr>
          <a:xfrm>
            <a:off x="6400800" y="2468880"/>
            <a:ext cx="292608" cy="292608"/>
          </a:xfrm>
          <a:prstGeom prst="ellipse">
            <a:avLst/>
          </a:prstGeom>
          <a:solidFill>
            <a:srgbClr val="76B900"/>
          </a:solidFill>
          <a:ln w="12700">
            <a:solidFill>
              <a:srgbClr val="76B900"/>
            </a:solidFill>
            <a:prstDash val="solid"/>
          </a:ln>
        </p:spPr>
      </p:sp>
      <p:sp>
        <p:nvSpPr>
          <p:cNvPr id="21" name="Text 19"/>
          <p:cNvSpPr/>
          <p:nvPr/>
        </p:nvSpPr>
        <p:spPr>
          <a:xfrm>
            <a:off x="6432804" y="2478024"/>
            <a:ext cx="228600" cy="201168"/>
          </a:xfrm>
          <a:prstGeom prst="rect">
            <a:avLst/>
          </a:prstGeom>
          <a:noFill/>
          <a:ln/>
        </p:spPr>
        <p:txBody>
          <a:bodyPr wrap="square" lIns="0" tIns="0" rIns="0" bIns="0" rtlCol="0" anchor="ctr"/>
          <a:lstStyle/>
          <a:p>
            <a:pPr algn="ctr" indent="0" marL="0">
              <a:buNone/>
            </a:pPr>
            <a:r>
              <a:rPr lang="en-US" sz="1300" b="1" dirty="0">
                <a:solidFill>
                  <a:srgbClr val="0B0F12"/>
                </a:solidFill>
              </a:rPr>
              <a:t>✓</a:t>
            </a:r>
            <a:endParaRPr lang="en-US" sz="1300" dirty="0"/>
          </a:p>
        </p:txBody>
      </p:sp>
      <p:sp>
        <p:nvSpPr>
          <p:cNvPr id="22" name="Text 20"/>
          <p:cNvSpPr/>
          <p:nvPr/>
        </p:nvSpPr>
        <p:spPr>
          <a:xfrm>
            <a:off x="6858000" y="2450592"/>
            <a:ext cx="4114800" cy="256032"/>
          </a:xfrm>
          <a:prstGeom prst="rect">
            <a:avLst/>
          </a:prstGeom>
          <a:noFill/>
          <a:ln/>
        </p:spPr>
        <p:txBody>
          <a:bodyPr wrap="square" lIns="0" tIns="0" rIns="0" bIns="0" rtlCol="0" anchor="ctr"/>
          <a:lstStyle/>
          <a:p>
            <a:pPr indent="0" marL="0">
              <a:buNone/>
            </a:pPr>
            <a:r>
              <a:rPr lang="en-US" sz="1600" b="1" dirty="0">
                <a:solidFill>
                  <a:srgbClr val="F7FAFC"/>
                </a:solidFill>
              </a:rPr>
              <a:t>Benchmark workflow prepared</a:t>
            </a:r>
            <a:endParaRPr lang="en-US" sz="1600" dirty="0"/>
          </a:p>
        </p:txBody>
      </p:sp>
      <p:sp>
        <p:nvSpPr>
          <p:cNvPr id="23" name="Shape 21"/>
          <p:cNvSpPr/>
          <p:nvPr/>
        </p:nvSpPr>
        <p:spPr>
          <a:xfrm>
            <a:off x="6400800" y="3520440"/>
            <a:ext cx="292608" cy="292608"/>
          </a:xfrm>
          <a:prstGeom prst="ellipse">
            <a:avLst/>
          </a:prstGeom>
          <a:solidFill>
            <a:srgbClr val="76B900"/>
          </a:solidFill>
          <a:ln w="12700">
            <a:solidFill>
              <a:srgbClr val="76B900"/>
            </a:solidFill>
            <a:prstDash val="solid"/>
          </a:ln>
        </p:spPr>
      </p:sp>
      <p:sp>
        <p:nvSpPr>
          <p:cNvPr id="24" name="Text 22"/>
          <p:cNvSpPr/>
          <p:nvPr/>
        </p:nvSpPr>
        <p:spPr>
          <a:xfrm>
            <a:off x="6432804" y="3529584"/>
            <a:ext cx="228600" cy="201168"/>
          </a:xfrm>
          <a:prstGeom prst="rect">
            <a:avLst/>
          </a:prstGeom>
          <a:noFill/>
          <a:ln/>
        </p:spPr>
        <p:txBody>
          <a:bodyPr wrap="square" lIns="0" tIns="0" rIns="0" bIns="0" rtlCol="0" anchor="ctr"/>
          <a:lstStyle/>
          <a:p>
            <a:pPr algn="ctr" indent="0" marL="0">
              <a:buNone/>
            </a:pPr>
            <a:r>
              <a:rPr lang="en-US" sz="1300" b="1" dirty="0">
                <a:solidFill>
                  <a:srgbClr val="0B0F12"/>
                </a:solidFill>
              </a:rPr>
              <a:t>✓</a:t>
            </a:r>
            <a:endParaRPr lang="en-US" sz="1300" dirty="0"/>
          </a:p>
        </p:txBody>
      </p:sp>
      <p:sp>
        <p:nvSpPr>
          <p:cNvPr id="25" name="Text 23"/>
          <p:cNvSpPr/>
          <p:nvPr/>
        </p:nvSpPr>
        <p:spPr>
          <a:xfrm>
            <a:off x="6858000" y="3502152"/>
            <a:ext cx="4114800" cy="256032"/>
          </a:xfrm>
          <a:prstGeom prst="rect">
            <a:avLst/>
          </a:prstGeom>
          <a:noFill/>
          <a:ln/>
        </p:spPr>
        <p:txBody>
          <a:bodyPr wrap="square" lIns="0" tIns="0" rIns="0" bIns="0" rtlCol="0" anchor="ctr"/>
          <a:lstStyle/>
          <a:p>
            <a:pPr indent="0" marL="0">
              <a:buNone/>
            </a:pPr>
            <a:r>
              <a:rPr lang="en-US" sz="1600" b="1" dirty="0">
                <a:solidFill>
                  <a:srgbClr val="F7FAFC"/>
                </a:solidFill>
              </a:rPr>
              <a:t>V2/V3 roadmap defined</a:t>
            </a:r>
            <a:endParaRPr lang="en-US" sz="1600" dirty="0"/>
          </a:p>
        </p:txBody>
      </p:sp>
      <p:sp>
        <p:nvSpPr>
          <p:cNvPr id="26" name="Shape 24"/>
          <p:cNvSpPr/>
          <p:nvPr/>
        </p:nvSpPr>
        <p:spPr>
          <a:xfrm>
            <a:off x="1874520" y="5257800"/>
            <a:ext cx="8458200" cy="685800"/>
          </a:xfrm>
          <a:prstGeom prst="roundRect">
            <a:avLst>
              <a:gd name="adj" fmla="val 16000"/>
            </a:avLst>
          </a:prstGeom>
          <a:solidFill>
            <a:srgbClr val="76B900"/>
          </a:solidFill>
          <a:ln w="12700">
            <a:solidFill>
              <a:srgbClr val="76B900"/>
            </a:solidFill>
            <a:prstDash val="solid"/>
          </a:ln>
        </p:spPr>
      </p:sp>
      <p:sp>
        <p:nvSpPr>
          <p:cNvPr id="27" name="Text 25"/>
          <p:cNvSpPr/>
          <p:nvPr/>
        </p:nvSpPr>
        <p:spPr>
          <a:xfrm>
            <a:off x="2057400" y="5477256"/>
            <a:ext cx="8092440" cy="201168"/>
          </a:xfrm>
          <a:prstGeom prst="rect">
            <a:avLst/>
          </a:prstGeom>
          <a:noFill/>
          <a:ln/>
        </p:spPr>
        <p:txBody>
          <a:bodyPr wrap="square" lIns="0" tIns="0" rIns="0" bIns="0" rtlCol="0" anchor="ctr"/>
          <a:lstStyle/>
          <a:p>
            <a:pPr algn="ctr" indent="0" marL="0">
              <a:buNone/>
            </a:pPr>
            <a:r>
              <a:rPr lang="en-US" sz="1500" b="1" dirty="0">
                <a:solidFill>
                  <a:srgbClr val="0B0F12"/>
                </a:solidFill>
              </a:rPr>
              <a:t>Next milestone: optimize GPU NMS beyond IoU matrix V1</a:t>
            </a:r>
            <a:endParaRPr lang="en-US" sz="1500" dirty="0"/>
          </a:p>
        </p:txBody>
      </p:sp>
      <p:sp>
        <p:nvSpPr>
          <p:cNvPr id="29" name="Text 26"/>
          <p:cNvSpPr/>
          <p:nvPr/>
        </p:nvSpPr>
        <p:spPr>
          <a:xfrm>
            <a:off x="11777472"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F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2"/>
          </a:solidFill>
          <a:ln w="12700">
            <a:solidFill>
              <a:srgbClr val="0B0F12">
                <a:alpha val="0"/>
              </a:srgbClr>
            </a:solidFill>
            <a:prstDash val="solid"/>
          </a:ln>
        </p:spPr>
      </p:sp>
      <p:sp>
        <p:nvSpPr>
          <p:cNvPr id="3" name="Shape 1"/>
          <p:cNvSpPr/>
          <p:nvPr/>
        </p:nvSpPr>
        <p:spPr>
          <a:xfrm>
            <a:off x="0" y="0"/>
            <a:ext cx="109728" cy="6858000"/>
          </a:xfrm>
          <a:prstGeom prst="rect">
            <a:avLst/>
          </a:prstGeom>
          <a:solidFill>
            <a:srgbClr val="76B900"/>
          </a:solidFill>
          <a:ln w="12700">
            <a:solidFill>
              <a:srgbClr val="76B900"/>
            </a:solidFill>
            <a:prstDash val="solid"/>
          </a:ln>
        </p:spPr>
      </p:sp>
      <p:sp>
        <p:nvSpPr>
          <p:cNvPr id="4" name="Shape 2"/>
          <p:cNvSpPr/>
          <p:nvPr/>
        </p:nvSpPr>
        <p:spPr>
          <a:xfrm>
            <a:off x="146304" y="0"/>
            <a:ext cx="12045391" cy="73152"/>
          </a:xfrm>
          <a:prstGeom prst="rect">
            <a:avLst/>
          </a:prstGeom>
          <a:solidFill>
            <a:srgbClr val="76B900">
              <a:alpha val="85000"/>
            </a:srgbClr>
          </a:solidFill>
          <a:ln w="12700">
            <a:solidFill>
              <a:srgbClr val="76B900">
                <a:alpha val="0"/>
              </a:srgbClr>
            </a:solidFill>
            <a:prstDash val="solid"/>
          </a:ln>
        </p:spPr>
      </p:sp>
      <p:sp>
        <p:nvSpPr>
          <p:cNvPr id="5" name="Text 3"/>
          <p:cNvSpPr/>
          <p:nvPr/>
        </p:nvSpPr>
        <p:spPr>
          <a:xfrm>
            <a:off x="438912" y="256032"/>
            <a:ext cx="9692640" cy="384048"/>
          </a:xfrm>
          <a:prstGeom prst="rect">
            <a:avLst/>
          </a:prstGeom>
          <a:noFill/>
          <a:ln/>
        </p:spPr>
        <p:txBody>
          <a:bodyPr wrap="square" lIns="0" tIns="0" rIns="0" bIns="0" rtlCol="0" anchor="ctr"/>
          <a:lstStyle/>
          <a:p>
            <a:pPr indent="0" marL="0">
              <a:buNone/>
            </a:pPr>
            <a:r>
              <a:rPr lang="en-US" sz="2500" b="1" dirty="0">
                <a:solidFill>
                  <a:srgbClr val="F7FAFC"/>
                </a:solidFill>
                <a:latin typeface="Aptos Display" pitchFamily="34" charset="0"/>
                <a:ea typeface="Aptos Display" pitchFamily="34" charset="-122"/>
                <a:cs typeface="Aptos Display" pitchFamily="34" charset="-120"/>
              </a:rPr>
              <a:t>Q&amp;A Backup</a:t>
            </a:r>
            <a:endParaRPr lang="en-US" sz="2500" dirty="0"/>
          </a:p>
        </p:txBody>
      </p:sp>
      <p:sp>
        <p:nvSpPr>
          <p:cNvPr id="6" name="Text 4"/>
          <p:cNvSpPr/>
          <p:nvPr/>
        </p:nvSpPr>
        <p:spPr>
          <a:xfrm>
            <a:off x="438912" y="658368"/>
            <a:ext cx="8686800" cy="256032"/>
          </a:xfrm>
          <a:prstGeom prst="rect">
            <a:avLst/>
          </a:prstGeom>
          <a:noFill/>
          <a:ln/>
        </p:spPr>
        <p:txBody>
          <a:bodyPr wrap="square" lIns="0" tIns="0" rIns="0" bIns="0" rtlCol="0" anchor="ctr"/>
          <a:lstStyle/>
          <a:p>
            <a:pPr indent="0" marL="0">
              <a:buNone/>
            </a:pPr>
            <a:r>
              <a:rPr lang="en-US" sz="1050" dirty="0">
                <a:solidFill>
                  <a:srgbClr val="B7C0C9"/>
                </a:solidFill>
              </a:rPr>
              <a:t>Likely questions and short answers</a:t>
            </a:r>
            <a:endParaRPr lang="en-US" sz="1050" dirty="0"/>
          </a:p>
        </p:txBody>
      </p:sp>
      <p:sp>
        <p:nvSpPr>
          <p:cNvPr id="7" name="Text 5"/>
          <p:cNvSpPr/>
          <p:nvPr/>
        </p:nvSpPr>
        <p:spPr>
          <a:xfrm>
            <a:off x="9738360" y="6446520"/>
            <a:ext cx="1965960" cy="201168"/>
          </a:xfrm>
          <a:prstGeom prst="rect">
            <a:avLst/>
          </a:prstGeom>
          <a:noFill/>
          <a:ln/>
        </p:spPr>
        <p:txBody>
          <a:bodyPr wrap="square" lIns="0" tIns="0" rIns="0" bIns="0" rtlCol="0" anchor="ctr"/>
          <a:lstStyle/>
          <a:p>
            <a:pPr algn="r" indent="0" marL="0">
              <a:buNone/>
            </a:pPr>
            <a:r>
              <a:rPr lang="en-US" sz="850" dirty="0">
                <a:solidFill>
                  <a:srgbClr val="6B7280"/>
                </a:solidFill>
              </a:rPr>
              <a:t>CUDA NMS · Seminar 2</a:t>
            </a:r>
            <a:endParaRPr lang="en-US" sz="850" dirty="0"/>
          </a:p>
        </p:txBody>
      </p:sp>
      <p:sp>
        <p:nvSpPr>
          <p:cNvPr id="8" name="Text 6"/>
          <p:cNvSpPr/>
          <p:nvPr/>
        </p:nvSpPr>
        <p:spPr>
          <a:xfrm>
            <a:off x="868680" y="1234440"/>
            <a:ext cx="4663440" cy="237744"/>
          </a:xfrm>
          <a:prstGeom prst="rect">
            <a:avLst/>
          </a:prstGeom>
          <a:noFill/>
          <a:ln/>
        </p:spPr>
        <p:txBody>
          <a:bodyPr wrap="square" lIns="0" tIns="0" rIns="0" bIns="0" rtlCol="0" anchor="ctr"/>
          <a:lstStyle/>
          <a:p>
            <a:pPr indent="0" marL="0">
              <a:buNone/>
            </a:pPr>
            <a:r>
              <a:rPr lang="en-US" sz="1400" b="1" dirty="0">
                <a:solidFill>
                  <a:srgbClr val="76B900"/>
                </a:solidFill>
              </a:rPr>
              <a:t>Why not move all NMS to GPU now?</a:t>
            </a:r>
            <a:endParaRPr lang="en-US" sz="1400" dirty="0"/>
          </a:p>
        </p:txBody>
      </p:sp>
      <p:sp>
        <p:nvSpPr>
          <p:cNvPr id="9" name="Text 7"/>
          <p:cNvSpPr/>
          <p:nvPr/>
        </p:nvSpPr>
        <p:spPr>
          <a:xfrm>
            <a:off x="5669280" y="1234440"/>
            <a:ext cx="5349240" cy="310896"/>
          </a:xfrm>
          <a:prstGeom prst="rect">
            <a:avLst/>
          </a:prstGeom>
          <a:noFill/>
          <a:ln/>
        </p:spPr>
        <p:txBody>
          <a:bodyPr wrap="square" lIns="0" tIns="0" rIns="0" bIns="0" rtlCol="0" anchor="ctr">
            <a:normAutofit/>
          </a:bodyPr>
          <a:lstStyle/>
          <a:p>
            <a:pPr indent="0" marL="0">
              <a:buNone/>
            </a:pPr>
            <a:r>
              <a:rPr lang="en-US" sz="1300" dirty="0">
                <a:solidFill>
                  <a:srgbClr val="F7FAFC"/>
                </a:solidFill>
              </a:rPr>
              <a:t>V1 isolates one bottleneck for easier correctness and measurement.</a:t>
            </a:r>
            <a:endParaRPr lang="en-US" sz="1300" dirty="0"/>
          </a:p>
        </p:txBody>
      </p:sp>
      <p:sp>
        <p:nvSpPr>
          <p:cNvPr id="10" name="Shape 8"/>
          <p:cNvSpPr/>
          <p:nvPr/>
        </p:nvSpPr>
        <p:spPr>
          <a:xfrm>
            <a:off x="868680" y="1737360"/>
            <a:ext cx="10287000" cy="0"/>
          </a:xfrm>
          <a:prstGeom prst="line">
            <a:avLst/>
          </a:prstGeom>
          <a:noFill/>
          <a:ln w="7620">
            <a:solidFill>
              <a:srgbClr val="334155">
                <a:alpha val="85000"/>
              </a:srgbClr>
            </a:solidFill>
            <a:prstDash val="solid"/>
          </a:ln>
        </p:spPr>
      </p:sp>
      <p:sp>
        <p:nvSpPr>
          <p:cNvPr id="11" name="Text 9"/>
          <p:cNvSpPr/>
          <p:nvPr/>
        </p:nvSpPr>
        <p:spPr>
          <a:xfrm>
            <a:off x="868680" y="2468880"/>
            <a:ext cx="4663440" cy="237744"/>
          </a:xfrm>
          <a:prstGeom prst="rect">
            <a:avLst/>
          </a:prstGeom>
          <a:noFill/>
          <a:ln/>
        </p:spPr>
        <p:txBody>
          <a:bodyPr wrap="square" lIns="0" tIns="0" rIns="0" bIns="0" rtlCol="0" anchor="ctr"/>
          <a:lstStyle/>
          <a:p>
            <a:pPr indent="0" marL="0">
              <a:buNone/>
            </a:pPr>
            <a:r>
              <a:rPr lang="en-US" sz="1400" b="1" dirty="0">
                <a:solidFill>
                  <a:srgbClr val="76B900"/>
                </a:solidFill>
              </a:rPr>
              <a:t>Why can GPU be slower for small N?</a:t>
            </a:r>
            <a:endParaRPr lang="en-US" sz="1400" dirty="0"/>
          </a:p>
        </p:txBody>
      </p:sp>
      <p:sp>
        <p:nvSpPr>
          <p:cNvPr id="12" name="Text 10"/>
          <p:cNvSpPr/>
          <p:nvPr/>
        </p:nvSpPr>
        <p:spPr>
          <a:xfrm>
            <a:off x="5669280" y="2468880"/>
            <a:ext cx="5349240" cy="310896"/>
          </a:xfrm>
          <a:prstGeom prst="rect">
            <a:avLst/>
          </a:prstGeom>
          <a:noFill/>
          <a:ln/>
        </p:spPr>
        <p:txBody>
          <a:bodyPr wrap="square" lIns="0" tIns="0" rIns="0" bIns="0" rtlCol="0" anchor="ctr">
            <a:normAutofit/>
          </a:bodyPr>
          <a:lstStyle/>
          <a:p>
            <a:pPr indent="0" marL="0">
              <a:buNone/>
            </a:pPr>
            <a:r>
              <a:rPr lang="en-US" sz="1300" dirty="0">
                <a:solidFill>
                  <a:srgbClr val="F7FAFC"/>
                </a:solidFill>
              </a:rPr>
              <a:t>Kernel launch and memory copy overhead may dominate.</a:t>
            </a:r>
            <a:endParaRPr lang="en-US" sz="1300" dirty="0"/>
          </a:p>
        </p:txBody>
      </p:sp>
      <p:sp>
        <p:nvSpPr>
          <p:cNvPr id="13" name="Shape 11"/>
          <p:cNvSpPr/>
          <p:nvPr/>
        </p:nvSpPr>
        <p:spPr>
          <a:xfrm>
            <a:off x="868680" y="2971800"/>
            <a:ext cx="10287000" cy="0"/>
          </a:xfrm>
          <a:prstGeom prst="line">
            <a:avLst/>
          </a:prstGeom>
          <a:noFill/>
          <a:ln w="7620">
            <a:solidFill>
              <a:srgbClr val="334155">
                <a:alpha val="85000"/>
              </a:srgbClr>
            </a:solidFill>
            <a:prstDash val="solid"/>
          </a:ln>
        </p:spPr>
      </p:sp>
      <p:sp>
        <p:nvSpPr>
          <p:cNvPr id="14" name="Text 12"/>
          <p:cNvSpPr/>
          <p:nvPr/>
        </p:nvSpPr>
        <p:spPr>
          <a:xfrm>
            <a:off x="868680" y="3703320"/>
            <a:ext cx="4663440" cy="237744"/>
          </a:xfrm>
          <a:prstGeom prst="rect">
            <a:avLst/>
          </a:prstGeom>
          <a:noFill/>
          <a:ln/>
        </p:spPr>
        <p:txBody>
          <a:bodyPr wrap="square" lIns="0" tIns="0" rIns="0" bIns="0" rtlCol="0" anchor="ctr"/>
          <a:lstStyle/>
          <a:p>
            <a:pPr indent="0" marL="0">
              <a:buNone/>
            </a:pPr>
            <a:r>
              <a:rPr lang="en-US" sz="1400" b="1" dirty="0">
                <a:solidFill>
                  <a:srgbClr val="76B900"/>
                </a:solidFill>
              </a:rPr>
              <a:t>Why Numba instead of CUDA C++?</a:t>
            </a:r>
            <a:endParaRPr lang="en-US" sz="1400" dirty="0"/>
          </a:p>
        </p:txBody>
      </p:sp>
      <p:sp>
        <p:nvSpPr>
          <p:cNvPr id="15" name="Text 13"/>
          <p:cNvSpPr/>
          <p:nvPr/>
        </p:nvSpPr>
        <p:spPr>
          <a:xfrm>
            <a:off x="5669280" y="3703320"/>
            <a:ext cx="5349240" cy="310896"/>
          </a:xfrm>
          <a:prstGeom prst="rect">
            <a:avLst/>
          </a:prstGeom>
          <a:noFill/>
          <a:ln/>
        </p:spPr>
        <p:txBody>
          <a:bodyPr wrap="square" lIns="0" tIns="0" rIns="0" bIns="0" rtlCol="0" anchor="ctr">
            <a:normAutofit/>
          </a:bodyPr>
          <a:lstStyle/>
          <a:p>
            <a:pPr indent="0" marL="0">
              <a:buNone/>
            </a:pPr>
            <a:r>
              <a:rPr lang="en-US" sz="1300" dirty="0">
                <a:solidFill>
                  <a:srgbClr val="F7FAFC"/>
                </a:solidFill>
              </a:rPr>
              <a:t>Faster iteration in Python course pipeline while still writing custom kernels.</a:t>
            </a:r>
            <a:endParaRPr lang="en-US" sz="1300" dirty="0"/>
          </a:p>
        </p:txBody>
      </p:sp>
      <p:sp>
        <p:nvSpPr>
          <p:cNvPr id="16" name="Shape 14"/>
          <p:cNvSpPr/>
          <p:nvPr/>
        </p:nvSpPr>
        <p:spPr>
          <a:xfrm>
            <a:off x="868680" y="4206240"/>
            <a:ext cx="10287000" cy="0"/>
          </a:xfrm>
          <a:prstGeom prst="line">
            <a:avLst/>
          </a:prstGeom>
          <a:noFill/>
          <a:ln w="7620">
            <a:solidFill>
              <a:srgbClr val="334155">
                <a:alpha val="85000"/>
              </a:srgbClr>
            </a:solidFill>
            <a:prstDash val="solid"/>
          </a:ln>
        </p:spPr>
      </p:sp>
      <p:sp>
        <p:nvSpPr>
          <p:cNvPr id="17" name="Text 15"/>
          <p:cNvSpPr/>
          <p:nvPr/>
        </p:nvSpPr>
        <p:spPr>
          <a:xfrm>
            <a:off x="868680" y="4937760"/>
            <a:ext cx="4663440" cy="237744"/>
          </a:xfrm>
          <a:prstGeom prst="rect">
            <a:avLst/>
          </a:prstGeom>
          <a:noFill/>
          <a:ln/>
        </p:spPr>
        <p:txBody>
          <a:bodyPr wrap="square" lIns="0" tIns="0" rIns="0" bIns="0" rtlCol="0" anchor="ctr"/>
          <a:lstStyle/>
          <a:p>
            <a:pPr indent="0" marL="0">
              <a:buNone/>
            </a:pPr>
            <a:r>
              <a:rPr lang="en-US" sz="1400" b="1" dirty="0">
                <a:solidFill>
                  <a:srgbClr val="76B900"/>
                </a:solidFill>
              </a:rPr>
              <a:t>What is the main V1 limitation?</a:t>
            </a:r>
            <a:endParaRPr lang="en-US" sz="1400" dirty="0"/>
          </a:p>
        </p:txBody>
      </p:sp>
      <p:sp>
        <p:nvSpPr>
          <p:cNvPr id="18" name="Text 16"/>
          <p:cNvSpPr/>
          <p:nvPr/>
        </p:nvSpPr>
        <p:spPr>
          <a:xfrm>
            <a:off x="5669280" y="4937760"/>
            <a:ext cx="5349240" cy="310896"/>
          </a:xfrm>
          <a:prstGeom prst="rect">
            <a:avLst/>
          </a:prstGeom>
          <a:noFill/>
          <a:ln/>
        </p:spPr>
        <p:txBody>
          <a:bodyPr wrap="square" lIns="0" tIns="0" rIns="0" bIns="0" rtlCol="0" anchor="ctr">
            <a:normAutofit/>
          </a:bodyPr>
          <a:lstStyle/>
          <a:p>
            <a:pPr indent="0" marL="0">
              <a:buNone/>
            </a:pPr>
            <a:r>
              <a:rPr lang="en-US" sz="1300" dirty="0">
                <a:solidFill>
                  <a:srgbClr val="F7FAFC"/>
                </a:solidFill>
              </a:rPr>
              <a:t>O(N²) IoU matrix memory and transfer cost.</a:t>
            </a:r>
            <a:endParaRPr lang="en-US" sz="1300" dirty="0"/>
          </a:p>
        </p:txBody>
      </p:sp>
      <p:sp>
        <p:nvSpPr>
          <p:cNvPr id="19" name="Shape 17"/>
          <p:cNvSpPr/>
          <p:nvPr/>
        </p:nvSpPr>
        <p:spPr>
          <a:xfrm>
            <a:off x="868680" y="5440680"/>
            <a:ext cx="10287000" cy="0"/>
          </a:xfrm>
          <a:prstGeom prst="line">
            <a:avLst/>
          </a:prstGeom>
          <a:noFill/>
          <a:ln w="7620">
            <a:solidFill>
              <a:srgbClr val="334155">
                <a:alpha val="85000"/>
              </a:srgbClr>
            </a:solidFill>
            <a:prstDash val="solid"/>
          </a:ln>
        </p:spPr>
      </p:sp>
      <p:sp>
        <p:nvSpPr>
          <p:cNvPr id="21" name="Text 18"/>
          <p:cNvSpPr/>
          <p:nvPr/>
        </p:nvSpPr>
        <p:spPr>
          <a:xfrm>
            <a:off x="11777472"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F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2"/>
          </a:solidFill>
          <a:ln w="12700">
            <a:solidFill>
              <a:srgbClr val="0B0F12">
                <a:alpha val="0"/>
              </a:srgbClr>
            </a:solidFill>
            <a:prstDash val="solid"/>
          </a:ln>
        </p:spPr>
      </p:sp>
      <p:sp>
        <p:nvSpPr>
          <p:cNvPr id="3" name="Shape 1"/>
          <p:cNvSpPr/>
          <p:nvPr/>
        </p:nvSpPr>
        <p:spPr>
          <a:xfrm>
            <a:off x="0" y="0"/>
            <a:ext cx="109728" cy="6858000"/>
          </a:xfrm>
          <a:prstGeom prst="rect">
            <a:avLst/>
          </a:prstGeom>
          <a:solidFill>
            <a:srgbClr val="76B900"/>
          </a:solidFill>
          <a:ln w="12700">
            <a:solidFill>
              <a:srgbClr val="76B900"/>
            </a:solidFill>
            <a:prstDash val="solid"/>
          </a:ln>
        </p:spPr>
      </p:sp>
      <p:sp>
        <p:nvSpPr>
          <p:cNvPr id="4" name="Shape 2"/>
          <p:cNvSpPr/>
          <p:nvPr/>
        </p:nvSpPr>
        <p:spPr>
          <a:xfrm>
            <a:off x="146304" y="0"/>
            <a:ext cx="12045391" cy="73152"/>
          </a:xfrm>
          <a:prstGeom prst="rect">
            <a:avLst/>
          </a:prstGeom>
          <a:solidFill>
            <a:srgbClr val="76B900">
              <a:alpha val="85000"/>
            </a:srgbClr>
          </a:solidFill>
          <a:ln w="12700">
            <a:solidFill>
              <a:srgbClr val="76B900">
                <a:alpha val="0"/>
              </a:srgbClr>
            </a:solidFill>
            <a:prstDash val="solid"/>
          </a:ln>
        </p:spPr>
      </p:sp>
      <p:sp>
        <p:nvSpPr>
          <p:cNvPr id="5" name="Text 3"/>
          <p:cNvSpPr/>
          <p:nvPr/>
        </p:nvSpPr>
        <p:spPr>
          <a:xfrm>
            <a:off x="438912" y="256032"/>
            <a:ext cx="9692640" cy="384048"/>
          </a:xfrm>
          <a:prstGeom prst="rect">
            <a:avLst/>
          </a:prstGeom>
          <a:noFill/>
          <a:ln/>
        </p:spPr>
        <p:txBody>
          <a:bodyPr wrap="square" lIns="0" tIns="0" rIns="0" bIns="0" rtlCol="0" anchor="ctr"/>
          <a:lstStyle/>
          <a:p>
            <a:pPr indent="0" marL="0">
              <a:buNone/>
            </a:pPr>
            <a:r>
              <a:rPr lang="en-US" sz="2500" b="1" dirty="0">
                <a:solidFill>
                  <a:srgbClr val="F7FAFC"/>
                </a:solidFill>
                <a:latin typeface="Aptos Display" pitchFamily="34" charset="0"/>
                <a:ea typeface="Aptos Display" pitchFamily="34" charset="-122"/>
                <a:cs typeface="Aptos Display" pitchFamily="34" charset="-120"/>
              </a:rPr>
              <a:t>Appendix: CPU vs GPU V1 Pseudocode</a:t>
            </a:r>
            <a:endParaRPr lang="en-US" sz="2500" dirty="0"/>
          </a:p>
        </p:txBody>
      </p:sp>
      <p:sp>
        <p:nvSpPr>
          <p:cNvPr id="6" name="Text 4"/>
          <p:cNvSpPr/>
          <p:nvPr/>
        </p:nvSpPr>
        <p:spPr>
          <a:xfrm>
            <a:off x="438912" y="658368"/>
            <a:ext cx="8686800" cy="256032"/>
          </a:xfrm>
          <a:prstGeom prst="rect">
            <a:avLst/>
          </a:prstGeom>
          <a:noFill/>
          <a:ln/>
        </p:spPr>
        <p:txBody>
          <a:bodyPr wrap="square" lIns="0" tIns="0" rIns="0" bIns="0" rtlCol="0" anchor="ctr"/>
          <a:lstStyle/>
          <a:p>
            <a:pPr indent="0" marL="0">
              <a:buNone/>
            </a:pPr>
            <a:r>
              <a:rPr lang="en-US" sz="1050" dirty="0">
                <a:solidFill>
                  <a:srgbClr val="B7C0C9"/>
                </a:solidFill>
              </a:rPr>
              <a:t>Backup slide</a:t>
            </a:r>
            <a:endParaRPr lang="en-US" sz="1050" dirty="0"/>
          </a:p>
        </p:txBody>
      </p:sp>
      <p:sp>
        <p:nvSpPr>
          <p:cNvPr id="7" name="Text 5"/>
          <p:cNvSpPr/>
          <p:nvPr/>
        </p:nvSpPr>
        <p:spPr>
          <a:xfrm>
            <a:off x="9738360" y="6446520"/>
            <a:ext cx="1965960" cy="201168"/>
          </a:xfrm>
          <a:prstGeom prst="rect">
            <a:avLst/>
          </a:prstGeom>
          <a:noFill/>
          <a:ln/>
        </p:spPr>
        <p:txBody>
          <a:bodyPr wrap="square" lIns="0" tIns="0" rIns="0" bIns="0" rtlCol="0" anchor="ctr"/>
          <a:lstStyle/>
          <a:p>
            <a:pPr algn="r" indent="0" marL="0">
              <a:buNone/>
            </a:pPr>
            <a:r>
              <a:rPr lang="en-US" sz="850" dirty="0">
                <a:solidFill>
                  <a:srgbClr val="6B7280"/>
                </a:solidFill>
              </a:rPr>
              <a:t>CUDA NMS · Seminar 2</a:t>
            </a:r>
            <a:endParaRPr lang="en-US" sz="850" dirty="0"/>
          </a:p>
        </p:txBody>
      </p:sp>
      <p:sp>
        <p:nvSpPr>
          <p:cNvPr id="8" name="Shape 6"/>
          <p:cNvSpPr/>
          <p:nvPr/>
        </p:nvSpPr>
        <p:spPr>
          <a:xfrm>
            <a:off x="868680" y="1234440"/>
            <a:ext cx="4846320" cy="4297680"/>
          </a:xfrm>
          <a:prstGeom prst="roundRect">
            <a:avLst>
              <a:gd name="adj" fmla="val 2553"/>
            </a:avLst>
          </a:prstGeom>
          <a:solidFill>
            <a:srgbClr val="16202A"/>
          </a:solidFill>
          <a:ln w="12700">
            <a:solidFill>
              <a:srgbClr val="334155"/>
            </a:solidFill>
            <a:prstDash val="solid"/>
          </a:ln>
        </p:spPr>
      </p:sp>
      <p:sp>
        <p:nvSpPr>
          <p:cNvPr id="9" name="Text 7"/>
          <p:cNvSpPr/>
          <p:nvPr/>
        </p:nvSpPr>
        <p:spPr>
          <a:xfrm>
            <a:off x="978408" y="1344168"/>
            <a:ext cx="4626864" cy="4078224"/>
          </a:xfrm>
          <a:prstGeom prst="rect">
            <a:avLst/>
          </a:prstGeom>
          <a:noFill/>
          <a:ln/>
        </p:spPr>
        <p:txBody>
          <a:bodyPr wrap="square" lIns="254" tIns="254" rIns="254" bIns="254" rtlCol="0" anchor="ctr">
            <a:normAutofit/>
          </a:bodyPr>
          <a:lstStyle/>
          <a:p>
            <a:pPr algn="ctr" indent="0" marL="0">
              <a:buNone/>
            </a:pPr>
            <a:r>
              <a:rPr lang="en-US" sz="1300" dirty="0">
                <a:solidFill>
                  <a:srgbClr val="F7FAFC"/>
                </a:solidFill>
              </a:rPr>
              <a:t>CPU Baseline</a:t>
            </a:r>
            <a:endParaRPr lang="en-US" sz="1300" dirty="0"/>
          </a:p>
          <a:p>
            <a:pPr algn="ctr" indent="0" marL="0">
              <a:buNone/>
            </a:pPr>
            <a:endParaRPr lang="en-US" sz="1300" dirty="0"/>
          </a:p>
          <a:p>
            <a:pPr algn="ctr" indent="0" marL="0">
              <a:buNone/>
            </a:pPr>
            <a:r>
              <a:rPr lang="en-US" sz="1300" dirty="0">
                <a:solidFill>
                  <a:srgbClr val="F7FAFC"/>
                </a:solidFill>
              </a:rPr>
              <a:t>order = argsort(-scores)</a:t>
            </a:r>
            <a:endParaRPr lang="en-US" sz="1300" dirty="0"/>
          </a:p>
          <a:p>
            <a:pPr algn="ctr" indent="0" marL="0">
              <a:buNone/>
            </a:pPr>
            <a:r>
              <a:rPr lang="en-US" sz="1300" dirty="0">
                <a:solidFill>
                  <a:srgbClr val="F7FAFC"/>
                </a:solidFill>
              </a:rPr>
              <a:t>for box in order:</a:t>
            </a:r>
            <a:endParaRPr lang="en-US" sz="1300" dirty="0"/>
          </a:p>
          <a:p>
            <a:pPr algn="ctr" indent="0" marL="0">
              <a:buNone/>
            </a:pPr>
            <a:r>
              <a:rPr lang="en-US" sz="1300" dirty="0">
                <a:solidFill>
                  <a:srgbClr val="F7FAFC"/>
                </a:solidFill>
              </a:rPr>
              <a:t>  compute IoU</a:t>
            </a:r>
            <a:endParaRPr lang="en-US" sz="1300" dirty="0"/>
          </a:p>
          <a:p>
            <a:pPr algn="ctr" indent="0" marL="0">
              <a:buNone/>
            </a:pPr>
            <a:r>
              <a:rPr lang="en-US" sz="1300" dirty="0">
                <a:solidFill>
                  <a:srgbClr val="F7FAFC"/>
                </a:solidFill>
              </a:rPr>
              <a:t>  suppress overlap</a:t>
            </a:r>
            <a:endParaRPr lang="en-US" sz="1300" dirty="0"/>
          </a:p>
          <a:p>
            <a:pPr algn="ctr" indent="0" marL="0">
              <a:buNone/>
            </a:pPr>
            <a:r>
              <a:rPr lang="en-US" sz="1300" dirty="0">
                <a:solidFill>
                  <a:srgbClr val="F7FAFC"/>
                </a:solidFill>
              </a:rPr>
              <a:t>return keep</a:t>
            </a:r>
            <a:endParaRPr lang="en-US" sz="1300" dirty="0"/>
          </a:p>
        </p:txBody>
      </p:sp>
      <p:sp>
        <p:nvSpPr>
          <p:cNvPr id="10" name="Shape 8"/>
          <p:cNvSpPr/>
          <p:nvPr/>
        </p:nvSpPr>
        <p:spPr>
          <a:xfrm>
            <a:off x="6446520" y="1234440"/>
            <a:ext cx="4846320" cy="4297680"/>
          </a:xfrm>
          <a:prstGeom prst="roundRect">
            <a:avLst>
              <a:gd name="adj" fmla="val 2553"/>
            </a:avLst>
          </a:prstGeom>
          <a:solidFill>
            <a:srgbClr val="16202A"/>
          </a:solidFill>
          <a:ln w="12700">
            <a:solidFill>
              <a:srgbClr val="334155"/>
            </a:solidFill>
            <a:prstDash val="solid"/>
          </a:ln>
        </p:spPr>
      </p:sp>
      <p:sp>
        <p:nvSpPr>
          <p:cNvPr id="11" name="Text 9"/>
          <p:cNvSpPr/>
          <p:nvPr/>
        </p:nvSpPr>
        <p:spPr>
          <a:xfrm>
            <a:off x="6556248" y="1344168"/>
            <a:ext cx="4626864" cy="4078224"/>
          </a:xfrm>
          <a:prstGeom prst="rect">
            <a:avLst/>
          </a:prstGeom>
          <a:noFill/>
          <a:ln/>
        </p:spPr>
        <p:txBody>
          <a:bodyPr wrap="square" lIns="254" tIns="254" rIns="254" bIns="254" rtlCol="0" anchor="ctr">
            <a:normAutofit/>
          </a:bodyPr>
          <a:lstStyle/>
          <a:p>
            <a:pPr algn="ctr" indent="0" marL="0">
              <a:buNone/>
            </a:pPr>
            <a:r>
              <a:rPr lang="en-US" sz="1300" dirty="0">
                <a:solidFill>
                  <a:srgbClr val="F7FAFC"/>
                </a:solidFill>
              </a:rPr>
              <a:t>GPU V1</a:t>
            </a:r>
            <a:endParaRPr lang="en-US" sz="1300" dirty="0"/>
          </a:p>
          <a:p>
            <a:pPr algn="ctr" indent="0" marL="0">
              <a:buNone/>
            </a:pPr>
            <a:endParaRPr lang="en-US" sz="1300" dirty="0"/>
          </a:p>
          <a:p>
            <a:pPr algn="ctr" indent="0" marL="0">
              <a:buNone/>
            </a:pPr>
            <a:r>
              <a:rPr lang="en-US" sz="1300" dirty="0">
                <a:solidFill>
                  <a:srgbClr val="F7FAFC"/>
                </a:solidFill>
              </a:rPr>
              <a:t>order = argsort(-scores)</a:t>
            </a:r>
            <a:endParaRPr lang="en-US" sz="1300" dirty="0"/>
          </a:p>
          <a:p>
            <a:pPr algn="ctr" indent="0" marL="0">
              <a:buNone/>
            </a:pPr>
            <a:r>
              <a:rPr lang="en-US" sz="1300" dirty="0">
                <a:solidFill>
                  <a:srgbClr val="F7FAFC"/>
                </a:solidFill>
              </a:rPr>
              <a:t>compute_iou_matrix_gpu()</a:t>
            </a:r>
            <a:endParaRPr lang="en-US" sz="1300" dirty="0"/>
          </a:p>
          <a:p>
            <a:pPr algn="ctr" indent="0" marL="0">
              <a:buNone/>
            </a:pPr>
            <a:r>
              <a:rPr lang="en-US" sz="1300" dirty="0">
                <a:solidFill>
                  <a:srgbClr val="F7FAFC"/>
                </a:solidFill>
              </a:rPr>
              <a:t>for row in matrix:</a:t>
            </a:r>
            <a:endParaRPr lang="en-US" sz="1300" dirty="0"/>
          </a:p>
          <a:p>
            <a:pPr algn="ctr" indent="0" marL="0">
              <a:buNone/>
            </a:pPr>
            <a:r>
              <a:rPr lang="en-US" sz="1300" dirty="0">
                <a:solidFill>
                  <a:srgbClr val="F7FAFC"/>
                </a:solidFill>
              </a:rPr>
              <a:t>  suppress using precomputed IoU</a:t>
            </a:r>
            <a:endParaRPr lang="en-US" sz="1300" dirty="0"/>
          </a:p>
          <a:p>
            <a:pPr algn="ctr" indent="0" marL="0">
              <a:buNone/>
            </a:pPr>
            <a:r>
              <a:rPr lang="en-US" sz="1300" dirty="0">
                <a:solidFill>
                  <a:srgbClr val="F7FAFC"/>
                </a:solidFill>
              </a:rPr>
              <a:t>return keep</a:t>
            </a:r>
            <a:endParaRPr lang="en-US" sz="1300" dirty="0"/>
          </a:p>
        </p:txBody>
      </p:sp>
      <p:sp>
        <p:nvSpPr>
          <p:cNvPr id="13" name="Text 10"/>
          <p:cNvSpPr/>
          <p:nvPr/>
        </p:nvSpPr>
        <p:spPr>
          <a:xfrm>
            <a:off x="11777472"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F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2"/>
          </a:solidFill>
          <a:ln w="12700">
            <a:solidFill>
              <a:srgbClr val="0B0F12">
                <a:alpha val="0"/>
              </a:srgbClr>
            </a:solidFill>
            <a:prstDash val="solid"/>
          </a:ln>
        </p:spPr>
      </p:sp>
      <p:sp>
        <p:nvSpPr>
          <p:cNvPr id="3" name="Shape 1"/>
          <p:cNvSpPr/>
          <p:nvPr/>
        </p:nvSpPr>
        <p:spPr>
          <a:xfrm>
            <a:off x="0" y="0"/>
            <a:ext cx="109728" cy="6858000"/>
          </a:xfrm>
          <a:prstGeom prst="rect">
            <a:avLst/>
          </a:prstGeom>
          <a:solidFill>
            <a:srgbClr val="76B900"/>
          </a:solidFill>
          <a:ln w="12700">
            <a:solidFill>
              <a:srgbClr val="76B900"/>
            </a:solidFill>
            <a:prstDash val="solid"/>
          </a:ln>
        </p:spPr>
      </p:sp>
      <p:sp>
        <p:nvSpPr>
          <p:cNvPr id="4" name="Shape 2"/>
          <p:cNvSpPr/>
          <p:nvPr/>
        </p:nvSpPr>
        <p:spPr>
          <a:xfrm>
            <a:off x="146304" y="0"/>
            <a:ext cx="12045391" cy="73152"/>
          </a:xfrm>
          <a:prstGeom prst="rect">
            <a:avLst/>
          </a:prstGeom>
          <a:solidFill>
            <a:srgbClr val="76B900">
              <a:alpha val="85000"/>
            </a:srgbClr>
          </a:solidFill>
          <a:ln w="12700">
            <a:solidFill>
              <a:srgbClr val="76B900">
                <a:alpha val="0"/>
              </a:srgbClr>
            </a:solidFill>
            <a:prstDash val="solid"/>
          </a:ln>
        </p:spPr>
      </p:sp>
      <p:sp>
        <p:nvSpPr>
          <p:cNvPr id="5" name="Text 3"/>
          <p:cNvSpPr/>
          <p:nvPr/>
        </p:nvSpPr>
        <p:spPr>
          <a:xfrm>
            <a:off x="438912" y="256032"/>
            <a:ext cx="9692640" cy="384048"/>
          </a:xfrm>
          <a:prstGeom prst="rect">
            <a:avLst/>
          </a:prstGeom>
          <a:noFill/>
          <a:ln/>
        </p:spPr>
        <p:txBody>
          <a:bodyPr wrap="square" lIns="0" tIns="0" rIns="0" bIns="0" rtlCol="0" anchor="ctr"/>
          <a:lstStyle/>
          <a:p>
            <a:pPr indent="0" marL="0">
              <a:buNone/>
            </a:pPr>
            <a:r>
              <a:rPr lang="en-US" sz="2500" b="1" dirty="0">
                <a:solidFill>
                  <a:srgbClr val="F7FAFC"/>
                </a:solidFill>
                <a:latin typeface="Aptos Display" pitchFamily="34" charset="0"/>
                <a:ea typeface="Aptos Display" pitchFamily="34" charset="-122"/>
                <a:cs typeface="Aptos Display" pitchFamily="34" charset="-120"/>
              </a:rPr>
              <a:t>References</a:t>
            </a:r>
            <a:endParaRPr lang="en-US" sz="2500" dirty="0"/>
          </a:p>
        </p:txBody>
      </p:sp>
      <p:sp>
        <p:nvSpPr>
          <p:cNvPr id="6" name="Text 4"/>
          <p:cNvSpPr/>
          <p:nvPr/>
        </p:nvSpPr>
        <p:spPr>
          <a:xfrm>
            <a:off x="438912" y="658368"/>
            <a:ext cx="8686800" cy="256032"/>
          </a:xfrm>
          <a:prstGeom prst="rect">
            <a:avLst/>
          </a:prstGeom>
          <a:noFill/>
          <a:ln/>
        </p:spPr>
        <p:txBody>
          <a:bodyPr wrap="square" lIns="0" tIns="0" rIns="0" bIns="0" rtlCol="0" anchor="ctr"/>
          <a:lstStyle/>
          <a:p>
            <a:pPr indent="0" marL="0">
              <a:buNone/>
            </a:pPr>
            <a:r>
              <a:rPr lang="en-US" sz="1050" dirty="0">
                <a:solidFill>
                  <a:srgbClr val="B7C0C9"/>
                </a:solidFill>
              </a:rPr>
              <a:t>Course material and related work</a:t>
            </a:r>
            <a:endParaRPr lang="en-US" sz="1050" dirty="0"/>
          </a:p>
        </p:txBody>
      </p:sp>
      <p:sp>
        <p:nvSpPr>
          <p:cNvPr id="7" name="Text 5"/>
          <p:cNvSpPr/>
          <p:nvPr/>
        </p:nvSpPr>
        <p:spPr>
          <a:xfrm>
            <a:off x="9738360" y="6446520"/>
            <a:ext cx="1965960" cy="201168"/>
          </a:xfrm>
          <a:prstGeom prst="rect">
            <a:avLst/>
          </a:prstGeom>
          <a:noFill/>
          <a:ln/>
        </p:spPr>
        <p:txBody>
          <a:bodyPr wrap="square" lIns="0" tIns="0" rIns="0" bIns="0" rtlCol="0" anchor="ctr"/>
          <a:lstStyle/>
          <a:p>
            <a:pPr algn="r" indent="0" marL="0">
              <a:buNone/>
            </a:pPr>
            <a:r>
              <a:rPr lang="en-US" sz="850" dirty="0">
                <a:solidFill>
                  <a:srgbClr val="6B7280"/>
                </a:solidFill>
              </a:rPr>
              <a:t>CUDA NMS · Seminar 2</a:t>
            </a:r>
            <a:endParaRPr lang="en-US" sz="850" dirty="0"/>
          </a:p>
        </p:txBody>
      </p:sp>
      <p:sp>
        <p:nvSpPr>
          <p:cNvPr id="8" name="Text 6"/>
          <p:cNvSpPr/>
          <p:nvPr/>
        </p:nvSpPr>
        <p:spPr>
          <a:xfrm>
            <a:off x="914400" y="1508760"/>
            <a:ext cx="9966960" cy="2011680"/>
          </a:xfrm>
          <a:prstGeom prst="rect">
            <a:avLst/>
          </a:prstGeom>
          <a:noFill/>
          <a:ln/>
        </p:spPr>
        <p:txBody>
          <a:bodyPr wrap="square" lIns="381" tIns="381" rIns="381" bIns="381" rtlCol="0" anchor="t">
            <a:normAutofit/>
          </a:bodyPr>
          <a:lstStyle/>
          <a:p>
            <a:r>
              <a:rPr lang="en-US" sz="1500" dirty="0">
                <a:solidFill>
                  <a:srgbClr val="F7FAFC"/>
                </a:solidFill>
              </a:rPr>
              <a:t>Applied Parallel Programming — Project Topic Catalog, Track A4: Real-Time Non-Maximum Suppression.</a:t>
            </a:r>
            <a:endParaRPr lang="en-US" sz="1500" dirty="0"/>
          </a:p>
          <a:p>
            <a:r>
              <a:rPr lang="en-US" sz="1500" dirty="0">
                <a:solidFill>
                  <a:srgbClr val="F7FAFC"/>
                </a:solidFill>
              </a:rPr>
              <a:t>Ultralytics YOLOv5 for producing real detection boxes.</a:t>
            </a:r>
            <a:endParaRPr lang="en-US" sz="1500" dirty="0"/>
          </a:p>
          <a:p>
            <a:r>
              <a:rPr lang="en-US" sz="1500" dirty="0">
                <a:solidFill>
                  <a:srgbClr val="F7FAFC"/>
                </a:solidFill>
              </a:rPr>
              <a:t>Numba CUDA documentation for custom Python CUDA kernels.</a:t>
            </a:r>
            <a:endParaRPr lang="en-US" sz="1500" dirty="0"/>
          </a:p>
          <a:p>
            <a:r>
              <a:rPr lang="en-US" sz="1500" dirty="0">
                <a:solidFill>
                  <a:srgbClr val="F7FAFC"/>
                </a:solidFill>
              </a:rPr>
              <a:t>Soft-NMS and Matrix NMS as future algorithmic directions.</a:t>
            </a:r>
            <a:endParaRPr lang="en-US" sz="1500" dirty="0"/>
          </a:p>
        </p:txBody>
      </p:sp>
      <p:sp>
        <p:nvSpPr>
          <p:cNvPr id="9" name="Shape 7"/>
          <p:cNvSpPr/>
          <p:nvPr/>
        </p:nvSpPr>
        <p:spPr>
          <a:xfrm>
            <a:off x="4800600" y="4892040"/>
            <a:ext cx="2468880" cy="347472"/>
          </a:xfrm>
          <a:prstGeom prst="roundRect">
            <a:avLst>
              <a:gd name="adj" fmla="val 21053"/>
            </a:avLst>
          </a:prstGeom>
          <a:solidFill>
            <a:srgbClr val="76B900">
              <a:alpha val="92000"/>
            </a:srgbClr>
          </a:solidFill>
          <a:ln w="12700">
            <a:solidFill>
              <a:srgbClr val="76B900">
                <a:alpha val="80000"/>
              </a:srgbClr>
            </a:solidFill>
            <a:prstDash val="solid"/>
          </a:ln>
        </p:spPr>
      </p:sp>
      <p:sp>
        <p:nvSpPr>
          <p:cNvPr id="10" name="Text 8"/>
          <p:cNvSpPr/>
          <p:nvPr/>
        </p:nvSpPr>
        <p:spPr>
          <a:xfrm>
            <a:off x="4892040" y="4978908"/>
            <a:ext cx="2286000" cy="155448"/>
          </a:xfrm>
          <a:prstGeom prst="rect">
            <a:avLst/>
          </a:prstGeom>
          <a:noFill/>
          <a:ln/>
        </p:spPr>
        <p:txBody>
          <a:bodyPr wrap="square" lIns="0" tIns="0" rIns="0" bIns="0" rtlCol="0" anchor="ctr"/>
          <a:lstStyle/>
          <a:p>
            <a:pPr algn="ctr" indent="0" marL="0">
              <a:buNone/>
            </a:pPr>
            <a:r>
              <a:rPr lang="en-US" sz="1050" b="1" dirty="0">
                <a:solidFill>
                  <a:srgbClr val="F7FAFC"/>
                </a:solidFill>
              </a:rPr>
              <a:t>Thank you</a:t>
            </a:r>
            <a:endParaRPr lang="en-US" sz="1050" dirty="0"/>
          </a:p>
        </p:txBody>
      </p:sp>
      <p:sp>
        <p:nvSpPr>
          <p:cNvPr id="12" name="Text 9"/>
          <p:cNvSpPr/>
          <p:nvPr/>
        </p:nvSpPr>
        <p:spPr>
          <a:xfrm>
            <a:off x="11777472"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rPr>
              <a:t>21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HCMUS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CUDA Accelerated Non-Maximum Suppression using Numba</dc:title>
  <dc:subject>Applied Parallel Programming Seminar 2</dc:subject>
  <dc:creator>OpenAI</dc:creator>
  <cp:lastModifiedBy>OpenAI</cp:lastModifiedBy>
  <cp:revision>1</cp:revision>
  <dcterms:created xsi:type="dcterms:W3CDTF">2026-07-30T20:14:00Z</dcterms:created>
  <dcterms:modified xsi:type="dcterms:W3CDTF">2026-07-30T20:14:00Z</dcterms:modified>
</cp:coreProperties>
</file>