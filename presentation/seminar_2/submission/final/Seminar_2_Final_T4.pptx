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405c07af143e3" /><Relationship Type="http://schemas.openxmlformats.org/officeDocument/2006/relationships/extended-properties" Target="/docProps/app.xml" Id="R2c121129cdb944a8" /><Relationship Type="http://schemas.openxmlformats.org/officeDocument/2006/relationships/officeDocument" Target="/ppt/presentation.xml" Id="Ra999752be9c0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439deb9ea4c4a"/>
  </p:sldMasterIdLst>
  <p:notesMasterIdLst>
    <p:notesMasterId xmlns:r="http://schemas.openxmlformats.org/officeDocument/2006/relationships" r:id="Reff8a8afbf334efe"/>
  </p:notesMasterIdLst>
  <p:sldIdLst>
    <p:sldId xmlns:r="http://schemas.openxmlformats.org/officeDocument/2006/relationships" id="256" r:id="R70cf1d2e538e4b9d"/>
    <p:sldId xmlns:r="http://schemas.openxmlformats.org/officeDocument/2006/relationships" id="257" r:id="Rb1495c8e5f344de3"/>
    <p:sldId xmlns:r="http://schemas.openxmlformats.org/officeDocument/2006/relationships" id="258" r:id="R25fe1bbe456948ec"/>
    <p:sldId xmlns:r="http://schemas.openxmlformats.org/officeDocument/2006/relationships" id="259" r:id="Rfd687707019f4653"/>
    <p:sldId xmlns:r="http://schemas.openxmlformats.org/officeDocument/2006/relationships" id="260" r:id="Rb5db6c76f71e49fc"/>
    <p:sldId xmlns:r="http://schemas.openxmlformats.org/officeDocument/2006/relationships" id="261" r:id="Rf4c93db22bb84d13"/>
    <p:sldId xmlns:r="http://schemas.openxmlformats.org/officeDocument/2006/relationships" id="262" r:id="Re49c5c0fcbe54ec4"/>
    <p:sldId xmlns:r="http://schemas.openxmlformats.org/officeDocument/2006/relationships" id="263" r:id="R6a9b497fbeb9403f"/>
    <p:sldId xmlns:r="http://schemas.openxmlformats.org/officeDocument/2006/relationships" id="264" r:id="R65216f9ec4c242a7"/>
    <p:sldId xmlns:r="http://schemas.openxmlformats.org/officeDocument/2006/relationships" id="265" r:id="R4de6723316d0479a"/>
    <p:sldId xmlns:r="http://schemas.openxmlformats.org/officeDocument/2006/relationships" id="266" r:id="R46ac996a5b064685"/>
    <p:sldId xmlns:r="http://schemas.openxmlformats.org/officeDocument/2006/relationships" id="267" r:id="R4f9ceedb04c14d31"/>
    <p:sldId xmlns:r="http://schemas.openxmlformats.org/officeDocument/2006/relationships" id="268" r:id="R060d8280656a407e"/>
    <p:sldId xmlns:r="http://schemas.openxmlformats.org/officeDocument/2006/relationships" id="269" r:id="R6888b9ae538d4479"/>
    <p:sldId xmlns:r="http://schemas.openxmlformats.org/officeDocument/2006/relationships" id="270" r:id="R4f6190b6b74d4ea2"/>
    <p:sldId xmlns:r="http://schemas.openxmlformats.org/officeDocument/2006/relationships" id="271" r:id="Rfe9742f1dbe34c54"/>
    <p:sldId xmlns:r="http://schemas.openxmlformats.org/officeDocument/2006/relationships" id="272" r:id="R5c57978639f04790"/>
    <p:sldId xmlns:r="http://schemas.openxmlformats.org/officeDocument/2006/relationships" id="273" r:id="Ra763f22a753f4c15"/>
    <p:sldId xmlns:r="http://schemas.openxmlformats.org/officeDocument/2006/relationships" id="274" r:id="R9feae247b9f44eec"/>
    <p:sldId xmlns:r="http://schemas.openxmlformats.org/officeDocument/2006/relationships" id="275" r:id="R26ec7fc3880949b6"/>
    <p:sldId xmlns:r="http://schemas.openxmlformats.org/officeDocument/2006/relationships" id="276" r:id="R69d27b7bef6a41ef"/>
    <p:sldId xmlns:r="http://schemas.openxmlformats.org/officeDocument/2006/relationships" id="277" r:id="R13e9cbf65e48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4f11123e44413" /><Relationship Type="http://schemas.openxmlformats.org/officeDocument/2006/relationships/slideMaster" Target="/ppt/slideMasters/slideMaster1.xml" Id="Ra61439deb9ea4c4a" /><Relationship Type="http://schemas.openxmlformats.org/officeDocument/2006/relationships/notesMaster" Target="/ppt/notesMasters/notesMaster1.xml" Id="Reff8a8afbf334efe" /><Relationship Type="http://schemas.openxmlformats.org/officeDocument/2006/relationships/presProps" Target="/ppt/presProps.xml" Id="R4353b05c23bc499a" /><Relationship Type="http://schemas.openxmlformats.org/officeDocument/2006/relationships/viewProps" Target="/ppt/viewProps.xml" Id="R10cc568eabf84a13" /><Relationship Type="http://schemas.openxmlformats.org/officeDocument/2006/relationships/tableStyles" Target="/ppt/tableStyles.xml" Id="R72edd21a5b2840c1" /><Relationship Type="http://schemas.openxmlformats.org/officeDocument/2006/relationships/slide" Target="/ppt/slides/slide1.xml" Id="R70cf1d2e538e4b9d" /><Relationship Type="http://schemas.openxmlformats.org/officeDocument/2006/relationships/slide" Target="/ppt/slides/slide2.xml" Id="Rb1495c8e5f344de3" /><Relationship Type="http://schemas.openxmlformats.org/officeDocument/2006/relationships/slide" Target="/ppt/slides/slide3.xml" Id="R25fe1bbe456948ec" /><Relationship Type="http://schemas.openxmlformats.org/officeDocument/2006/relationships/slide" Target="/ppt/slides/slide4.xml" Id="Rfd687707019f4653" /><Relationship Type="http://schemas.openxmlformats.org/officeDocument/2006/relationships/slide" Target="/ppt/slides/slide5.xml" Id="Rb5db6c76f71e49fc" /><Relationship Type="http://schemas.openxmlformats.org/officeDocument/2006/relationships/slide" Target="/ppt/slides/slide6.xml" Id="Rf4c93db22bb84d13" /><Relationship Type="http://schemas.openxmlformats.org/officeDocument/2006/relationships/slide" Target="/ppt/slides/slide7.xml" Id="Re49c5c0fcbe54ec4" /><Relationship Type="http://schemas.openxmlformats.org/officeDocument/2006/relationships/slide" Target="/ppt/slides/slide8.xml" Id="R6a9b497fbeb9403f" /><Relationship Type="http://schemas.openxmlformats.org/officeDocument/2006/relationships/slide" Target="/ppt/slides/slide9.xml" Id="R65216f9ec4c242a7" /><Relationship Type="http://schemas.openxmlformats.org/officeDocument/2006/relationships/slide" Target="/ppt/slides/slide10.xml" Id="R4de6723316d0479a" /><Relationship Type="http://schemas.openxmlformats.org/officeDocument/2006/relationships/slide" Target="/ppt/slides/slide11.xml" Id="R46ac996a5b064685" /><Relationship Type="http://schemas.openxmlformats.org/officeDocument/2006/relationships/slide" Target="/ppt/slides/slide12.xml" Id="R4f9ceedb04c14d31" /><Relationship Type="http://schemas.openxmlformats.org/officeDocument/2006/relationships/slide" Target="/ppt/slides/slide13.xml" Id="R060d8280656a407e" /><Relationship Type="http://schemas.openxmlformats.org/officeDocument/2006/relationships/slide" Target="/ppt/slides/slide14.xml" Id="R6888b9ae538d4479" /><Relationship Type="http://schemas.openxmlformats.org/officeDocument/2006/relationships/slide" Target="/ppt/slides/slide15.xml" Id="R4f6190b6b74d4ea2" /><Relationship Type="http://schemas.openxmlformats.org/officeDocument/2006/relationships/slide" Target="/ppt/slides/slide16.xml" Id="Rfe9742f1dbe34c54" /><Relationship Type="http://schemas.openxmlformats.org/officeDocument/2006/relationships/slide" Target="/ppt/slides/slide17.xml" Id="R5c57978639f04790" /><Relationship Type="http://schemas.openxmlformats.org/officeDocument/2006/relationships/slide" Target="/ppt/slides/slide18.xml" Id="Ra763f22a753f4c15" /><Relationship Type="http://schemas.openxmlformats.org/officeDocument/2006/relationships/slide" Target="/ppt/slides/slide19.xml" Id="R9feae247b9f44eec" /><Relationship Type="http://schemas.openxmlformats.org/officeDocument/2006/relationships/slide" Target="/ppt/slides/slide20.xml" Id="R26ec7fc3880949b6" /><Relationship Type="http://schemas.openxmlformats.org/officeDocument/2006/relationships/slide" Target="/ppt/slides/slide21.xml" Id="R69d27b7bef6a41ef" /><Relationship Type="http://schemas.openxmlformats.org/officeDocument/2006/relationships/slide" Target="/ppt/slides/slide22.xml" Id="R13e9cbf65e48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bfdfd9c41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9f63da48d4fc0" /><Relationship Type="http://schemas.openxmlformats.org/officeDocument/2006/relationships/notesMaster" Target="/ppt/notesMasters/notesMaster1.xml" Id="R5c715c37681d41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460b17cea14887" /><Relationship Type="http://schemas.openxmlformats.org/officeDocument/2006/relationships/notesMaster" Target="/ppt/notesMasters/notesMaster1.xml" Id="R2e9fa28d92ce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8e351dabf44688" /><Relationship Type="http://schemas.openxmlformats.org/officeDocument/2006/relationships/notesMaster" Target="/ppt/notesMasters/notesMaster1.xml" Id="Rd3e70218c7d940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8ae9a449004e85" /><Relationship Type="http://schemas.openxmlformats.org/officeDocument/2006/relationships/notesMaster" Target="/ppt/notesMasters/notesMaster1.xml" Id="Ra1860356099745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b38d22c0e4738" /><Relationship Type="http://schemas.openxmlformats.org/officeDocument/2006/relationships/notesMaster" Target="/ppt/notesMasters/notesMaster1.xml" Id="R459bbd99ff18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38e5f68dc41eb" /><Relationship Type="http://schemas.openxmlformats.org/officeDocument/2006/relationships/notesMaster" Target="/ppt/notesMasters/notesMaster1.xml" Id="R720cca3b51f8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998c1f9a94b05" /><Relationship Type="http://schemas.openxmlformats.org/officeDocument/2006/relationships/notesMaster" Target="/ppt/notesMasters/notesMaster1.xml" Id="Rfeeadf2d2ec842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cdc7f2674d4429" /><Relationship Type="http://schemas.openxmlformats.org/officeDocument/2006/relationships/notesMaster" Target="/ppt/notesMasters/notesMaster1.xml" Id="R117833550b6248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73df570403460e" /><Relationship Type="http://schemas.openxmlformats.org/officeDocument/2006/relationships/notesMaster" Target="/ppt/notesMasters/notesMaster1.xml" Id="Rdc0f9708dcab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778a9904104197" /><Relationship Type="http://schemas.openxmlformats.org/officeDocument/2006/relationships/notesMaster" Target="/ppt/notesMasters/notesMaster1.xml" Id="R4b66598a33e347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f56a6de05b468c" /><Relationship Type="http://schemas.openxmlformats.org/officeDocument/2006/relationships/notesMaster" Target="/ppt/notesMasters/notesMaster1.xml" Id="R0ac96881f53048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9c26df21354a78" /><Relationship Type="http://schemas.openxmlformats.org/officeDocument/2006/relationships/notesMaster" Target="/ppt/notesMasters/notesMaster1.xml" Id="Rfd1ad6d46c2e40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876ce841694015" /><Relationship Type="http://schemas.openxmlformats.org/officeDocument/2006/relationships/notesMaster" Target="/ppt/notesMasters/notesMaster1.xml" Id="Re76282ea7c9c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90fe5837ee4140" /><Relationship Type="http://schemas.openxmlformats.org/officeDocument/2006/relationships/notesMaster" Target="/ppt/notesMasters/notesMaster1.xml" Id="Ref910b1e803a4b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5c359a0d3240f3" /><Relationship Type="http://schemas.openxmlformats.org/officeDocument/2006/relationships/notesMaster" Target="/ppt/notesMasters/notesMaster1.xml" Id="R18acf328a00c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ae54a448ea4e3a" /><Relationship Type="http://schemas.openxmlformats.org/officeDocument/2006/relationships/notesMaster" Target="/ppt/notesMasters/notesMaster1.xml" Id="R5273059c26e441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8d295747364653" /><Relationship Type="http://schemas.openxmlformats.org/officeDocument/2006/relationships/notesMaster" Target="/ppt/notesMasters/notesMaster1.xml" Id="R4b368ac0b7e14a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9ec5ae3ecf4fa6" /><Relationship Type="http://schemas.openxmlformats.org/officeDocument/2006/relationships/notesMaster" Target="/ppt/notesMasters/notesMaster1.xml" Id="R4e09515b35ba41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36d2a70b194f2e" /><Relationship Type="http://schemas.openxmlformats.org/officeDocument/2006/relationships/notesMaster" Target="/ppt/notesMasters/notesMaster1.xml" Id="R634668478c5446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e82353de4b4b3c" /><Relationship Type="http://schemas.openxmlformats.org/officeDocument/2006/relationships/notesMaster" Target="/ppt/notesMasters/notesMaster1.xml" Id="Reffd52b597de40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ea3b86e0ed4c17" /><Relationship Type="http://schemas.openxmlformats.org/officeDocument/2006/relationships/notesMaster" Target="/ppt/notesMasters/notesMaster1.xml" Id="Rc1c4507e45e248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ccf434a1d74a2d" /><Relationship Type="http://schemas.openxmlformats.org/officeDocument/2006/relationships/notesMaster" Target="/ppt/notesMasters/notesMaster1.xml" Id="R42091ea1c9ca4c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final implementation scope: CPU baseline plus three CUDA versions.</a:t>
            </a:r>
          </a:p>
          <a:p xmlns:a="http://schemas.openxmlformats.org/drawingml/2006/main">
            <a:r>
              <a:t>V1 and V2 preserve greedy hard-NMS semantics. V3 implements Matrix NMS with different output semantics.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did not stop at V1. The implemented progression is CPU, V1, V2, and V3.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Detector outputs can contain many overlapping boxes; NMS keeps high-confidence detections while removing redundant overlaps.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  <a:p xmlns:a="http://schemas.openxmlformats.org/drawingml/2006/main">
            <a:r>
              <a:t>presentation/seminar_2/OUTLINE_AND_CONTENT.md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supports both single-image and batched input. The batch dimension is mapped to grid.z.</a:t>
            </a:r>
          </a:p>
          <a:p xmlns:a="http://schemas.openxmlformats.org/drawingml/2006/main">
            <a:r>
              <a:t>V3 is Matrix NMS and must not be described as matching torchvision hard NMS.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presentation/seminar_2/evidence/pytest_t4_final.txt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Greedy NMS sorts by confidence, keeps the highest-scoring unsuppressed box, then suppresses lower-scoring boxes above the IoU threshold.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CPU implementation is the exact output reference for V1 and V2 only.</a:t>
            </a:r>
          </a:p>
          <a:p xmlns:a="http://schemas.openxmlformats.org/drawingml/2006/main">
            <a:r>
              <a:t>V3 changes the algorithm and is tested against matrix_nms_reference().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tests/test_correctness.py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local profile identifies pairwise IoU as a meaningful optimization target; it is not the Tesla T4 benchmark.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presentation/seminar_2/cprofile_N10000_local.txt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precomputes every IoU value and keeps greedy resolution on CPU.</a:t>
            </a:r>
          </a:p>
          <a:p xmlns:a="http://schemas.openxmlformats.org/drawingml/2006/main">
            <a:r>
              <a:t>V2 computes packed suppression masks on GPU, including a real batch dimension, then resolves greedy selection on CPU.</a:t>
            </a:r>
          </a:p>
          <a:p xmlns:a="http://schemas.openxmlformats.org/drawingml/2006/main">
            <a:r>
              <a:t>V3 changes the algorithm to Matrix NMS so score decay can run in parallel.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sorts boxes on CPU, computes the complete IoU matrix on GPU, copies that matrix to host memory, then performs vectorized greedy suppression on CPU.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V2 mask kernel launches grid (anchor_words, target_words, batch_size) with 64 threads per block.</a:t>
            </a:r>
          </a:p>
          <a:p xmlns:a="http://schemas.openxmlformats.org/drawingml/2006/main">
            <a:r>
              <a:t>Each thread handles one anchor and builds one 64-bit mask word against a shared-memory target tile.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Kernel 1 computes the maximum IoU with higher-scoring boxes using a shared-memory reduction.</a:t>
            </a:r>
          </a:p>
          <a:p xmlns:a="http://schemas.openxmlformats.org/drawingml/2006/main">
            <a:r>
              <a:t>Kernel 2 applies the strictest linear or Gaussian decay, then the host thresholds final scores.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tests/test_correctness.py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reduces the transfer representation by packing 64 suppression relations into each uint64 word.</a:t>
            </a:r>
          </a:p>
          <a:p xmlns:a="http://schemas.openxmlformats.org/drawingml/2006/main">
            <a:r>
              <a:t>V3 copies only final scores back, but this is possible because it implements Matrix NMS rather than greedy hard NMS.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Correctness gate: all 50 CUDA tests passed on Tesla T4.</a:t>
            </a:r>
          </a:p>
          <a:p xmlns:a="http://schemas.openxmlformats.org/drawingml/2006/main">
            <a:r>
              <a:t>V1 and V2 are checked against the greedy CPU baseline and torchvision NMS.</a:t>
            </a:r>
          </a:p>
          <a:p xmlns:a="http://schemas.openxmlformats.org/drawingml/2006/main">
            <a:r>
              <a:t>V3 is checked against a Matrix-NMS CPU oracle. Do not claim that V3 matches greedy hard NMS.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presentation/seminar_2/evidence/pytest_t4_final.txt</a:t>
            </a:r>
          </a:p>
          <a:p xmlns:a="http://schemas.openxmlformats.org/drawingml/2006/main">
            <a:r>
              <a:t>presentation/seminar_2/evidence/benchmark_t4_single.json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Single-image results use two warmups and seven measured repeats.</a:t>
            </a:r>
          </a:p>
          <a:p xmlns:a="http://schemas.openxmlformats.org/drawingml/2006/main">
            <a:r>
              <a:t>Batch-32 timing is end to end: host sort, transfer, GPU mask kernel, mask download, and CPU greedy resolution.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table by input size. At N=100, launch and transfer overheads dominate.</a:t>
            </a:r>
          </a:p>
          <a:p xmlns:a="http://schemas.openxmlformats.org/drawingml/2006/main">
            <a:r>
              <a:t>At N=10,000, V1 is about 5.0× faster than CPU and V2 is 35.6× faster.</a:t>
            </a:r>
          </a:p>
          <a:p xmlns:a="http://schemas.openxmlformats.org/drawingml/2006/main">
            <a:r>
              <a:t>V3 reaches 4.092 ms, but it changes the algorithm to Matrix NMS; report this only as a speed/semantics trade-off.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automated batch correctness test uses B=32 and N=50, deliberately exercising the partially filled final 64-thread block.</a:t>
            </a:r>
          </a:p>
          <a:p xmlns:a="http://schemas.openxmlformats.org/drawingml/2006/main">
            <a:r>
              <a:t>The latency benchmark uses B=32 and N=10,000. Timing covers host sorting, transfers, the GPU mask kernel, mask download, and host greedy mask resolution.</a:t>
            </a:r>
          </a:p>
          <a:p xmlns:a="http://schemas.openxmlformats.org/drawingml/2006/main">
            <a:r>
              <a:t>The median is 1.002 seconds per batch, far above the catalog target of under 5 ms per batch.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presentation/seminar_2/evidence/batch32_t4.json</a:t>
            </a:r>
          </a:p>
          <a:p xmlns:a="http://schemas.openxmlformats.org/drawingml/2006/main">
            <a:r>
              <a:t>presentation/seminar_2/evidence/pytest_t4_final.txt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N=10,000, V2 is the strongest measured implementation that preserves greedy hard-NMS semantics.</a:t>
            </a:r>
          </a:p>
          <a:p xmlns:a="http://schemas.openxmlformats.org/drawingml/2006/main">
            <a:r>
              <a:t>V3 is faster, but it implements Matrix NMS and must be interpreted as a different speed/quality trade-off.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is simple and correct, but its N-by-N IoU matrix creates an O(N²) transfer.</a:t>
            </a:r>
          </a:p>
          <a:p xmlns:a="http://schemas.openxmlformats.org/drawingml/2006/main">
            <a:r>
              <a:t>V2 compresses the suppression relation into packed uint64 masks, yet the final greedy selection loop is still on the host.</a:t>
            </a:r>
          </a:p>
          <a:p xmlns:a="http://schemas.openxmlformats.org/drawingml/2006/main">
            <a:r>
              <a:t>V3 is parallel Matrix NMS. Its 4.092 ms result must not be used to claim greedy-NMS equivalence.</a:t>
            </a:r>
          </a:p>
          <a:p xmlns:a="http://schemas.openxmlformats.org/drawingml/2006/main">
            <a:r>
              <a:t>Conclusion: the single-image V2 speedup target is achieved; the batch-32 latency target is not.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distinction between achieved single-image speedup and the unmet batch target.</a:t>
            </a:r>
          </a:p>
          <a:p xmlns:a="http://schemas.openxmlformats.org/drawingml/2006/main">
            <a:r>
              <a:t>Tuấn: CPU baseline, tests, and repository. Tân: GPU V1/V2/V3 and benchmarking.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presentation/seminar_2/SLIDE_UPDATE_PLAN.md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confuse a 64-bit mask word with batch size 32. They are independent concepts.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backup explanation for why V3 cannot be compared to torchvision by exact kept indices.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tests/test_correctness.py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briefly and invite questions.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presentation/seminar_2/OUTLINE_AND_CONTENT.md</a:t>
            </a:r>
          </a:p>
          <a:p xmlns:a="http://schemas.openxmlformats.org/drawingml/2006/main">
            <a:r>
              <a:t>presentation/seminar_2/SCRIPT.md</a:t>
            </a:r>
          </a:p>
          <a:p xmlns:a="http://schemas.openxmlformats.org/drawingml/2006/main">
            <a:r>
              <a:t>presentation/seminar_2/evidence/pytest_t4_final.txt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c6a7ad3414f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58fbbfce3a406c" /><Relationship Type="http://schemas.openxmlformats.org/officeDocument/2006/relationships/slideLayout" Target="/ppt/slideLayouts/slideLayout1.xml" Id="R6687faf85a8445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7faf85a84459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e8f10c69f4fa9" /><Relationship Type="http://schemas.openxmlformats.org/officeDocument/2006/relationships/notesSlide" Target="/ppt/notesSlides/notesSlide1.xml" Id="R8b56771abd1c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f96cb184b48a6" /><Relationship Type="http://schemas.openxmlformats.org/officeDocument/2006/relationships/notesSlide" Target="/ppt/notesSlides/notesSlide2.xml" Id="Ra06ffc8f8adc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3e003dbde4146" /><Relationship Type="http://schemas.openxmlformats.org/officeDocument/2006/relationships/notesSlide" Target="/ppt/notesSlides/notesSlide3.xml" Id="R81fd04477e72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8d539e14c4ad4" /><Relationship Type="http://schemas.openxmlformats.org/officeDocument/2006/relationships/notesSlide" Target="/ppt/notesSlides/notesSlide4.xml" Id="R8c208f9ae524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7480de1d14cd8" /><Relationship Type="http://schemas.openxmlformats.org/officeDocument/2006/relationships/notesSlide" Target="/ppt/notesSlides/notesSlide5.xml" Id="R21dedfe1c59f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0fd45a47342b9" /><Relationship Type="http://schemas.openxmlformats.org/officeDocument/2006/relationships/notesSlide" Target="/ppt/notesSlides/notesSlide6.xml" Id="R62bd4e754bdb4b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2181c5cfc4e13" /><Relationship Type="http://schemas.openxmlformats.org/officeDocument/2006/relationships/notesSlide" Target="/ppt/notesSlides/notesSlide7.xml" Id="Rc39754dc738048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0e590949e44a2" /><Relationship Type="http://schemas.openxmlformats.org/officeDocument/2006/relationships/notesSlide" Target="/ppt/notesSlides/notesSlide8.xml" Id="Rbbb96eb51b1e46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ad8eb9974014" /><Relationship Type="http://schemas.openxmlformats.org/officeDocument/2006/relationships/notesSlide" Target="/ppt/notesSlides/notesSlide9.xml" Id="Ref2cd5cf501745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2360e90d04d67" /><Relationship Type="http://schemas.openxmlformats.org/officeDocument/2006/relationships/notesSlide" Target="/ppt/notesSlides/notesSlide10.xml" Id="Rf74cb8e9f46b4d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d95cb7a69432c" /><Relationship Type="http://schemas.openxmlformats.org/officeDocument/2006/relationships/notesSlide" Target="/ppt/notesSlides/notesSlide11.xml" Id="R0b01a0cdf25e4f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290f8479245f6" /><Relationship Type="http://schemas.openxmlformats.org/officeDocument/2006/relationships/notesSlide" Target="/ppt/notesSlides/notesSlide12.xml" Id="R3b8e96a8f6e349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4cd74fed2444d" /><Relationship Type="http://schemas.openxmlformats.org/officeDocument/2006/relationships/notesSlide" Target="/ppt/notesSlides/notesSlide13.xml" Id="Rcb3f86e19e474f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e5d5d59214f20" /><Relationship Type="http://schemas.openxmlformats.org/officeDocument/2006/relationships/notesSlide" Target="/ppt/notesSlides/notesSlide14.xml" Id="R47056c36950f4a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395c81e4b4f50" /><Relationship Type="http://schemas.openxmlformats.org/officeDocument/2006/relationships/notesSlide" Target="/ppt/notesSlides/notesSlide15.xml" Id="R56cbe76fa88245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14cfce5174632" /><Relationship Type="http://schemas.openxmlformats.org/officeDocument/2006/relationships/notesSlide" Target="/ppt/notesSlides/notesSlide16.xml" Id="Rf97b77078d5e4f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4841411e04015" /><Relationship Type="http://schemas.openxmlformats.org/officeDocument/2006/relationships/notesSlide" Target="/ppt/notesSlides/notesSlide17.xml" Id="R5338e400a95f44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c6edcd8a4bf2" /><Relationship Type="http://schemas.openxmlformats.org/officeDocument/2006/relationships/notesSlide" Target="/ppt/notesSlides/notesSlide18.xml" Id="R78112c501ad940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2329eda234184" /><Relationship Type="http://schemas.openxmlformats.org/officeDocument/2006/relationships/notesSlide" Target="/ppt/notesSlides/notesSlide19.xml" Id="R5257dee85f124d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c108b3c544de9" /><Relationship Type="http://schemas.openxmlformats.org/officeDocument/2006/relationships/notesSlide" Target="/ppt/notesSlides/notesSlide20.xml" Id="R1c32fdbedfb14e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3971588224f2c" /><Relationship Type="http://schemas.openxmlformats.org/officeDocument/2006/relationships/notesSlide" Target="/ppt/notesSlides/notesSlide21.xml" Id="R96e0adb50bf14d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04d17bd944a58" /><Relationship Type="http://schemas.openxmlformats.org/officeDocument/2006/relationships/notesSlide" Target="/ppt/notesSlides/notesSlide22.xml" Id="Rfea8fb81880b4d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D20E82-C5EA-4D87-ADDB-24A7BAB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4DA180-1E07-4D30-A0DD-105412C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75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2D9F85-7802-455A-8E3E-1203F959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72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54B254D-C399-4D00-8D88-CE10BC7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9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7D5CE7-1093-4E4E-8C2B-68AC4473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DE9FF6-E2A5-4C7A-BECF-91301D25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7E25230-573F-45FA-8DD4-9D548018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72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B4F79B-EDF6-4E26-A40E-8A6C3BD5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9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3CBB0C-2BDF-40E5-AEB5-3E890573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7F3C3D-977D-41BB-994B-9FAAF861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FDE3272-E81B-4E7A-8CFA-ED0B06DD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F8CB6D-3CC9-427F-ABCF-EE182D2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9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6A72E28-0A33-4D39-AB77-0E9533F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B6D7347-74D7-48BA-ADE4-5D26C3F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C11C89-02F4-43BB-92D5-9FD8C468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AB163C6-C05D-4000-80DA-5002A37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4480C4-029E-48D9-AA34-1FADA45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D2BBED3-1613-4085-8B54-6F9B2F5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2EB02E-3BC1-4F43-9935-E31DBC03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02A6018-54AA-41BE-96F5-977FC4EF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37F9ABE-5F46-4327-9834-D3A0D224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434E17A-ED3F-42E9-8CAA-BC080549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71C9176-8023-4C8F-B0CB-E1F31356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211C770-9315-4C43-9383-61354C5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287FE35-7798-4711-8C9B-CD493B27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76CF989-C1ED-48DA-9988-0EDB069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A4ADE9D-84E4-483E-8345-08B046C6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C86923-DCE7-4C0B-92A6-30394D69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D957F03-D496-43FB-BC95-262F8182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41015F8-7163-47F7-91B6-CB616CD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964FE24-A054-4AE3-A993-8E5D050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8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C83BF9B-2299-4033-B03D-18A5655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EE25F7D-1666-473D-BEB2-1EF109A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8AA0729-0838-4C16-8D2C-51CFBA3F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CF0EB7D-50D4-44E3-BF94-536B77D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8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48EA867-7EE8-4071-BEBA-2D268BF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5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2558D31-0C6E-4AF7-B98A-026DAD5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32798D8-D74E-4DF5-A0FB-EF0F5354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A3F1305-DF87-4600-BE3F-85B6C747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8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EF52C5F-82A4-4AF6-B3F0-7F5D52E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5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8001E8E-11A7-4C00-AB66-BC260B6B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2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A02DA7CF-D2D1-49DB-826E-CAF876B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B3E6117-E31C-4CA9-94B5-EC2B9A3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6B900"/>
                </a:solidFill>
              </a:rPr>
              <a:t>Seminar 2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9265511-E6A1-410C-8BD1-BF163239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36192"/>
            <a:ext cx="576072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CUDA Accelerated NMS</a:t>
            </a:r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V1 · V2 · V3 with Numba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FAA7813-28E7-4310-B8E2-730BF50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06324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7C0C9"/>
                </a:solidFill>
              </a:rPr>
              <a:t>Greedy hard-NMS, batched bitmasks, and Matrix NMS on Tesla T4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18AD3F0C-B326-4078-83B0-233F8458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703320"/>
            <a:ext cx="3977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35CF77B-D35B-466F-92C4-E55122D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7764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7FAFC"/>
                </a:solidFill>
              </a:rPr>
              <a:t>Team: Tuấn · Tân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7FAFC"/>
                </a:solidFill>
              </a:rPr>
              <a:t>Course: Applied Parallel Programming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1A162B3E-D46A-4010-9DC9-13EBDCB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15968"/>
            <a:ext cx="50292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649F56DA-D3A4-4278-AB89-D93B5073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3712"/>
            <a:ext cx="4617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→ V1 full IoU → V2 packed mask → V3 Matrix NMS → T4 evidence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341E5C48-33B5-4B51-B1FC-3C6C0EF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6942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27DAAC-68E8-47D6-914E-7A737B3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AD0C8FC-7FCF-48C2-A059-B2BA8F5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777498-7CB3-4897-8FD0-B497EE1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E28B1E-13ED-45C1-8194-EFFFF54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What We Actually Implemented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02820C-B93F-425E-A2FE-24D6CEA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From a greedy CPU reference to three CUDA designs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D79853-3F43-4126-A9B3-D82D032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C4E5C4D-38C5-4485-9A07-D112F703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29557D-A514-4906-9035-E2C5F28C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5C50235-4A23-4C79-9659-E8FD19AB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Problem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568F85D-11AC-43E1-8129-5F41D2B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NMS post-processing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AE1BB01-133F-4BCB-9E13-D9E09E9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E415D2-95F1-46BD-85D4-5AB6B06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CF0028-90CB-4E1F-9DAD-27C1A4C2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28726F-20C4-44C9-8E17-C0D43CF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Baseline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8FDC99D-88B0-499F-9EE1-8950C32C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Greedy + torchvision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32C6414-7415-4958-BBC4-2565A468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CEF439D-A763-4247-94D4-A44AD27F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49BBAC-6FE8-46C6-A904-4198D3A7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50C358D-3E44-46DD-B42C-E76CDA2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5E6265-7345-4300-9441-65D1508A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Full IoU matrix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BA125B5-E53D-4794-A52F-8928F58F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6E75B60-1E5F-4D30-A5EC-95DE5CC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08E5A8-C794-44F7-BEE5-857E5B4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43CFDEC-ED65-45E1-A15F-5FB302A6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1AF18B-7776-4910-B434-1AA152F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Batched uint64 mask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222BC2C-C7F3-4290-9E42-CEDC352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2BE4D2-DFFF-4779-9174-70FB9356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F72ECCE-A966-4933-B2FA-2F13B8F5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5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12352B-3E74-4B6A-86D8-8C56C11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47C2721-55E9-426C-9F73-20D202E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Matrix NMS + T4 tests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066A0C0-B22D-4D60-9497-B146D0D4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1007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C65645-558D-4137-AE69-FDFCDFA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93E852-83B2-4722-94D1-FAFC5116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DBB651-8DB5-4491-8594-66592E5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9509873-F726-457F-BD42-94FD6819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Problem Motivation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804E71-AFB8-4D94-81E0-0CFE1DB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Object detectors produce many overlapping boxes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7A67B60-9195-4311-8787-890BDCD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989950-453C-4C65-88D7-73E7D21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160020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C3E840-E66F-40E0-8869-E36D286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984248"/>
            <a:ext cx="138074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Input Image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FD5590-E9AB-4930-87DB-B04C4D0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83080"/>
            <a:ext cx="164592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1E6F34-CC65-4521-82F9-4D42B96B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1892808"/>
            <a:ext cx="142646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YOLO / SSD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Detector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7579EE7-42FF-43D4-928A-B2DE152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83080"/>
            <a:ext cx="173736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1881258-108E-4164-91B9-AE2A721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892808"/>
            <a:ext cx="151790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Up to 10,000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F3129C-B20F-4A5C-AB5F-FAE5FB2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3080"/>
            <a:ext cx="132588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76A507-91F4-43AA-95E7-05901BBC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892808"/>
            <a:ext cx="11064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NMS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EE4832-C017-408C-9693-1FFB5D63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83080"/>
            <a:ext cx="173736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D8AE2D-4253-4144-A158-22D118D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892808"/>
            <a:ext cx="151790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Final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Detections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D0F8840-E16A-498C-930D-626F30E1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231136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DF1392C-BF49-41B9-A84F-305E103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31136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A05AD33-0E00-4C32-A962-DD9D0D6F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231136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E89B5A-298B-43F0-9129-D2E2DFEA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3113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0BD6051-00F8-427F-AC87-5D9974E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57600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EB72678-CAB6-4CFD-9D36-E8586CD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698748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95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0674D80-EA47-4942-AA1D-175765C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39896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4C8D565-9492-4F02-B53E-9F3B2C0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781044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85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A2BAAE6-6173-4DCC-8802-0AD548CC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822192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C323379-51BF-4D2C-93CE-B1644304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863340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75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1737EF6-766C-4FF0-BD97-1709D7C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904488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DEBFBF6-2E48-4FE1-81A9-D7A8A9C2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945636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65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6933B5A-8A19-4EAC-8760-B5F4A3C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3749040"/>
            <a:ext cx="932688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25400">
            <a:solidFill>
              <a:srgbClr val="76B90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DD388C5-5DF3-4141-B017-70548EF8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7488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7FAFC"/>
                </a:solidFill>
              </a:rPr>
              <a:t>NMS removes redundant detections while keeping the highest-confidence box.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EC036006-DB84-4163-8C4E-587F0508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04135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2A3F0F-8A94-48F9-808D-D197AED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B6E59D-D485-4B60-AF56-D7BE076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3641BE-D709-42F6-AA5C-21F614A8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B65B53-8809-4F73-AAAC-CA87454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Project Scope: Three CUDA NMS Designs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E7B926-EAF9-49A9-A843-52CBA30C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Track A4 · real-time object-detection post-processing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7A6F357-E518-4B54-8A07-24D8676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1411E3-26E3-4A3B-81E9-D5297B49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8617A3-57BC-4BEF-A6AC-2A704815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Greedy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Reference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334DF2B-D60B-4CB2-A81F-65B105B8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F790B8-6936-4950-8288-616633A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IoU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20AAFAD-4631-42FB-A962-8DB4A241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71920F-49C9-42F5-9E2C-1411FA9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Packed Mask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E3E7D2F-FB69-4BAE-9109-10C7E617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EF9E60-B3A2-4466-B74C-DF879C16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Matrix NMS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D6F38C-56AD-4510-9CB6-13F4F010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1508760"/>
            <a:ext cx="173736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AF10A6-7027-4C6A-9108-90C4B4B1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1618488"/>
            <a:ext cx="151790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T4 Tests +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Benchmarks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E780A5-2F5B-4F29-B680-AE5B483B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220FC4E-4A4B-429B-94C7-EAFB986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C667975-4659-4D3B-97C4-61A35271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A0548B-CC76-4CD5-9E9B-ABC85155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57EBF5E-B0BF-48EB-B607-4D547908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40"/>
            <a:ext cx="21945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7D2F8F7-9042-497B-A865-8A6FEA2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50108"/>
            <a:ext cx="2011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Hard-NMS reference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F8142D5-42D5-4FF8-A66D-4C98E6B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63240"/>
            <a:ext cx="2560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92000"/>
            </a:srgbClr>
          </a:solidFill>
          <a:ln xmlns:a="http://schemas.openxmlformats.org/drawingml/2006/main"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8F6E585-C190-44CE-954B-3C9C18C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0108"/>
            <a:ext cx="2377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Two greedy GPU designs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F124293-8FFA-41A3-AF4C-340262A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63240"/>
            <a:ext cx="31089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8BFA">
              <a:alpha val="92000"/>
            </a:srgbClr>
          </a:solidFill>
          <a:ln xmlns:a="http://schemas.openxmlformats.org/drawingml/2006/main"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121B92B-335F-47C6-AF65-8FB40B4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50108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V2 batch kernel: grid.z = image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2B32B2-4C70-41C1-9B38-D5771D05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063240"/>
            <a:ext cx="18288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9E0B">
              <a:alpha val="92000"/>
            </a:srgbClr>
          </a:solidFill>
          <a:ln xmlns:a="http://schemas.openxmlformats.org/drawingml/2006/main"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F0D9923-9029-49F9-8C78-5679B15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150108"/>
            <a:ext cx="16459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V3: soft suppression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8264454-372A-4CD3-B511-1BDC6E90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60520"/>
            <a:ext cx="98755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Implemented: CPU baseline + GPU V1 + GPU V2 + GPU V3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V1/V2 checked against greedy CPU/torchvision; V3 checked against Matrix-NMS CPU oracle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Evidence: 50/50 CUDA tests plus repeated Tesla T4 benchmarks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C9C4A4C-509D-4832-A055-BFDD75B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6097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3AFFF9-FC7C-40D0-83AD-C9DF323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0A3991-C32C-422C-AF1C-18C8468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A28781-6CEC-41A4-9C03-E299F9E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699963-0BCC-47E9-A6B7-4453FAB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CPU Greedy NMS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37D869-FA07-41D7-A549-754FD1C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Baseline algorithm and complexity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4F0477-0BC2-499B-88F1-AD857FD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A1106AD-CAEF-4990-963F-534A7FA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495B47-E911-4266-A24E-BDCEAA1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 by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confidence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CFA74F-CA2C-4DF7-A92F-1763B4E2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C89EF9-D377-4D7E-B54B-453CE60F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5C8DFC-3602-4AB0-84BC-1ADE18F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Pick top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box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141B30-5227-4E82-B973-2D79AA0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C3C6FE-A340-4AC0-AE28-FF669FA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1D03B7-4014-4382-B475-EC863D32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Compute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IoU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F08CB3F-A523-4648-B970-E60A7C4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7ED7B7E-A54F-40C7-AC11-116F7D3D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EEDCA7-6710-4D33-B1DD-66E7514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Suppress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overlap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E1D4C08-0334-4056-84A5-D312A82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30803E4-D286-452F-B376-750AFCC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7A9AC57-9464-4CF4-80E9-781CAD2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Repeat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DC127E1-CC65-4E53-BD83-3E38C67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0"/>
            <a:ext cx="292608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E1D4F11-1579-4C4A-BA18-1C79F2C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986784"/>
            <a:ext cx="27066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Sorting: O(N log N)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D90E73F-53B1-459B-B43E-6BC76F9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0480"/>
            <a:ext cx="338328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F8F518A-7022-4834-9865-32E5B27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986784"/>
            <a:ext cx="31638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Greedy suppression: ~ O(N²)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8419FB8-EFF2-48FF-9748-B42AC829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840480"/>
            <a:ext cx="265176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7912610-7366-4D11-A961-A0B7676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986784"/>
            <a:ext cx="243230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IoU repeated many times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18EC977-286E-49DC-A8C0-9EC1581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384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2D42FB-F7C6-4148-A6EA-0C5CB44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4C9F8EC-7808-4B06-B686-DC5725E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77B64C-A9C0-4241-80A5-3DF303A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DA9BA2-6425-4304-8AE3-63A012F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CPU Baseline Architecture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EF1F5C-F039-4724-BA99-4D6993F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End-to-end reference implementation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2D075E9-DC97-4E7D-90BC-60D7776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D858FE-86A9-408C-8641-38FE4E7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01168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56FED4-63DF-4427-91F3-B5B3168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09928"/>
            <a:ext cx="179222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Synthetic Boxes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or YOLO Output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B5D7D5-7787-48A5-877D-B74AAE8F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14630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401642B-65F7-462E-AB33-26FA93C7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709928"/>
            <a:ext cx="12435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NumPy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9E3B06A-E647-4889-8D07-D526104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536192"/>
            <a:ext cx="1874520" cy="932688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07C00AF-9E8D-4CF3-AF68-A6DDEE11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645920"/>
            <a:ext cx="1655064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Python loop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Greedy NMS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6F81C30-0B87-4CCB-A2E6-EEA3D002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536192"/>
            <a:ext cx="2057400" cy="932688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20A112-D017-4336-BA93-5048AAA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645920"/>
            <a:ext cx="1837944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IoU one-to-many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NumPy vector ops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88D40EF-BC0A-4286-9F56-C49FBFE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1600200"/>
            <a:ext cx="114300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9CE61BA-9A2F-4188-9783-22B8ED0A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1709928"/>
            <a:ext cx="92354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Keep indices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60BFAF6-CF60-48BE-AA3C-DAFFBD4D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1168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916A5C2-633C-43BA-A55D-B5DE48A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1168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BCA24D-2024-4E0E-B637-781AA2B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1168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2B53DA-BC6C-4CC9-82B0-32BB2800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01168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97DC6B7-3260-476E-910A-C7908D7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WHY THIS MATTERS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95DE3E5-756D-4543-8A9B-561B42C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9875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7FAFC"/>
                </a:solidFill>
              </a:rPr>
              <a:t>CPU baseline is the greedy hard-NMS reference.</a:t>
            </a:r>
          </a:p>
          <a:p xmlns:a="http://schemas.openxmlformats.org/drawingml/2006/main">
            <a:r>
              <a:rPr sz="1600">
                <a:solidFill>
                  <a:srgbClr val="F7FAFC"/>
                </a:solidFill>
              </a:rPr>
              <a:t>Profiling identifies the pairwise IoU bottleneck.</a:t>
            </a:r>
          </a:p>
          <a:p xmlns:a="http://schemas.openxmlformats.org/drawingml/2006/main">
            <a:r>
              <a:rPr sz="1600">
                <a:solidFill>
                  <a:srgbClr val="F7FAFC"/>
                </a:solidFill>
              </a:rPr>
              <a:t>V1/V2 match this output; V3 uses a Matrix-NMS oracle.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518F3E-DBA7-45B1-81DF-CBAAC96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0872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B70C4E2-2EE6-4D9A-AB5E-A0348B9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36E847A-BFFB-4A16-8B54-E2E277E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5744B-C90A-4A77-82E5-8B91947B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C9B4EC-391D-4F85-A38B-C5351B8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CPU Profiling: Pairwise IoU Is the Target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5513D4-5606-497B-BBAB-57925682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Local CPU · N = 10,000 · cProfile evidence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31F15A-2144-46E4-9B15-FAB9D531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0F6852A-8091-4FDA-88BC-57A9121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96596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224C9D-8FEC-4798-A893-71304E7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89304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76B900"/>
                </a:solidFill>
              </a:rPr>
              <a:t>18,313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585563-3A85-404D-AECB-1B8434D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36776"/>
            <a:ext cx="1783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function calls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2A1702-F94E-4590-BC9F-83C95D51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1430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2E6E5C0-A1A5-4621-A393-04D1FC1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893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76B900"/>
                </a:solidFill>
              </a:rPr>
              <a:t>0.449s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60ECBA-3A3D-43D6-994B-E131402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636776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total runtime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7FA8E25-939B-45B5-8A65-C63EBCD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1430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CDD073E-0F3C-4C7F-A114-54BF0FA5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2893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59E0B"/>
                </a:solidFill>
              </a:rPr>
              <a:t>6,100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43D237-587E-49B8-8F3E-ADEA40C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36776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IoU calls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5876D88-0702-4547-AF84-271438A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1430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779F9B-5F79-4C03-894B-E756575A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893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59E0B"/>
                </a:solidFill>
              </a:rPr>
              <a:t>40.3%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A01982-F1A3-45E9-A6BE-B8528FC8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636776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IoU share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4F7B7DB-89AC-4959-B4B0-929CD507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143000"/>
            <a:ext cx="19202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CECC77-00F5-416A-B190-9C49551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28930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6B7280"/>
                </a:solidFill>
              </a:rPr>
              <a:t>0.001s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F7BC144-2167-45D7-A96A-6E66330A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636776"/>
            <a:ext cx="1737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argsort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E04105-059F-4B15-B72F-3AA7382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89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AFC"/>
                </a:solidFill>
              </a:rPr>
              <a:t>run_cpu()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9D53C56-5760-40B2-8BBC-F57B639C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816352"/>
            <a:ext cx="56692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BCC4363-237A-4D24-8129-EF52F2DB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7706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7C0C9"/>
                </a:solidFill>
              </a:rPr>
              <a:t>0.449s cumulative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C3D930-5B61-4DD4-8A32-609368E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300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AFC"/>
                </a:solidFill>
              </a:rPr>
              <a:t>iou_one_to_many()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D55242A-98F6-4E51-94D2-FCCB683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20440"/>
            <a:ext cx="19202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69FA0DD-4435-46FF-B04F-A2CD1DF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47472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7C0C9"/>
                </a:solidFill>
              </a:rPr>
              <a:t>0.181s total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04B6E8-1A46-4999-BB5E-A161D87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AFC"/>
                </a:solidFill>
              </a:rPr>
              <a:t>argsort()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605F6DF-EAE4-4C6F-9567-76A91C4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215384"/>
            <a:ext cx="16459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>
            <a:solidFill>
              <a:srgbClr val="6B728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D6748AF-3EC9-43CA-ADA6-564B212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16966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7C0C9"/>
                </a:solidFill>
              </a:rPr>
              <a:t>0.001s cumulative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9FC0900-5441-4905-8225-4763A51C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1825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390A25-2FCD-41E6-9CB0-028CA3E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3E1CC28-683B-40C3-BDD8-7709290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8B2382-242C-49A8-8409-DE5F96BC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391681-BB3A-4C5D-BCB5-C4113EF9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Three GPU Designs, Three Trade-offs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6F6247-AC26-41DB-A3DF-29791D2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Each version removes a different bottleneck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CA2D4C5-B178-46B5-9FDD-53B0A2B3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CE3DA1-C750-497C-93E3-E6CC3EB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743200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11D53B-8E0D-41D8-AB1C-36994E50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938528"/>
            <a:ext cx="252374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N × N IoU matrix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D7A7D3-2B59-47EA-B73A-708A926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2743200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8648C67-A13F-458E-9375-4632045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938528"/>
            <a:ext cx="252374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Packed uint64 masks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30D1554-A080-48ED-A7CA-955DD4A0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28800"/>
            <a:ext cx="2423160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5246DA-9F4C-48EE-9C85-FA3DDFEE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938528"/>
            <a:ext cx="22037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Matrix-NMS score decay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69FCDC-2749-44AC-AB61-9653F0C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1720"/>
            <a:ext cx="1051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DCC3FF-315D-4A18-AC40-6B2EDAE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31720"/>
            <a:ext cx="1051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D7E984A-9C25-4188-AE99-167C627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840480"/>
            <a:ext cx="3657600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335095-F215-4803-861A-C36CB34A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86784"/>
            <a:ext cx="34381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V1: simple, exact greedy result, expensive transfer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F1DD6FD-2C16-4289-A01A-471584C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0480"/>
            <a:ext cx="3840480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E376500-A8D3-4FDF-AA81-633E4E56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986784"/>
            <a:ext cx="3621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V2: exact greedy + batch kernel · V3: parallel soft suppression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32B0115-BC77-4387-A2D7-EEF8555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38001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8ED837A-906D-48B4-A924-DA9D36D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68C852A-517E-40DB-86A0-05F11059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580A6CC-EE93-446F-BE1E-90A08E67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FD5B64-0D55-451C-A7A9-4E6EDC05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GPU Version 1 Architecture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52CB28-DA17-4D66-ACFC-E11FD332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Parallel IoU matrix, CPU greedy suppression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1A3B49-9CC2-4B66-9977-114409C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459AAFD-455B-4EDF-8AF5-DBF5B845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32588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983DFB-7EFF-4C62-9DAC-A12F086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344168"/>
            <a:ext cx="11064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Sorted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Boxes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FEF7C66-E868-4FF5-B060-01C1815E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234440"/>
            <a:ext cx="178308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D106635-0337-46DF-AF66-FF889BD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1344168"/>
            <a:ext cx="15636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cuda.to_device()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B6B6600-5D17-421C-945E-912122B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170432"/>
            <a:ext cx="16916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89B2105-80B5-45B3-B137-65D5258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1280160"/>
            <a:ext cx="14721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Global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Memory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7EB597D-C66E-466B-BD8A-722E2759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70432"/>
            <a:ext cx="16916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B25C70D-98BB-44BE-B9C5-6BB17B9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280160"/>
            <a:ext cx="14721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CUDA IoU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Kernel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915CB1-3874-485C-8C31-9E4A3F3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170432"/>
            <a:ext cx="16002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615D0F1-330E-423C-BD65-DC97C1F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1280160"/>
            <a:ext cx="13807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IoU Matrix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 × 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994A36E-8A60-4102-8DBB-F8DE8C4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343400"/>
            <a:ext cx="201168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2FE187B-22F7-425D-BDF4-BB60831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4453128"/>
            <a:ext cx="179222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Greedy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NMS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E695CE2-9DA4-48F5-9DDE-65060D3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57276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91A4F3D-C23C-46DF-8360-8F87008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72768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9DAC45B-F3FE-4A58-B42C-AB95168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727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02EE4F1-1BE0-4E17-B44A-FDE3381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5727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0EC74F0-89DB-49BA-96B4-50C3DB6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993392"/>
            <a:ext cx="4114800" cy="235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72BACA4-EDE3-4F35-BC2D-F6A469E3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5643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8BDF8"/>
                </a:solidFill>
              </a:rPr>
              <a:t>copy_to_host()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11A4AD8-0014-49B4-9422-96CC1D6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15000"/>
            <a:ext cx="32004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AE5071D-384F-4EDB-A065-6494F13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801868"/>
            <a:ext cx="30175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GPU does the O(N²) pairwise work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44ED512-76E5-40E1-A1BC-A0EE4B5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715000"/>
            <a:ext cx="32004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92000"/>
            </a:srgbClr>
          </a:solidFill>
          <a:ln xmlns:a="http://schemas.openxmlformats.org/drawingml/2006/main"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00ED07-9743-41B0-8DCD-171779DA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801868"/>
            <a:ext cx="30175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CPU keeps simple greedy control flow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55D76EF-9F47-430C-9F55-266B9CF4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715000"/>
            <a:ext cx="29260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8BFA">
              <a:alpha val="92000"/>
            </a:srgbClr>
          </a:solidFill>
          <a:ln xmlns:a="http://schemas.openxmlformats.org/drawingml/2006/main"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3D8ACBA-E71E-4449-80AA-AF7480FC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01868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V1 is easy to test and explain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13B41A-6947-4EDD-8A0C-090174D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21599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4593C9-0D47-446D-8AD9-467E9AF1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5002F05-49EB-4F50-8332-BE45EA7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D576F0-AE4A-4E6D-9E0E-73FAD6CE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0BE3B2-6DE2-44B8-86C5-E383E86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GPU V2: Batched Packed Suppression Mask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753AC4-4EC6-435A-B1EC-7778A82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grid = (anchor word, target word, image)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F8E430-86CD-48D6-B888-6329DD3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09D68B5-B79E-4C05-9D94-BD1BAE6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9418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7C0C9"/>
                </a:solidFill>
              </a:rPr>
              <a:t>Target word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B1F83D-7D7E-4804-8B73-6428842F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4128" y="267004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7C0C9"/>
                </a:solidFill>
              </a:rPr>
              <a:t>Anchor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B04F47-BE64-420A-9ED6-2BBCEAC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931C5C5-6CC2-47CB-AEBA-EEE5C0B0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0055D44-AC55-4935-8ADC-ACD852F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96B7A4-92BD-41E3-AF02-F9F571F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F92759C-D048-47FE-833C-2CAE45E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42B6A5B-ABC1-46A0-B380-B278F2B1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FC0D61-133D-4156-BCBA-DB72485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55DD3AE-65C4-49C9-AF8A-D99DDAB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E7E02B3-9A3A-4C27-8800-51D32AD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F3720C7-1773-492A-B37B-624D40A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4B64D36-2F0A-4A86-98E3-E0AE84A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E9929CA-0CC8-402D-BEE2-D9B276C6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C20F1A-D896-440B-835A-D167030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8DEA9D-9472-4CA8-917D-108D44D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1E7D47F-844A-4D91-B2DE-E04939E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DD96712-2BF0-4FE1-980C-1B074C15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347734B-6B69-4190-A2BC-EA9401A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A978BE4-C595-4CAB-B36C-5EA07F2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128D9AC-1214-4CAA-BE59-CB26F05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18CF641-43A2-417E-9E2C-A6C0ED9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5AAECD5-962A-46F1-9175-CEF3E04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3A8B629-4822-423D-8C73-274E14EF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46B599C-2840-475C-AD4C-34F9BC1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A4D3F5E-5DD4-4645-8F40-D05B2141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3493A31-6F54-4768-9CA6-B419249E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0EE90DB-2D34-43CF-9C58-76664490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A31020C-5973-48A2-884F-BDB04B4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FAFAA6D-E978-479E-BFC4-56E0595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2808183-A1B0-4AE3-879A-B3D72B2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204E815-D1F5-4796-A0BB-148760D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4E84820-3F73-46CF-BBE3-95894F4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9A31DBE-3E22-4B45-8C3C-12DAFEA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7EC800D-10EA-4C8C-9CA5-038D360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3A67C2D-F67B-42C5-A456-0E0AE92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A605AB3-235C-4C50-B062-8445F9A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64F7DC2-9782-4469-9617-E70DCA2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2C268F2-C8D6-484B-8BFE-2AA065F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FBB3A7A-2E52-4509-92E6-7CB8167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11E951C-55A3-4AFD-94F5-844296F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32D96DCB-7ED9-43C5-A50F-9CEFB89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CCDF6CA-B132-4514-950D-8AEE64F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322778F0-2989-4E14-8E38-D845891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59BC8B2-9FB1-47BC-9970-A16BCDF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A29DEB4-D183-46BC-9445-B2139B1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71F99DD-7201-4F61-BEC3-6CCD1B0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B55F777-878D-42D3-BA77-54ACE71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2A6E4AF-937C-4C32-ADEB-478290D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36F93C59-E20B-4393-8E04-64B8606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E6505901-2B3E-4FEF-BC16-D7FFBD7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0C91F48-5743-4373-AC68-9986309D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329184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9A8E8EAC-F06A-4133-A00E-874F5D3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82496"/>
            <a:ext cx="3072384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B0F12"/>
                </a:solidFill>
              </a:rPr>
              <a:t>Thread(anchor)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B0F12"/>
                </a:solidFill>
              </a:rPr>
              <a:t>→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B0F12"/>
                </a:solidFill>
              </a:rPr>
              <a:t>one uint64 mask word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EBD131E7-2DDD-4FB3-B98E-37AFCEFF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383280"/>
            <a:ext cx="4023360" cy="749808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D29202A8-EB93-42FA-BC69-5736F50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529584"/>
            <a:ext cx="38039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blockIdx.x = anchor · y = target · z = image</a:t>
            </a:r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F55F37A8-C1FF-45B7-B41F-5DD2033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80560"/>
            <a:ext cx="3749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98472"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7FAFC"/>
                </a:solidFill>
              </a:rPr>
              <a:t>SoA layout enables coalesced coordinate reads.</a:t>
            </a:r>
          </a:p>
          <a:p xmlns:a="http://schemas.openxmlformats.org/drawingml/2006/main">
            <a:r>
              <a:rPr sz="1300">
                <a:solidFill>
                  <a:srgbClr val="F7FAFC"/>
                </a:solidFill>
              </a:rPr>
              <a:t>Each block caches 64 target boxes in shared memory.</a:t>
            </a:r>
          </a:p>
          <a:p xmlns:a="http://schemas.openxmlformats.org/drawingml/2006/main">
            <a:r>
              <a:rPr sz="1300">
                <a:solidFill>
                  <a:srgbClr val="F7FAFC"/>
                </a:solidFill>
              </a:rPr>
              <a:t>One bit records whether IoU exceeds the threshold.</a:t>
            </a:r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F6649023-3BF0-4B1C-ADF8-C2C41EFD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3212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0D1B65-BFC6-4868-8583-16EB516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B32E0F-9B9A-4383-920A-B2041960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F82D49C-82A1-4B46-9EF9-64B1DEFF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4042BC-5523-4E57-81B8-66F95713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GPU V3: Matrix NMS Soft Suppression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5D4099-5A9B-4156-AAAC-F8F9F8AF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Two CUDA kernels remove the greedy dependency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1FB9B8-761E-4FAF-A514-D8BC9D3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5BCCE8-8D6C-476A-957D-8E81D83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17320"/>
            <a:ext cx="20574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25400">
            <a:solidFill>
              <a:srgbClr val="76B900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5AE081-4E8B-4594-B3EF-B40C395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20574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25400">
            <a:solidFill>
              <a:srgbClr val="38BDF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CD85C6-5E53-45FE-8A30-4689B29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12801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3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6AD9F-1914-4780-BC1A-5C4DA4A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267712"/>
            <a:ext cx="1051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AFC"/>
                </a:solidFill>
              </a:rPr>
              <a:t>higher-score boxes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5C82E2F-79DD-4FA0-BF9E-10014900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34440"/>
            <a:ext cx="502920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6C0EAE-328C-4121-8209-5E4D1F6A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1380744"/>
            <a:ext cx="480974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Kernel 1: max IoU against higher-score 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682AFFB-9AEA-4E06-8C4B-9EA62B57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40280"/>
            <a:ext cx="502920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F8EAB5-F54C-4A99-847A-9A9E094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386584"/>
            <a:ext cx="480974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Kernel 2: parallel score decay — linear or Gaussian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017192-F485-4DD0-A923-B70BB24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46120"/>
            <a:ext cx="502920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C70403-DECC-47A1-93B9-D99CA15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392424"/>
            <a:ext cx="480974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Host: copy final scores and apply score threshold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F6A000-C0CB-4BE5-9B53-B0B01B65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9326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F7FAFC"/>
                </a:solidFill>
              </a:rPr>
              <a:t>V3 returns Matrix-NMS results, not greedy hard-NMS indices.</a:t>
            </a:r>
          </a:p>
          <a:p xmlns:a="http://schemas.openxmlformats.org/drawingml/2006/main">
            <a:r>
              <a:rPr sz="1400">
                <a:solidFill>
                  <a:srgbClr val="F7FAFC"/>
                </a:solidFill>
              </a:rPr>
              <a:t>Correctness is checked against matrix_nms_reference().</a:t>
            </a:r>
          </a:p>
          <a:p xmlns:a="http://schemas.openxmlformats.org/drawingml/2006/main">
            <a:r>
              <a:rPr sz="1400">
                <a:solidFill>
                  <a:srgbClr val="F7FAFC"/>
                </a:solidFill>
              </a:rPr>
              <a:t>The 4.092 ms result is an algorithmic trade-off.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75E735C-F8BC-4BAB-ABFF-673A3119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4359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41D6EE-07D3-450C-9235-259FD258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6ABF8FE-92CB-4741-8103-81154D7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C8F12D-22E6-43CD-A706-D308275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719A23-D1B0-4BE7-B789-28DB3B2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What Each Version Transfers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81A1D8-EBC9-4AAD-875C-4E8F64D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Separate designs with progressively smaller returned data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F65CED-9638-47D0-BFC2-1AECC994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AA5D27-B10A-42B7-8B84-51B9576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40A76C0-570A-4B52-B0AE-599FEB7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20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RAM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sorted boxes + scores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80242F-01C3-4FDC-9B10-A9CEA88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9D94A4-7BFB-49C5-B34A-9C64AEE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N × N IoU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F229483-9EFC-4F03-9999-1A5B80C5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473D46-207D-452B-8284-CB90D4D5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2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batch uint64 masks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55892B2-DC3F-4104-899B-A4E58B86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BC0D7C-4EFA-4C1A-81E8-4F2B0B6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decayed scores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FC2E60-CD60-489E-BFE3-2E130AC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24028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E26B19-E0A9-4C13-895C-67DAB3E4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4028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022DAEA-7C32-4D8D-82FA-C31BDB3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4028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39B7D0E-152A-4B48-9BDC-8846CE3A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87452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6B900"/>
                </a:solidFill>
              </a:rPr>
              <a:t>V1: full matrix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424294B-6850-4380-83CC-316AE56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874520"/>
            <a:ext cx="822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6B900"/>
                </a:solidFill>
              </a:rPr>
              <a:t>V2: packed mask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F506B2-579F-40DA-A035-1C2131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874520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01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BDF8"/>
                </a:solidFill>
              </a:rPr>
              <a:t>V3: O(N) scores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A5CC60-0CB9-45F5-B82D-4D2F25FE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297680"/>
            <a:ext cx="768096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61AB7B3-1D2E-44E9-B04B-55F03A60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4443984"/>
            <a:ext cx="7461504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Separate designs: V1 O(N²) floats · V2 O(B·N²/64) masks · V3 O(N) scores, different algorithm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82FF2FC-5549-491E-A96E-E74FDBA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14757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07316B-CE60-4F1B-B47E-7D1A6331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87455C-1A88-4562-AB5D-676E20AF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3675B4-809A-419B-BC60-F6FBC405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631B97-AA55-4EAB-AC35-734E4B94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Correctness &amp; Environment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9B3CAD-D899-4C25-A6C4-73F77341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Verified on Tesla T4 before reporting performance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46D47F-552E-4905-9C1C-EA0F00D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FA1F118-A116-44E7-9EBE-37F3E12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23774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5E509A3-62DB-4B2C-B189-35654D2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38528"/>
            <a:ext cx="21579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 /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greedy output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BEC962D-841B-4B3F-8822-CDA3EC9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9040"/>
            <a:ext cx="23774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61F844-12B9-448D-8E8F-83212045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858768"/>
            <a:ext cx="21579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/ torchvision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greedy reference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10DA27F-A4D9-4DAD-BF61-934C96F3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892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494E37-8728-448D-BAA9-EDE01B56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89864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Compare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selected 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43BBD4-1556-4026-B0A1-B1FD51B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8892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E132A95-5E6F-40F7-9AEF-44D223E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89864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77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B0F12"/>
                </a:solidFill>
              </a:rPr>
              <a:t>50 / 50 PASS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CABA4C6-7BA4-4323-AC19-59289A6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240280"/>
            <a:ext cx="128016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2A0BEA9-3E96-45A3-8288-42140F9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46120"/>
            <a:ext cx="128016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C9F80F7-5AEB-4F52-BA92-84C662F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6306DAA-A286-47E0-A20E-C41BFB7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77840"/>
            <a:ext cx="18288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92000"/>
            </a:srgbClr>
          </a:solidFill>
          <a:ln xmlns:a="http://schemas.openxmlformats.org/drawingml/2006/main"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1DECDEE-4F46-4771-94ED-873B40ED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4708"/>
            <a:ext cx="16459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Tesla T4 · compute capability 7.5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F42C108-2DB2-4438-A68F-D9BBE38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577840"/>
            <a:ext cx="23317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B4A335-9153-466B-A653-0321C35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664708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Python 3.12.13 · NumPy 2.0.2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BDDBA20-7823-41F4-BED2-586B675B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77840"/>
            <a:ext cx="27432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8BFA">
              <a:alpha val="92000"/>
            </a:srgbClr>
          </a:solidFill>
          <a:ln xmlns:a="http://schemas.openxmlformats.org/drawingml/2006/main"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B2B5F06-E183-4BF9-9AB8-1330AC4C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664708"/>
            <a:ext cx="25603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V3 ↔ Matrix-NMS CPU oracle · not greedy NMS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2C0EE1D-311F-4046-9EFA-45A96F5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9267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7CFBE93-D929-4CF9-854C-555E705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72E0B1-0D00-45BF-B737-D9C02F95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567612-B3B7-4EC9-A85E-0B28AA6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20F653-5661-4776-B064-EBFD06A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Verified Tesla T4 Benchmark Method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60D691-811B-4821-9062-A90A571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Repeatable end-to-end latency after CUDA warmup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3C5DAC-89DB-4998-A907-3DD4444F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EA54752-2056-443A-A194-F49F10D0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5DD73C-784F-4E0A-B6A0-514DA085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</a:rPr>
              <a:t>Warmup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</a:rPr>
              <a:t>2 runs; exclude JIT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6F3FD3-A480-4352-B601-02880F0E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86000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9303DE6-D81B-4A3A-B9E0-5BCD91C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1BE000-C460-4544-A759-B8AB18C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Repeat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7 measured runs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F8C82F-6297-4B0D-A988-4ACC26A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286000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09F4129-A22B-4467-AB53-723B0D8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85B845-DA0E-4153-8B73-FC1603A1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Aggregate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median + stddev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E86ACD-7AAF-4B06-86F8-CB1D2F7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86000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71BE7C-9B0C-4102-A6B9-357E5611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6169A9-8CA6-4E92-BD55-C76093D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Compare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CPU · V1 · V2 · V3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1107D56-A6DF-4736-9A79-195AC56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347472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E6EDEA-DBC6-4BF6-8A02-F0A4B9D0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123944"/>
            <a:ext cx="3255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N ∈ {100, 1,000, 10,000} boxes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981A052-B5B4-490A-BA2E-AA5FB3F2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977640"/>
            <a:ext cx="283464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1C30F7-1062-4BBE-B1DB-5782888E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123944"/>
            <a:ext cx="261518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Single-image + V2 batch 32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8F053F0-BB1A-4F3C-8882-C18C4A02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977640"/>
            <a:ext cx="329184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B95E0B9-4B88-4965-83E3-EB8E3EB2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4123944"/>
            <a:ext cx="307238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Tesla T4 · compute capability 7.5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13F0D85-83E9-4D91-9EE4-E02D863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1936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8F7BA2-8C63-4D27-9664-6241FFEC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B6744B-58A4-4F77-97C2-C11C387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978FE-0CD4-4E7C-B7E3-899BB9B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44A38B-85E7-4DB3-8B81-35F9DB9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Single-Image Latency on Tesla T4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8B8784-D6B9-4B7A-B115-97DE1F7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Median end-to-end latency (ms) · 7 repeats after 2 warmups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664798-D932-4AFB-A15D-610FBAC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32852F-93A4-4B8E-B566-5FE901D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907FFC-45DB-419A-B612-76D60EF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Latency (ms)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N          CPU       V1       V2       V3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100        2.389    0.777    2.309    1.395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1,000     38.777    7.454    3.729    1.376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10,000  1125.272  226.107   31.599    4.092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035D1D-5996-40B4-A480-CDDA7E3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E8908D-18FB-458C-AF40-2157027C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At N = 10,000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V1: 5.0× CPU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V2: 35.6× CPU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V3 = Matrix NMS / soft suppression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Speed is a trade-off only — output is not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equivalent to greedy hard NMS.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936B637-3D0F-4350-9B31-E3E824F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69694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28FA2-1C12-470A-88B4-5D2D9F4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97E4F3-A033-4055-A28E-CD2C9AF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62BD44-F372-4125-99B2-E89787F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BA7F5C-2ABA-49EB-A56C-63EED0F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V2 Batch-Size 32: Correct, Target Missed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898AB6-C4E1-4290-9C90-272FD71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Latency input: 32 images × 10,000 boxes · end to end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F417D3-A687-40DC-AA06-126B227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25220A-CFBF-40E3-8BB8-8CB526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VERIFIED RESULT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025B61-B08F-4CAB-9C83-EEE96DF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72768"/>
            <a:ext cx="47548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Correctness: PASS at B=32, N=50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Latency input: B=32, N=10,000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Median: 1002.239 ms / batch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Median: 31.320 ms / image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Stddev: 214.264 ms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853DB7-98F2-4108-A562-2F7F784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WHY IT MISSES &lt;5 MS / BATCH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C5614B-4A4A-4AC7-B3C9-A298327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93688D-D7C2-4F54-BAB3-036E92A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Input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32 × 10,000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738AA4-F5E9-499C-81A8-1BBEB26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CBEB05-0235-49EB-BE64-A1117020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Measured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1002.239 ms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8D2A5B5-516F-4563-979E-AC5E5C4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572768"/>
            <a:ext cx="150876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853632-A01F-4B28-A12A-24D877A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1682496"/>
            <a:ext cx="128930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Catalog target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&lt;5 ms / batch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D84A01-7FC4-439D-BFBE-64D053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E5B3B63-1B02-415B-B09C-F5C2B8A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14655A-8DDB-49A4-A77B-A45A2B0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835DA6-756C-4075-9554-CDCBB7C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20954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O(B·N²) pairwise work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569BB62-A78D-466D-845D-09A5762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336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FBF598-ABF4-4D69-84F9-E4B57D0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16966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Packed mask copied to host · greedy resolution on CPU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A0076A3-636B-4B93-B542-D209E566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172" y="6446520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7686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DD3E55-18D3-4599-AFAF-3D9F13E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9F98FFE-1460-440A-94BC-2867BDB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C82AA57-0689-40CF-BD53-2C92D4F0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5A8224-FDA9-4B43-B219-14D50EBF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Performance Trade-offs by Design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6A1C96-82A9-4D01-A671-AE61EF86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The fastest result does not always preserve the same NMS semantics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5D413E-D627-4A61-BB5D-7A39A9B4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EB71AD9-2E17-4F98-89B4-F236A5F2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28346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35996D-5AE7-40E1-9AC9-4CD00C3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64208"/>
            <a:ext cx="26151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IoU matrix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greedy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3485ACA-D3B5-4EBE-9DE4-A4D9D91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554480"/>
            <a:ext cx="28346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1A3116-A2B3-4FC5-8DA0-91CF983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64208"/>
            <a:ext cx="26151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packed masks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CPU greedy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FAF2D34-F351-4D0D-AF7E-D4158FC7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554480"/>
            <a:ext cx="28346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81344A7-261A-4DF3-8942-F53F350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64208"/>
            <a:ext cx="26151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Matrix NMS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soft suppression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13A08A2-6FA7-496B-BFA9-03ABFFE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29260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1113BA-4EE8-458C-BC72-0BC5F571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032504"/>
            <a:ext cx="27066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Small N: launch overhead matters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1B58C82-F515-4696-8749-301DEC0E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306324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2086B40-B786-4749-B719-975034C7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032504"/>
            <a:ext cx="28437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V2 wins hard-NMS single-image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183E04C-CCBE-4F6F-9946-19CC9CA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86200"/>
            <a:ext cx="306324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145684-2202-4F5F-93A3-199703C6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032504"/>
            <a:ext cx="28437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V3 is fastest, but semantics differ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6A31474-45A9-4EE5-BA4A-AFEA572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22481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28FA2-1C12-470A-88B4-5D2D9F4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97E4F3-A033-4055-A28E-CD2C9AF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62BD44-F372-4125-99B2-E89787F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BA7F5C-2ABA-49EB-A56C-63EED0F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Limitations / Honest Conclusion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898AB6-C4E1-4290-9C90-272FD71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Measured gains are real; algorithmic and batch limits remain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F417D3-A687-40DC-AA06-126B227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25220A-CFBF-40E3-8BB8-8CB526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CURRENT LIMITATIONS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025B61-B08F-4CAB-9C83-EEE96DF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72768"/>
            <a:ext cx="47548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V1 transfers the full IoU matrix GPU → CPU.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V2 packs uint64 masks, but final greedy decisions stay on CPU.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V3 removes greedy dependence with Matrix NMS,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but its output is not equivalent to hard NMS.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853DB7-98F2-4108-A562-2F7F784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WHAT THE RESULTS SUPPORT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C5614B-4A4A-4AC7-B3C9-A298327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93688D-D7C2-4F54-BAB3-036E92A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5.0× CPU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738AA4-F5E9-499C-81A8-1BBEB26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CBEB05-0235-49EB-BE64-A1117020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35.6× CPU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8D2A5B5-516F-4563-979E-AC5E5C4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572768"/>
            <a:ext cx="150876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853632-A01F-4B28-A12A-24D877A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1682496"/>
            <a:ext cx="128930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Batch 32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Target missed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D84A01-7FC4-439D-BFBE-64D053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E5B3B63-1B02-415B-B09C-F5C2B8A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14655A-8DDB-49A4-A77B-A45A2B0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835DA6-756C-4075-9554-CDCBB7C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20954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V2 meets the ≥15× single-image target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569BB62-A78D-466D-845D-09A5762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336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FBF598-ABF4-4D69-84F9-E4B57D0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16966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Batch-32 latency target remains unmet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A0076A3-636B-4B93-B542-D209E566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27686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E888F8-88C2-4048-8499-01867914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46AD0-A615-44F7-B908-52B1A7C4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281638-DA38-4D9E-A3EA-9B3F9B30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32F278-971E-49A6-A823-EBA54B3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Final Status &amp; Contributions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228148-F19B-4229-97ED-76E18752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Seminar 2 final · verified T4 evidence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EA6A81-F7CB-4DDC-AA43-7C59D24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B513C-57C3-4257-94F8-ABA8AA8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4173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A6B238-1B6A-4531-B24C-063F2E2B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142646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496F3A0-1A34-4A68-BC10-928F46D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9903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50 / 50 CUDA tests passed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0C4B80-F33D-44B3-8A39-7DAA7540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4688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5738E2-41E5-407A-BB9B-7DA3E82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247802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6EB050-9B70-45AB-9F10-9FDA238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5059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V1: 5.0× CPU at N=10,000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022ADA-0B34-4B2C-BEC7-6AFFDC1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4099FC-58CF-415B-A53C-8D7BB1E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352958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0B45796-03B3-4DD6-91F7-9470D471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50215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V2: 35.6× CPU at N=10,000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383DFF-568B-4381-9B27-2F3616C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BF6F23-17F5-4855-82F3-515E3D2E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42646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!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E2503A-3418-407F-A311-656A1EC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903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Batch 32: 1002.239 ms — target missed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C37FD33-30FD-4C02-87E5-06556829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5CF6B3-9B24-4138-8428-A3A2F569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247802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5C24BE-5D9A-4101-96AE-FCB4752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059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Tuấn — CPU baseline, tests, repository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5BB66DE-02FC-4F9A-8DB8-BC8C6C8E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A1004E9-8E00-439D-B9DE-12EC0FA9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352958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17E03E7-8F97-468F-8F4E-8CE9503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215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Tân — GPU V1 / V2 / V3, benchmarks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0B07DF0-085D-4033-B19F-4A8A1BF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257800"/>
            <a:ext cx="84582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3BF50C-8630-4DCD-8ED6-B9EB76A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77256"/>
            <a:ext cx="8092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B0F12"/>
                </a:solidFill>
              </a:rPr>
              <a:t>V2 meets ≥15× for single image; &lt;5 ms / batch is not achieved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E42BCC8-D061-418E-8908-19EC1547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592495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59128C-B433-4549-A81B-8B46D94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A66749-7A57-4058-A77A-2F579E89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679594-3F17-4CA2-B173-83513BF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04CB62-1EED-4D85-B316-721A988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Q&amp;A: V2, V3, and Batch Semantics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2068C1-C3B7-4BAA-AA85-60B039E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Short answers grounded in the code and T4 evidence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6CC1C5-9FC7-482F-80A9-8494F20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101F79-B18D-4D84-8A0A-76B30D94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Why does V2 miss &lt;5 ms / batch?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95EEB8-F399-4840-98D6-C909646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23444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O(B·N²) work, mask download, and CPU greedy resolution.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0C2A0B7-02ED-43B6-9398-78B046D8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736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2848F1C-C21F-4D51-95DF-36B84130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Does V3 match torchvision NMS?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FC85DA-C4E9-4912-A57D-6F01B298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46888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No. V3 matches the Matrix-NMS CPU oracle.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72B6DC7-BD99-445A-BEA3-32703C3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987C69F-D9FC-494C-AAC4-6B92C081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What does batch size 32 mean?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EAC9B71-62E8-4B57-938F-1911A5D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70332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32 independent images; grid.z selects the image.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A34360B-B820-4B8D-9B6E-9FD82F2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97271C-BC12-4117-83BB-C632F320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Why use Numba CUDA?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EB19D9-29FC-4500-9334-FB6B4DE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93776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Custom kernels while keeping the Python project pipeline.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4D33544-F22B-419C-B0E1-C1D7542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EEE2289-A740-4E9E-ABB9-8D2C461D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29476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8F7BA2-8C63-4D27-9664-6241FFEC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B6744B-58A4-4F77-97C2-C11C387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978FE-0CD4-4E7C-B7E3-899BB9B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44A38B-85E7-4DB3-8B81-35F9DB9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Appendix: V2 Hard NMS vs V3 Matrix NMS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8B8784-D6B9-4B7A-B115-97DE1F7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Why the outputs are validated against different references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664798-D932-4AFB-A15D-610FBAC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32852F-93A4-4B8E-B566-5FE901D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907FFC-45DB-419A-B612-76D60EF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V2 — Greedy Hard NMS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stable sort on host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builds batched uint64 masks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copy packed masks to host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CPU resolves greedy bitwise OR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matches CPU / torchvision indices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035D1D-5996-40B4-A480-CDDA7E3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E8908D-18FB-458C-AF40-2157027C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V3 — Matrix NMS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stable sort on host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finds max IoU per box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applies linear / Gaussian decay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copy scores and threshold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matches Matrix-NMS CPU oracle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936B637-3D0F-4350-9B31-E3E824F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769694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6CA912-6DC0-4F8F-A19A-15A3FBD9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035FAE-62B7-4A19-BB2E-59F363F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96F0FA-7029-4F93-99FC-360D82B2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D28380-5670-4A4F-9A95-14FF22EE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References &amp; Reproducibility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A018E4-AE09-40F5-B74C-D5EDE22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Code, correctness evidence, and measured results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121BC4-56DD-4731-873A-4F1E0D50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7069FCD-EB96-40AC-8F4D-53DD7807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8760"/>
            <a:ext cx="99669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Applied Parallel Programming — Track A4: Real-Time Non-Maximum Suppression.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Numba CUDA kernels: src/gpu_v1.py, src/gpu_v2.py, src/gpu_v3.py.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Greedy reference: CPU baseline and torchvision.ops.nms tests.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Matrix-NMS reference: matrix_nms_reference() and CUDA parity tests.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Tesla T4 evidence: pytest_t4_final.txt, benchmark_t4_single.json, batch32_t4.json.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4719C5-E44D-4EC3-A68F-F8FDAD96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92040"/>
            <a:ext cx="24688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351F45-B64B-43BC-8F8F-8E04B70B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978908"/>
            <a:ext cx="22860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Thank you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FB1DEB3-AA33-4B12-B67E-E4697366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32835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2026-07-30T21:46:48.0880000Z</dcterms:created>
  <dcterms:modified xsi:type="dcterms:W3CDTF">2026-07-30T21:46:48.0880000Z</dcterms:modified>
</coreProperties>
</file>