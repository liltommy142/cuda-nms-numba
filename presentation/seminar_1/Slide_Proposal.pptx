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8288000" cy="10287000"/>
  <p:notesSz cx="7772400" cy="10058400"/>
  <p:embeddedFontLst>
    <p:embeddedFont>
      <p:font typeface="Be Vietnam"/>
      <p:regular r:id="rId19"/>
    </p:embeddedFont>
    <p:embeddedFont>
      <p:font typeface="Be Vietnam Thin"/>
    </p:embeddedFont>
    <p:embeddedFont>
      <p:font typeface="Be Vietnam Ultra-Bold"/>
    </p:embeddedFont>
    <p:embeddedFont>
      <p:font typeface="Be Vietnam Medium"/>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font" Target="fonts/Font_1_Be_Vietnam_Regular.fntdata"/><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9144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C78DDC4-9622-46BB-8FBC-7B02936C03D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533520" y="764280"/>
            <a:ext cx="6704640" cy="3771360"/>
          </a:xfrm>
          <a:prstGeom prst="rect">
            <a:avLst/>
          </a:prstGeom>
          <a:ln w="0">
            <a:noFill/>
          </a:ln>
        </p:spPr>
      </p:sp>
      <p:sp>
        <p:nvSpPr>
          <p:cNvPr id="12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000" b="0" u="none" strike="noStrike">
                <a:solidFill>
                  <a:srgbClr val="000000"/>
                </a:solidFill>
                <a:effectLst/>
                <a:uFillTx/>
                <a:latin typeface="Arial"/>
              </a:rPr>
              <a:t>"Xin chào thầy/cô và các bạn. Nhóm em là Nhóm 11, đề tài A4: tăng tốc thuật toán Non-Maximum Suppression bằng GPU, dùng CUDA thông qua Numba, kèm thêm Matrix NMS. Em là [tên], cùng làm với [tên bạn còn lại] — phần tên đầy đủ nhóm em để ở slide cuối cùng." </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533520" y="764280"/>
            <a:ext cx="6704640" cy="3771360"/>
          </a:xfrm>
          <a:prstGeom prst="rect">
            <a:avLst/>
          </a:prstGeom>
          <a:ln w="0">
            <a:noFill/>
          </a:ln>
        </p:spPr>
      </p:sp>
      <p:sp>
        <p:nvSpPr>
          <p:cNvPr id="12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100" b="0" u="none" strike="noStrike">
                <a:solidFill>
                  <a:srgbClr val="000000"/>
                </a:solidFill>
                <a:effectLst/>
                <a:uFillTx/>
                <a:latin typeface="Arial"/>
              </a:rPr>
              <a:t>"Trước khi nói về giải pháp, nhóm em muốn nói rõ vấn đề đang giải quyết. Các mô hình object detection như YOLO sinh ra hàng nghìn box ứng viên cho mỗi ảnh — rất nhiều box trong đó trùng lặp lên cùng một vật thể. NMS có nhiệm vụ lọc bỏ các box trùng, chỉ giữ box tốt nhất. Vấn đề là NMS truyền thống chạy tuần tự, độ phức tạp O(n²)." </a:t>
            </a:r>
            <a:endParaRPr lang="en-US" sz="21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533520" y="764280"/>
            <a:ext cx="6704640" cy="3771360"/>
          </a:xfrm>
          <a:prstGeom prst="rect">
            <a:avLst/>
          </a:prstGeom>
          <a:ln w="0">
            <a:noFill/>
          </a:ln>
        </p:spPr>
      </p:sp>
      <p:sp>
        <p:nvSpPr>
          <p:cNvPr id="12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100" b="0" u="none" strike="noStrike">
                <a:solidFill>
                  <a:srgbClr val="000000"/>
                </a:solidFill>
                <a:effectLst/>
                <a:uFillTx/>
                <a:latin typeface="Arial"/>
              </a:rPr>
              <a:t>"Đây là lưu đồ của Greedy NMS truyền thống, để nhóm em và cả lớp cùng nhìn thống nhất trước khi vào phần kiến trúc GPU. Sắp xếp box theo điểm tin cậy giảm dần, chọn box điểm cao nhất, thêm vào keep list, rồi duyệt qua từng box còn lại — box nào chồng lấp (IoU) vượt ngưỡng với box vừa chọn thì bị loại, không thì giữ lại cho vòng sau. Lặp lại đến khi hết box. Vòng lặp 'duyệt từng box còn lại' này chính là phần tuần tự nhóm em sẽ nói kỹ ở 2 slide tiếp theo." </a:t>
            </a:r>
            <a:endParaRPr lang="en-US" sz="21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533520" y="764280"/>
            <a:ext cx="6704640" cy="3771360"/>
          </a:xfrm>
          <a:prstGeom prst="rect">
            <a:avLst/>
          </a:prstGeom>
          <a:ln w="0">
            <a:noFill/>
          </a:ln>
        </p:spPr>
      </p:sp>
      <p:sp>
        <p:nvSpPr>
          <p:cNvPr id="13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1800" b="0" u="none" strike="noStrike">
                <a:solidFill>
                  <a:srgbClr val="000000"/>
                </a:solidFill>
                <a:effectLst/>
                <a:uFillTx/>
                <a:latin typeface="Arial"/>
              </a:rPr>
              <a:t>"Nhóm em đã profile thật thuật toán này. Khi số box lên tới 1.000, bắt đầu thấy độ trễ rõ rệt. Khi lên 10.000, hệ thống nghẽn hẳn: khoảng 65% thời gian nằm ở vòng lặp khử trùng lặp tuần tự, 34% còn lại là hàm tính IoU. Đây là số đo ở giai đoạn viết proposal ban đầu, dùng để minh hoạ vì sao cần tăng tốc — phần kết quả benchmark chính thức trên Colab T4 sau này có bộ số khác (nhanh hơn về tỉ lệ tuyệt đối do khác điều kiện đo), nhóm em sẽ nói rõ ở phần kết quả để tránh nhầm lẫn nếu thầy/cô so 2 bộ số." </a:t>
            </a:r>
            <a:endParaRPr lang="en-US" sz="18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533520" y="764280"/>
            <a:ext cx="6704640" cy="3771360"/>
          </a:xfrm>
          <a:prstGeom prst="rect">
            <a:avLst/>
          </a:prstGeom>
          <a:ln w="0">
            <a:noFill/>
          </a:ln>
        </p:spPr>
      </p:sp>
      <p:sp>
        <p:nvSpPr>
          <p:cNvPr id="13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400" b="0" u="none" strike="noStrike">
                <a:solidFill>
                  <a:srgbClr val="000000"/>
                </a:solidFill>
                <a:effectLst/>
                <a:uFillTx/>
                <a:latin typeface="Arial"/>
              </a:rPr>
              <a:t>"Nhìn kỹ thuật toán, bước quyết định triệt tiêu mang tính tuần tự nghiêm ngặt: hộp B có được giữ lại hay không phụ thuộc trực tiếp vào việc hộp A điểm cao hơn đã bị xoá hay được giữ trước đó. Đây chính là thử thách xuyên suốt cả 3 phiên bản GPU nhóm em làm — mỗi phiên bản tấn công phần tuần tự này theo một cách khác nhau." </a:t>
            </a:r>
            <a:endParaRPr lang="en-US" sz="24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533520" y="764280"/>
            <a:ext cx="6704640" cy="3771360"/>
          </a:xfrm>
          <a:prstGeom prst="rect">
            <a:avLst/>
          </a:prstGeom>
          <a:ln w="0">
            <a:noFill/>
          </a:ln>
        </p:spPr>
      </p:sp>
      <p:sp>
        <p:nvSpPr>
          <p:cNvPr id="13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400" b="0" u="none" strike="noStrike">
                <a:solidFill>
                  <a:srgbClr val="000000"/>
                </a:solidFill>
                <a:effectLst/>
                <a:uFillTx/>
                <a:latin typeface="Arial"/>
              </a:rPr>
              <a:t>"Đây là lộ trình tổng quan trước khi đi vào chi tiết: từ CPU baseline làm mốc 1 lần, GPU V1 tăng tốc ban đầu 5 đến 10 lần, GPU V2 tối ưu thêm lên khoảng 15 lần, và GPU V3 — phiên bản đổi hẳn thuật toán — đạt mức 30 đến 80 lần. Nhóm em sẽ đi qua từng bước một." </a:t>
            </a:r>
            <a:endParaRPr lang="en-US" sz="24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533520" y="764280"/>
            <a:ext cx="6704640" cy="3771360"/>
          </a:xfrm>
          <a:prstGeom prst="rect">
            <a:avLst/>
          </a:prstGeom>
          <a:ln w="0">
            <a:noFill/>
          </a:ln>
        </p:spPr>
      </p:sp>
      <p:sp>
        <p:nvSpPr>
          <p:cNvPr id="13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000" b="0" u="none" strike="noStrike">
                <a:solidFill>
                  <a:srgbClr val="000000"/>
                </a:solidFill>
                <a:effectLst/>
                <a:uFillTx/>
                <a:latin typeface="Arial"/>
              </a:rPr>
              <a:t>"Bài toán có 2 nửa rất khác nhau. Tính IoU giữa các cặp box hoàn toàn độc lập với nhau — bài toán 'song song hoàn hảo', rất hợp để giao cho hàng nghìn thread GPU cùng lúc: với N box, có thể phân N² thread, mỗi thread lo đúng 1 cặp. Nhưng quyết định giữ hay loại box lại có tính tuần tự như slide trước đã nói. Đây chính là sợi chỉ xuyên suốt cả 3 phiên bản GPU." </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533520" y="764280"/>
            <a:ext cx="6704640" cy="3771360"/>
          </a:xfrm>
          <a:prstGeom prst="rect">
            <a:avLst/>
          </a:prstGeom>
          <a:ln w="0">
            <a:noFill/>
          </a:ln>
        </p:spPr>
      </p:sp>
      <p:sp>
        <p:nvSpPr>
          <p:cNvPr id="13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000" b="0" u="none" strike="noStrike">
                <a:solidFill>
                  <a:srgbClr val="000000"/>
                </a:solidFill>
                <a:effectLst/>
                <a:uFillTx/>
                <a:latin typeface="Arial"/>
              </a:rPr>
              <a:t>"Bắt đầu với V1 — naive nhất. Ý tưởng: giao cho N nhân N thread GPU, mỗi thread tính đúng 1 cặp IoU giữa box i và box j — toàn bộ ma trận IoU N×N tính xong chỉ trong 1 lần gọi kernel, vì các cặp hoàn toàn độc lập, không cần đồng bộ hoá. Sau khi có ma trận này, phần suppression vẫn chạy tuần tự trên CPU — nhưng khác CPU baseline ở chỗ: giờ chỉ là tra bảng có sẵn, không phải tính lại IoU mỗi vòng lặp." </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533520" y="764280"/>
            <a:ext cx="6704640" cy="3771360"/>
          </a:xfrm>
          <a:prstGeom prst="rect">
            <a:avLst/>
          </a:prstGeom>
          <a:ln w="0">
            <a:noFill/>
          </a:ln>
        </p:spPr>
      </p:sp>
      <p:sp>
        <p:nvSpPr>
          <p:cNvPr id="14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400" b="0" u="none" strike="noStrike">
                <a:solidFill>
                  <a:srgbClr val="000000"/>
                </a:solidFill>
                <a:effectLst/>
                <a:uFillTx/>
                <a:latin typeface="Arial"/>
              </a:rPr>
              <a:t>"V1 còn 2 nút thắt. Một, phải tải cả ma trận N×N về CPU qua đường truyền PCIe, dung lượng tăng theo N bình phương — ở N=10.000 là khoảng 400MB. Hai, vòng lặp loại bỏ tuần tự vẫn còn chạy trên CPU. Cần tiếp tục cải tiến với GPU v2: batched NMS và tối ưu phần cứng." </a:t>
            </a:r>
            <a:endParaRPr lang="en-US" sz="24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533520" y="764280"/>
            <a:ext cx="6704640" cy="3771360"/>
          </a:xfrm>
          <a:prstGeom prst="rect">
            <a:avLst/>
          </a:prstGeom>
          <a:ln w="0">
            <a:noFill/>
          </a:ln>
        </p:spPr>
      </p:sp>
      <p:sp>
        <p:nvSpPr>
          <p:cNvPr id="14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1800" b="0" u="none" strike="noStrike">
                <a:solidFill>
                  <a:srgbClr val="000000"/>
                </a:solidFill>
                <a:effectLst/>
                <a:uFillTx/>
                <a:latin typeface="Arial"/>
              </a:rPr>
              <a:t>"V2 tấn công đúng 2 điểm yếu đó của V1. Thứ nhất, về cách đọc bộ nhớ: V1 lưu box dạng mảng gộp 4 toạ độ, khiến các thread trong cùng một warp đọc bộ nhớ không liền mạch. V2 tách thành 4 mảng riêng x1, y1, x2, y2 — giờ các thread liền kề đọc đúng các ô nhớ liền kề nhau, gom lại thành 1 lần đọc hiệu quả thay vì nhiều lần. Thứ hai, về suppression: V2 gom box thành từng khối 64 và dùng parallel reduction để GPU tự nén luôn kết quả 'ai suppress ai' thành bitmask 64-bit — giảm dung lượng truyền đi khoảng 64 lần so với V1. Vòng lặp trên CPU vẫn còn một lần cho mỗi thứ hạng, nhưng giờ mỗi lần chỉ cần OR hai mảng rất ngắn thay vì so sánh cả một hàng dài như V1. Lưu ý: chữ 'batched' ở đây là gom nhóm 64 box để nén bitmask, khác với batch size 32 theo catalog đề tài — phần batch size 32 xử lý nhiều ảnh cùng lúc nhóm em chưa làm, sẽ nói rõ ở phần 'đang ở đâu'." </a:t>
            </a:r>
            <a:endParaRPr lang="en-US" sz="1800" b="0" u="none" strike="noStrike">
              <a:solidFill>
                <a:srgbClr val="000000"/>
              </a:solidFill>
              <a:effectLst/>
              <a:uFillTx/>
              <a:latin typeface="Arial"/>
            </a:endParaRPr>
          </a:p>
          <a:p>
            <a:pPr indent="0" algn="l">
              <a:spcBef>
                <a:spcPts val="1191"/>
              </a:spcBef>
              <a:spcAft>
                <a:spcPts val="992"/>
              </a:spcAft>
              <a:buNone/>
            </a:pPr>
            <a:r>
              <a:rPr lang="en-US" sz="1800" b="0" u="none" strike="noStrike">
                <a:solidFill>
                  <a:srgbClr val="000000"/>
                </a:solidFill>
                <a:effectLst/>
                <a:uFillTx/>
                <a:latin typeface="Arial"/>
              </a:rPr>
              <a:t>*(Nếu đã có số Colab thật, chèn: "Đo thật trên Colab, V2 nhanh hơn CPU X lần tại N=10.000." Nếu chưa, nói: "Phần này code đã xong và có bộ test riêng, nhóm em đang chờ chạy benchmark thật trên Colab.")*</a:t>
            </a:r>
            <a:endParaRPr lang="en-US" sz="18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533520" y="764280"/>
            <a:ext cx="6704640" cy="3771360"/>
          </a:xfrm>
          <a:prstGeom prst="rect">
            <a:avLst/>
          </a:prstGeom>
          <a:ln w="0">
            <a:noFill/>
          </a:ln>
        </p:spPr>
      </p:sp>
      <p:sp>
        <p:nvSpPr>
          <p:cNvPr id="14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100" b="0" u="none" strike="noStrike">
                <a:solidFill>
                  <a:srgbClr val="000000"/>
                </a:solidFill>
                <a:effectLst/>
                <a:uFillTx/>
                <a:latin typeface="Arial"/>
              </a:rPr>
              <a:t>"Nhưng V2 vẫn chưa giải quyết xong bài toán gốc. Thứ nhất, nó vẫn mang bản chất Greedy NMS: dù đã gom cụm và tối ưu phần cứng, quyết định giữ hay xoá box B vẫn phụ thuộc vào việc box điểm cao hơn đã bị xoá hay chưa. Thứ hai, việc dựng mặt nạ triệt tiêu bằng parallel reduction chỉ giảm độ trễ, chứ chưa triệt tiêu được tư duy so sánh tuần tự của thuật toán gốc. Đây là lý do V3 phải đổi hẳn thuật toán, không chỉ tối ưu thêm phần cứng." </a:t>
            </a:r>
            <a:endParaRPr lang="en-US" sz="21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533520" y="764280"/>
            <a:ext cx="6704640" cy="3771360"/>
          </a:xfrm>
          <a:prstGeom prst="rect">
            <a:avLst/>
          </a:prstGeom>
          <a:ln w="0">
            <a:noFill/>
          </a:ln>
        </p:spPr>
      </p:sp>
      <p:sp>
        <p:nvSpPr>
          <p:cNvPr id="14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000" b="0" u="none" strike="noStrike">
                <a:solidFill>
                  <a:srgbClr val="000000"/>
                </a:solidFill>
                <a:effectLst/>
                <a:uFillTx/>
                <a:latin typeface="Arial"/>
              </a:rPr>
              <a:t>"V3 đi xa hơn — không chỉ tối ưu cách làm, mà đổi hẳn thuật toán. NMS truyền thống là 'hard suppression': giữ hoặc loại dứt khoát, và phải làm theo đúng thứ tự điểm số nên buộc phải tuần tự. V3 dùng Matrix NMS của Wang và cộng sự năm 2020 — 'soft suppression': thay vì loại hẳn, mỗi box tự giảm dần điểm số theo mức độ chồng lấp. Ba ưu điểm chính: tốc độ vượt trội, độ chính xác cao hơn vì không xoá nhầm box, và không tốn thêm tài nguyên huấn luyện vì đây chỉ là bước hậu xử lý. Cách làm gồm 2 bước, cả hai đều chạy song song hoàn toàn cho mọi box cùng lúc, không còn vòng lặp nào chạy trên CPU nữa: bước một, mỗi box tự tính độ chồng lấp lớn nhất với các box điểm cao hơn nó; bước hai, mỗi box dùng con số đó để tự tính hệ số giảm điểm của chính mình." </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533520" y="764280"/>
            <a:ext cx="6704640" cy="3771360"/>
          </a:xfrm>
          <a:prstGeom prst="rect">
            <a:avLst/>
          </a:prstGeom>
          <a:ln w="0">
            <a:noFill/>
          </a:ln>
        </p:spPr>
      </p:sp>
      <p:sp>
        <p:nvSpPr>
          <p:cNvPr id="14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100" b="0" u="none" strike="noStrike">
                <a:solidFill>
                  <a:srgbClr val="000000"/>
                </a:solidFill>
                <a:effectLst/>
                <a:uFillTx/>
                <a:latin typeface="Arial"/>
              </a:rPr>
              <a:t>"Điều nhóm em muốn nói rõ ngay tại đây, không đợi bị hỏi: V3 không chỉ nhanh hơn mà còn giải quyết được một trường hợp mà hard NMS hay xử lý sai — khi 2 vật thể khác nhau đứng sát nhau, IoU giữa 2 box thật cao dù là 2 vật thể riêng biệt, V1/V2 có thể xoá nhầm 1 trong 2 box đúng. V3 chỉ giảm điểm chứ không xoá hẳn, nên cả 2 box vẫn có thể sống sót nếu điểm còn đủ cao. Đổi lại, vì đổi thuật toán, tập box V3 giữ lại sẽ không còn khớp y hệt như CPU baseline hay V1/V2 nữa — đây là một đánh đổi có chủ đích, không phải lỗi." </a:t>
            </a:r>
            <a:endParaRPr lang="en-US" sz="21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533520" y="764280"/>
            <a:ext cx="6704640" cy="3771360"/>
          </a:xfrm>
          <a:prstGeom prst="rect">
            <a:avLst/>
          </a:prstGeom>
          <a:ln w="0">
            <a:noFill/>
          </a:ln>
        </p:spPr>
      </p:sp>
      <p:sp>
        <p:nvSpPr>
          <p:cNvPr id="15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2000" b="0" u="none" strike="noStrike">
                <a:solidFill>
                  <a:srgbClr val="000000"/>
                </a:solidFill>
                <a:effectLst/>
                <a:uFillTx/>
                <a:latin typeface="Arial"/>
              </a:rPr>
              <a:t>"Tóm lại tại sao Matrix NMS song song hoá được hoàn toàn: một, nó phá vỡ chuỗi phụ thuộc tuần tự — không cần biết box A có bị xoá hay không mới quyết định được box B. Hai, hệ số suy giảm của mỗi box được tính hoàn toàn độc lập, chỉ dựa trên mức chồng lấp lớn nhất với các box điểm cao hơn nó. Ba, về bản chất phép toán này quy về 1 lần duyệt ma trận IoU song song và 1 phép nhân ma trận điểm số — thực thi đồng loạt trên GPU, đạt tốc độ vượt trội 30 đến 80 lần." </a:t>
            </a:r>
            <a:endParaRPr lang="en-US" sz="20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spcBef>
                <a:spcPts val="1191"/>
              </a:spcBef>
              <a:spcAft>
                <a:spcPts val="992"/>
              </a:spcAft>
              <a:buNone/>
            </a:pPr>
            <a:r>
              <a:rPr lang="en-US" sz="1400" b="0" u="none" strike="noStrike">
                <a:solidFill>
                  <a:srgbClr val="000000"/>
                </a:solidFill>
                <a:effectLst/>
                <a:uFillTx/>
                <a:latin typeface="Arial"/>
              </a:rPr>
              <a:t>"Đó là toàn bộ phần trình bày của nhóm em — Lê Quang Tân và Phùng Quốc Tuấn. Cảm ơn thầy/cô và các bạn đã lắng nghe, nhóm em sẵn sàng nhận câu hỏi." </a:t>
            </a:r>
            <a:endParaRPr lang="en-US" sz="1400" b="0" u="none" strike="noStrike">
              <a:solidFill>
                <a:srgbClr val="000000"/>
              </a:solidFill>
              <a:effectLst/>
              <a:uFillTx/>
              <a:latin typeface="Arial"/>
            </a:endParaRPr>
          </a:p>
        </p:txBody>
      </p:sp>
      <p:sp>
        <p:nvSpPr>
          <p:cNvPr id="152" name=""/>
          <p:cNvSpPr txBox="1"/>
          <p:nvPr/>
        </p:nvSpPr>
        <p:spPr>
          <a:xfrm>
            <a:off x="685800" y="685800"/>
            <a:ext cx="6172200" cy="3429000"/>
          </a:xfrm>
          <a:prstGeom prst="rect">
            <a:avLst/>
          </a:prstGeom>
          <a:noFill/>
          <a:ln w="0">
            <a:noFill/>
          </a:ln>
        </p:spPr>
        <p:txBody>
          <a:bodyPr lIns="90000" tIns="45000" rIns="90000" bIns="45000" anchor="ctr">
            <a:spAutoFit/>
          </a:bodyPr>
          <a:p>
            <a:r>
              <a:rPr lang="en-US" sz="1800" b="0" u="none" strike="noStrike">
                <a:solidFill>
                  <a:srgbClr val="000000"/>
                </a:solidFill>
                <a:effectLst/>
                <a:uFillTx/>
                <a:latin typeface="Arial"/>
              </a:rPr>
              <a:t>Thanks for your listening!</a:t>
            </a:r>
            <a:endParaRPr lang="en-US" sz="18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401B2C9-4DD0-4F4A-AB7B-EBA78C181EB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6EB5619-1FF4-427B-ACCA-0FB9BCFDA61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40D3251-E59F-47A4-BA25-A61832212DB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DA73BE8-2BC1-41D3-A6D1-5BD8F129C81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6776E1C-F20E-487E-864F-31565D7009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647FEC5-104F-41FD-8413-2B82FFA1A30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8387CC7-B962-4783-8761-46560586D08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0EE9374-AA32-453C-B2B6-5461A575878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B3753ED-403F-4114-B15B-1233609EC18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9BD785F-36E7-4B2F-9FB4-03A27562FD6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C4B4482-1EC8-4C18-BCB8-FE86FEE0FCE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AutoShape 2"/>
          <p:cNvSpPr/>
          <p:nvPr/>
        </p:nvSpPr>
        <p:spPr>
          <a:xfrm>
            <a:off x="-94680" y="0"/>
            <a:ext cx="11378520" cy="10286640"/>
          </a:xfrm>
          <a:prstGeom prst="rect">
            <a:avLst/>
          </a:pr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TextBox 3"/>
          <p:cNvSpPr/>
          <p:nvPr/>
        </p:nvSpPr>
        <p:spPr>
          <a:xfrm>
            <a:off x="985680" y="1690560"/>
            <a:ext cx="8369280" cy="3887640"/>
          </a:xfrm>
          <a:prstGeom prst="rect">
            <a:avLst/>
          </a:prstGeom>
          <a:noFill/>
          <a:ln w="0">
            <a:noFill/>
          </a:ln>
        </p:spPr>
        <p:style>
          <a:lnRef idx="0"/>
          <a:fillRef idx="0"/>
          <a:effectRef idx="0"/>
          <a:fontRef idx="minor"/>
        </p:style>
        <p:txBody>
          <a:bodyPr lIns="0" tIns="0" rIns="0" bIns="0" anchor="t">
            <a:spAutoFit/>
          </a:bodyPr>
          <a:p>
            <a:pPr defTabSz="914400">
              <a:lnSpc>
                <a:spcPts val="7770"/>
              </a:lnSpc>
            </a:pPr>
            <a:r>
              <a:rPr lang="en-US" sz="5550" b="0" u="none" spc="-111" strike="noStrike">
                <a:solidFill>
                  <a:srgbClr val="000000"/>
                </a:solidFill>
                <a:effectLst/>
                <a:uFillTx/>
                <a:latin typeface="Be Vietnam Thin"/>
                <a:ea typeface="Be Vietnam Thin"/>
              </a:rPr>
              <a:t>Real-Time Non-Maximum Suppression</a:t>
            </a:r>
            <a:endParaRPr lang="en-US" sz="5550" b="0" u="none" strike="noStrike">
              <a:solidFill>
                <a:srgbClr val="000000"/>
              </a:solidFill>
              <a:effectLst/>
              <a:uFillTx/>
              <a:latin typeface="Arial"/>
            </a:endParaRPr>
          </a:p>
          <a:p>
            <a:pPr defTabSz="914400">
              <a:lnSpc>
                <a:spcPts val="7770"/>
              </a:lnSpc>
            </a:pPr>
            <a:r>
              <a:rPr lang="en-US" sz="5550" b="0" u="none" spc="-111" strike="noStrike">
                <a:solidFill>
                  <a:srgbClr val="000000"/>
                </a:solidFill>
                <a:effectLst/>
                <a:uFillTx/>
                <a:latin typeface="Be Vietnam Thin"/>
                <a:ea typeface="Be Vietnam Thin"/>
              </a:rPr>
              <a:t>for Object Detection</a:t>
            </a:r>
            <a:endParaRPr lang="en-US" sz="5550" b="0" u="none" strike="noStrike">
              <a:solidFill>
                <a:srgbClr val="000000"/>
              </a:solidFill>
              <a:effectLst/>
              <a:uFillTx/>
              <a:latin typeface="Arial"/>
            </a:endParaRPr>
          </a:p>
          <a:p>
            <a:pPr defTabSz="914400">
              <a:lnSpc>
                <a:spcPts val="7770"/>
              </a:lnSpc>
            </a:pPr>
            <a:endParaRPr lang="en-US" sz="1800" b="0" u="none" strike="noStrike">
              <a:solidFill>
                <a:srgbClr val="000000"/>
              </a:solidFill>
              <a:effectLst/>
              <a:uFillTx/>
              <a:latin typeface="Arial"/>
            </a:endParaRPr>
          </a:p>
        </p:txBody>
      </p:sp>
      <p:grpSp>
        <p:nvGrpSpPr>
          <p:cNvPr id="69" name="Group 4"/>
          <p:cNvGrpSpPr/>
          <p:nvPr/>
        </p:nvGrpSpPr>
        <p:grpSpPr>
          <a:xfrm>
            <a:off x="11284200" y="0"/>
            <a:ext cx="7003440" cy="10286640"/>
            <a:chOff x="11284200" y="0"/>
            <a:chExt cx="7003440" cy="10286640"/>
          </a:xfrm>
        </p:grpSpPr>
        <p:pic>
          <p:nvPicPr>
            <p:cNvPr id="70" name="Picture 5"/>
            <p:cNvPicPr/>
            <p:nvPr/>
          </p:nvPicPr>
          <p:blipFill>
            <a:blip r:embed="rId1"/>
            <a:srcRect l="4610" t="0" r="4610" b="0"/>
            <a:stretch/>
          </p:blipFill>
          <p:spPr>
            <a:xfrm>
              <a:off x="11284200" y="0"/>
              <a:ext cx="7003440" cy="10286640"/>
            </a:xfrm>
            <a:prstGeom prst="rect">
              <a:avLst/>
            </a:prstGeom>
            <a:noFill/>
            <a:ln w="0">
              <a:noFill/>
            </a:ln>
          </p:spPr>
        </p:pic>
      </p:grpSp>
      <p:sp>
        <p:nvSpPr>
          <p:cNvPr id="71" name="TextBox 6"/>
          <p:cNvSpPr/>
          <p:nvPr/>
        </p:nvSpPr>
        <p:spPr>
          <a:xfrm>
            <a:off x="985680" y="4755600"/>
            <a:ext cx="8369280" cy="387720"/>
          </a:xfrm>
          <a:prstGeom prst="rect">
            <a:avLst/>
          </a:prstGeom>
          <a:noFill/>
          <a:ln w="0">
            <a:noFill/>
          </a:ln>
        </p:spPr>
        <p:style>
          <a:lnRef idx="0"/>
          <a:fillRef idx="0"/>
          <a:effectRef idx="0"/>
          <a:fontRef idx="minor"/>
        </p:style>
        <p:txBody>
          <a:bodyPr lIns="0" tIns="0" rIns="0" bIns="0" anchor="t">
            <a:spAutoFit/>
          </a:bodyPr>
          <a:p>
            <a:pPr defTabSz="914400">
              <a:lnSpc>
                <a:spcPts val="3291"/>
              </a:lnSpc>
            </a:pPr>
            <a:r>
              <a:rPr lang="en-US" sz="2350" b="0" u="none" strike="noStrike">
                <a:solidFill>
                  <a:srgbClr val="000000"/>
                </a:solidFill>
                <a:effectLst/>
                <a:uFillTx/>
                <a:latin typeface="Be Vietnam Thin"/>
                <a:ea typeface="Be Vietnam Thin"/>
              </a:rPr>
              <a:t>Numba-CUDA &amp; Matrix NMS Accelerated Pipeline on GPU</a:t>
            </a:r>
            <a:endParaRPr lang="en-US" sz="2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2" name="Group 2"/>
          <p:cNvGrpSpPr/>
          <p:nvPr/>
        </p:nvGrpSpPr>
        <p:grpSpPr>
          <a:xfrm>
            <a:off x="0" y="0"/>
            <a:ext cx="18287640" cy="4357800"/>
            <a:chOff x="0" y="0"/>
            <a:chExt cx="18287640" cy="4357800"/>
          </a:xfrm>
        </p:grpSpPr>
        <p:sp>
          <p:nvSpPr>
            <p:cNvPr id="73" name="Freeform 3"/>
            <p:cNvSpPr/>
            <p:nvPr/>
          </p:nvSpPr>
          <p:spPr>
            <a:xfrm>
              <a:off x="0" y="0"/>
              <a:ext cx="18287640" cy="4357800"/>
            </a:xfrm>
            <a:custGeom>
              <a:avLst/>
              <a:gdLst>
                <a:gd name="textAreaLeft" fmla="*/ 0 w 18287640"/>
                <a:gd name="textAreaRight" fmla="*/ 18288000 w 18287640"/>
                <a:gd name="textAreaTop" fmla="*/ 0 h 4357800"/>
                <a:gd name="textAreaBottom" fmla="*/ 4358160 h 4357800"/>
              </a:gdLst>
              <a:ahLst/>
              <a:cxnLst/>
              <a:rect l="textAreaLeft" t="textAreaTop" r="textAreaRight" b="textAreaBottom"/>
              <a:pathLst>
                <a:path w="6186311" h="1474182">
                  <a:moveTo>
                    <a:pt x="0" y="0"/>
                  </a:moveTo>
                  <a:lnTo>
                    <a:pt x="6186311" y="0"/>
                  </a:lnTo>
                  <a:lnTo>
                    <a:pt x="6186311" y="1474182"/>
                  </a:lnTo>
                  <a:lnTo>
                    <a:pt x="0" y="1474182"/>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74" name="Freeform 4"/>
          <p:cNvSpPr/>
          <p:nvPr/>
        </p:nvSpPr>
        <p:spPr>
          <a:xfrm>
            <a:off x="8308800" y="273240"/>
            <a:ext cx="8950320" cy="5020560"/>
          </a:xfrm>
          <a:custGeom>
            <a:avLst/>
            <a:gdLst>
              <a:gd name="textAreaLeft" fmla="*/ 0 w 8950320"/>
              <a:gd name="textAreaRight" fmla="*/ 8950680 w 8950320"/>
              <a:gd name="textAreaTop" fmla="*/ 0 h 5020560"/>
              <a:gd name="textAreaBottom" fmla="*/ 5020920 h 5020560"/>
            </a:gdLst>
            <a:ahLst/>
            <a:cxnLst/>
            <a:rect l="textAreaLeft" t="textAreaTop" r="textAreaRight" b="textAreaBottom"/>
            <a:pathLst>
              <a:path w="8950538" h="5021034">
                <a:moveTo>
                  <a:pt x="0" y="0"/>
                </a:moveTo>
                <a:lnTo>
                  <a:pt x="8950538" y="0"/>
                </a:lnTo>
                <a:lnTo>
                  <a:pt x="8950538" y="5021034"/>
                </a:lnTo>
                <a:lnTo>
                  <a:pt x="0" y="5021034"/>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Box 5"/>
          <p:cNvSpPr/>
          <p:nvPr/>
        </p:nvSpPr>
        <p:spPr>
          <a:xfrm>
            <a:off x="-2078280" y="1101240"/>
            <a:ext cx="7661520" cy="1279080"/>
          </a:xfrm>
          <a:prstGeom prst="rect">
            <a:avLst/>
          </a:prstGeom>
          <a:noFill/>
          <a:ln w="0">
            <a:noFill/>
          </a:ln>
        </p:spPr>
        <p:style>
          <a:lnRef idx="0"/>
          <a:fillRef idx="0"/>
          <a:effectRef idx="0"/>
          <a:fontRef idx="minor"/>
        </p:style>
        <p:txBody>
          <a:bodyPr lIns="0" tIns="0" rIns="0" bIns="0" anchor="t">
            <a:spAutoFit/>
          </a:bodyPr>
          <a:p>
            <a:pPr algn="r" defTabSz="914400">
              <a:lnSpc>
                <a:spcPts val="10463"/>
              </a:lnSpc>
              <a:tabLst>
                <a:tab pos="0" algn="l"/>
              </a:tabLst>
            </a:pPr>
            <a:r>
              <a:rPr lang="en-US" sz="7469" b="1" u="none" strike="noStrike">
                <a:solidFill>
                  <a:srgbClr val="000000"/>
                </a:solidFill>
                <a:effectLst/>
                <a:uFillTx/>
                <a:latin typeface="Be Vietnam Ultra-Bold"/>
                <a:ea typeface="Be Vietnam Ultra-Bold"/>
              </a:rPr>
              <a:t>Problem</a:t>
            </a:r>
            <a:endParaRPr lang="en-US" sz="7469" b="0" u="none" strike="noStrike">
              <a:solidFill>
                <a:srgbClr val="000000"/>
              </a:solidFill>
              <a:effectLst/>
              <a:uFillTx/>
              <a:latin typeface="Arial"/>
            </a:endParaRPr>
          </a:p>
        </p:txBody>
      </p:sp>
      <p:sp>
        <p:nvSpPr>
          <p:cNvPr id="76" name="TextBox 6"/>
          <p:cNvSpPr/>
          <p:nvPr/>
        </p:nvSpPr>
        <p:spPr>
          <a:xfrm>
            <a:off x="720000" y="5434200"/>
            <a:ext cx="15838560" cy="4045680"/>
          </a:xfrm>
          <a:prstGeom prst="rect">
            <a:avLst/>
          </a:prstGeom>
          <a:noFill/>
          <a:ln w="0">
            <a:noFill/>
          </a:ln>
        </p:spPr>
        <p:style>
          <a:lnRef idx="0"/>
          <a:fillRef idx="0"/>
          <a:effectRef idx="0"/>
          <a:fontRef idx="minor"/>
        </p:style>
        <p:txBody>
          <a:bodyPr lIns="0" tIns="0" rIns="0" bIns="0" anchor="t">
            <a:spAutoFit/>
          </a:bodyPr>
          <a:p>
            <a:pPr defTabSz="914400">
              <a:lnSpc>
                <a:spcPts val="3900"/>
              </a:lnSpc>
            </a:pPr>
            <a:r>
              <a:rPr lang="en-US" sz="2780" b="0" u="none" strike="noStrike">
                <a:solidFill>
                  <a:srgbClr val="000000"/>
                </a:solidFill>
                <a:effectLst/>
                <a:uFillTx/>
                <a:latin typeface="Be Vietnam"/>
                <a:ea typeface="Be Vietnam"/>
              </a:rPr>
              <a:t>       Các mô hình Object Detection hiện nay như YOLO, SSD hay Faster R-CNN tạo ra hàng ngàn bounding boxes ứng viên cho mỗi khung hình. Thuật toán Non-Maximum Suppression (NMS) có nhiệm vụ lọc các hộp trùng lặp thông qua việc so khớp độ phủ IoU nhằm giữ lại những hộp tối ưu nhất.</a:t>
            </a:r>
            <a:endParaRPr lang="en-US" sz="2780" b="0" u="none" strike="noStrike">
              <a:solidFill>
                <a:srgbClr val="000000"/>
              </a:solidFill>
              <a:effectLst/>
              <a:uFillTx/>
              <a:latin typeface="Arial"/>
            </a:endParaRPr>
          </a:p>
          <a:p>
            <a:pPr defTabSz="914400">
              <a:lnSpc>
                <a:spcPts val="3900"/>
              </a:lnSpc>
            </a:pPr>
            <a:r>
              <a:rPr lang="en-US" sz="2780" b="0" u="none" strike="noStrike">
                <a:solidFill>
                  <a:srgbClr val="000000"/>
                </a:solidFill>
                <a:effectLst/>
                <a:uFillTx/>
                <a:latin typeface="Be Vietnam"/>
                <a:ea typeface="Be Vietnam"/>
              </a:rPr>
              <a:t>      Trên CPU, thuật toán Greedy NMS truyền thống thực thi tuần tự với độ phức tạp cực lớn On,  gây nên điểm nghẽn nghiêm trọng cho hệ thống trong quá trình suy luận (inference), đặc biệt khi xử lý ảnh ở chế độ batch size lớn hoặc các phân cảnh chứa hàng loạt vật thể phức tạp.</a:t>
            </a:r>
            <a:endParaRPr lang="en-US" sz="2780" b="0" u="none" strike="noStrike">
              <a:solidFill>
                <a:srgbClr val="000000"/>
              </a:solidFill>
              <a:effectLst/>
              <a:uFillTx/>
              <a:latin typeface="Arial"/>
            </a:endParaRPr>
          </a:p>
          <a:p>
            <a:pPr defTabSz="914400">
              <a:lnSpc>
                <a:spcPts val="4740"/>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Freeform 2"/>
          <p:cNvSpPr/>
          <p:nvPr/>
        </p:nvSpPr>
        <p:spPr>
          <a:xfrm>
            <a:off x="802800" y="228240"/>
            <a:ext cx="8340840" cy="9830160"/>
          </a:xfrm>
          <a:custGeom>
            <a:avLst/>
            <a:gdLst>
              <a:gd name="textAreaLeft" fmla="*/ 0 w 8340840"/>
              <a:gd name="textAreaRight" fmla="*/ 8341200 w 8340840"/>
              <a:gd name="textAreaTop" fmla="*/ 0 h 9830160"/>
              <a:gd name="textAreaBottom" fmla="*/ 9830520 h 9830160"/>
            </a:gdLst>
            <a:ahLst/>
            <a:cxnLst/>
            <a:rect l="textAreaLeft" t="textAreaTop" r="textAreaRight" b="textAreaBottom"/>
            <a:pathLst>
              <a:path w="8341061" h="9830665">
                <a:moveTo>
                  <a:pt x="0" y="0"/>
                </a:moveTo>
                <a:lnTo>
                  <a:pt x="8341061" y="0"/>
                </a:lnTo>
                <a:lnTo>
                  <a:pt x="8341061" y="9830664"/>
                </a:lnTo>
                <a:lnTo>
                  <a:pt x="0" y="9830664"/>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TextBox 3"/>
          <p:cNvSpPr/>
          <p:nvPr/>
        </p:nvSpPr>
        <p:spPr>
          <a:xfrm>
            <a:off x="11252520" y="4185720"/>
            <a:ext cx="5501160" cy="1234800"/>
          </a:xfrm>
          <a:prstGeom prst="rect">
            <a:avLst/>
          </a:prstGeom>
          <a:noFill/>
          <a:ln w="0">
            <a:noFill/>
          </a:ln>
        </p:spPr>
        <p:style>
          <a:lnRef idx="0"/>
          <a:fillRef idx="0"/>
          <a:effectRef idx="0"/>
          <a:fontRef idx="minor"/>
        </p:style>
        <p:txBody>
          <a:bodyPr lIns="0" tIns="0" rIns="0" bIns="0" anchor="t">
            <a:spAutoFit/>
          </a:bodyPr>
          <a:p>
            <a:pPr defTabSz="914400">
              <a:lnSpc>
                <a:spcPts val="10174"/>
              </a:lnSpc>
              <a:tabLst>
                <a:tab pos="0" algn="l"/>
              </a:tabLst>
            </a:pPr>
            <a:r>
              <a:rPr lang="en-US" sz="7269" b="0" u="none" strike="noStrike">
                <a:solidFill>
                  <a:srgbClr val="000000"/>
                </a:solidFill>
                <a:effectLst/>
                <a:uFillTx/>
                <a:latin typeface="Be Vietnam Thin"/>
                <a:ea typeface="Be Vietnam Thin"/>
              </a:rPr>
              <a:t>NMS Greedy</a:t>
            </a:r>
            <a:endParaRPr lang="en-US" sz="726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9" name="Group 2"/>
          <p:cNvGrpSpPr/>
          <p:nvPr/>
        </p:nvGrpSpPr>
        <p:grpSpPr>
          <a:xfrm>
            <a:off x="0" y="0"/>
            <a:ext cx="18287640" cy="4357800"/>
            <a:chOff x="0" y="0"/>
            <a:chExt cx="18287640" cy="4357800"/>
          </a:xfrm>
        </p:grpSpPr>
        <p:sp>
          <p:nvSpPr>
            <p:cNvPr id="80" name="Freeform 3"/>
            <p:cNvSpPr/>
            <p:nvPr/>
          </p:nvSpPr>
          <p:spPr>
            <a:xfrm>
              <a:off x="0" y="0"/>
              <a:ext cx="18287640" cy="4357800"/>
            </a:xfrm>
            <a:custGeom>
              <a:avLst/>
              <a:gdLst>
                <a:gd name="textAreaLeft" fmla="*/ 0 w 18287640"/>
                <a:gd name="textAreaRight" fmla="*/ 18288000 w 18287640"/>
                <a:gd name="textAreaTop" fmla="*/ 0 h 4357800"/>
                <a:gd name="textAreaBottom" fmla="*/ 4358160 h 4357800"/>
              </a:gdLst>
              <a:ahLst/>
              <a:cxnLst/>
              <a:rect l="textAreaLeft" t="textAreaTop" r="textAreaRight" b="textAreaBottom"/>
              <a:pathLst>
                <a:path w="6186311" h="1474182">
                  <a:moveTo>
                    <a:pt x="0" y="0"/>
                  </a:moveTo>
                  <a:lnTo>
                    <a:pt x="6186311" y="0"/>
                  </a:lnTo>
                  <a:lnTo>
                    <a:pt x="6186311" y="1474182"/>
                  </a:lnTo>
                  <a:lnTo>
                    <a:pt x="0" y="1474182"/>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81" name="Freeform 4"/>
          <p:cNvSpPr/>
          <p:nvPr/>
        </p:nvSpPr>
        <p:spPr>
          <a:xfrm>
            <a:off x="4548240" y="2284920"/>
            <a:ext cx="9621360" cy="4146120"/>
          </a:xfrm>
          <a:custGeom>
            <a:avLst/>
            <a:gdLst>
              <a:gd name="textAreaLeft" fmla="*/ 0 w 9621360"/>
              <a:gd name="textAreaRight" fmla="*/ 9621720 w 9621360"/>
              <a:gd name="textAreaTop" fmla="*/ 0 h 4146120"/>
              <a:gd name="textAreaBottom" fmla="*/ 4146480 h 4146120"/>
            </a:gdLst>
            <a:ahLst/>
            <a:cxnLst/>
            <a:rect l="textAreaLeft" t="textAreaTop" r="textAreaRight" b="textAreaBottom"/>
            <a:pathLst>
              <a:path w="9621813" h="4146417">
                <a:moveTo>
                  <a:pt x="0" y="0"/>
                </a:moveTo>
                <a:lnTo>
                  <a:pt x="9621813" y="0"/>
                </a:lnTo>
                <a:lnTo>
                  <a:pt x="9621813" y="4146417"/>
                </a:lnTo>
                <a:lnTo>
                  <a:pt x="0" y="4146417"/>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 name="TextBox 5"/>
          <p:cNvSpPr/>
          <p:nvPr/>
        </p:nvSpPr>
        <p:spPr>
          <a:xfrm>
            <a:off x="657000" y="6865200"/>
            <a:ext cx="17877240" cy="3292200"/>
          </a:xfrm>
          <a:prstGeom prst="rect">
            <a:avLst/>
          </a:prstGeom>
          <a:noFill/>
          <a:ln w="0">
            <a:noFill/>
          </a:ln>
        </p:spPr>
        <p:style>
          <a:lnRef idx="0"/>
          <a:fillRef idx="0"/>
          <a:effectRef idx="0"/>
          <a:fontRef idx="minor"/>
        </p:style>
        <p:txBody>
          <a:bodyPr lIns="0" tIns="0" rIns="0" bIns="0" anchor="t">
            <a:spAutoFit/>
          </a:bodyPr>
          <a:p>
            <a:pPr defTabSz="914400">
              <a:lnSpc>
                <a:spcPts val="4374"/>
              </a:lnSpc>
            </a:pPr>
            <a:r>
              <a:rPr lang="en-US" sz="3120" b="0" u="none" strike="noStrike">
                <a:solidFill>
                  <a:srgbClr val="000000"/>
                </a:solidFill>
                <a:effectLst/>
                <a:uFillTx/>
                <a:latin typeface="Be Vietnam"/>
                <a:ea typeface="Be Vietnam"/>
              </a:rPr>
              <a:t>-Khi số lượng box lên 1000, bắt đầu xuất hiện độ trễ</a:t>
            </a:r>
            <a:endParaRPr lang="en-US" sz="3120" b="0" u="none" strike="noStrike">
              <a:solidFill>
                <a:srgbClr val="000000"/>
              </a:solidFill>
              <a:effectLst/>
              <a:uFillTx/>
              <a:latin typeface="Arial"/>
            </a:endParaRPr>
          </a:p>
          <a:p>
            <a:pPr defTabSz="914400">
              <a:lnSpc>
                <a:spcPts val="4374"/>
              </a:lnSpc>
            </a:pPr>
            <a:r>
              <a:rPr lang="en-US" sz="3120" b="0" u="none" strike="noStrike">
                <a:solidFill>
                  <a:srgbClr val="000000"/>
                </a:solidFill>
                <a:effectLst/>
                <a:uFillTx/>
                <a:latin typeface="Be Vietnam"/>
                <a:ea typeface="Be Vietnam"/>
              </a:rPr>
              <a:t>-Khi số lượng box lên 10000, hệ thống đã nghẽn: </a:t>
            </a:r>
            <a:endParaRPr lang="en-US" sz="3120" b="0" u="none" strike="noStrike">
              <a:solidFill>
                <a:srgbClr val="000000"/>
              </a:solidFill>
              <a:effectLst/>
              <a:uFillTx/>
              <a:latin typeface="Arial"/>
            </a:endParaRPr>
          </a:p>
          <a:p>
            <a:pPr defTabSz="914400">
              <a:lnSpc>
                <a:spcPts val="4374"/>
              </a:lnSpc>
            </a:pPr>
            <a:r>
              <a:rPr lang="en-US" sz="3120" b="0" u="none" strike="noStrike">
                <a:solidFill>
                  <a:srgbClr val="000000"/>
                </a:solidFill>
                <a:effectLst/>
                <a:uFillTx/>
                <a:latin typeface="Be Vietnam"/>
                <a:ea typeface="Be Vietnam"/>
              </a:rPr>
              <a:t> + 65% thời gian (~0.189s): Tiêu tốn trực tiếp trong vòng lặp khử trùng lặp tuần tự (suppression loop).</a:t>
            </a:r>
            <a:endParaRPr lang="en-US" sz="3120" b="0" u="none" strike="noStrike">
              <a:solidFill>
                <a:srgbClr val="000000"/>
              </a:solidFill>
              <a:effectLst/>
              <a:uFillTx/>
              <a:latin typeface="Arial"/>
            </a:endParaRPr>
          </a:p>
          <a:p>
            <a:pPr defTabSz="914400">
              <a:lnSpc>
                <a:spcPts val="4374"/>
              </a:lnSpc>
            </a:pPr>
            <a:r>
              <a:rPr lang="en-US" sz="3120" b="0" u="none" strike="noStrike">
                <a:solidFill>
                  <a:srgbClr val="000000"/>
                </a:solidFill>
                <a:effectLst/>
                <a:uFillTx/>
                <a:latin typeface="Be Vietnam"/>
                <a:ea typeface="Be Vietnam"/>
              </a:rPr>
              <a:t> + 34% thời gian (~0.098s): Nằm tại hàm tính toán khoảng cách IoU giữa các bounding boxes.</a:t>
            </a:r>
            <a:endParaRPr lang="en-US" sz="3120" b="0" u="none" strike="noStrike">
              <a:solidFill>
                <a:srgbClr val="000000"/>
              </a:solidFill>
              <a:effectLst/>
              <a:uFillTx/>
              <a:latin typeface="Arial"/>
            </a:endParaRPr>
          </a:p>
          <a:p>
            <a:pPr algn="just" defTabSz="914400">
              <a:lnSpc>
                <a:spcPts val="4374"/>
              </a:lnSpc>
            </a:pPr>
            <a:endParaRPr lang="en-US" sz="1800" b="0" u="none" strike="noStrike">
              <a:solidFill>
                <a:srgbClr val="000000"/>
              </a:solidFill>
              <a:effectLst/>
              <a:uFillTx/>
              <a:latin typeface="Arial"/>
            </a:endParaRPr>
          </a:p>
        </p:txBody>
      </p:sp>
      <p:sp>
        <p:nvSpPr>
          <p:cNvPr id="83" name="TextBox 6"/>
          <p:cNvSpPr/>
          <p:nvPr/>
        </p:nvSpPr>
        <p:spPr>
          <a:xfrm>
            <a:off x="740160" y="952560"/>
            <a:ext cx="11194920" cy="1361880"/>
          </a:xfrm>
          <a:prstGeom prst="rect">
            <a:avLst/>
          </a:prstGeom>
          <a:noFill/>
          <a:ln w="0">
            <a:noFill/>
          </a:ln>
        </p:spPr>
        <p:style>
          <a:lnRef idx="0"/>
          <a:fillRef idx="0"/>
          <a:effectRef idx="0"/>
          <a:fontRef idx="minor"/>
        </p:style>
        <p:txBody>
          <a:bodyPr lIns="0" tIns="0" rIns="0" bIns="0" anchor="t">
            <a:spAutoFit/>
          </a:bodyPr>
          <a:p>
            <a:pPr defTabSz="914400">
              <a:lnSpc>
                <a:spcPts val="5485"/>
              </a:lnSpc>
            </a:pPr>
            <a:r>
              <a:rPr lang="en-US" sz="3909" b="0" u="none" strike="noStrike">
                <a:solidFill>
                  <a:srgbClr val="000000"/>
                </a:solidFill>
                <a:effectLst/>
                <a:uFillTx/>
                <a:latin typeface="Be Vietnam"/>
                <a:ea typeface="Be Vietnam"/>
              </a:rPr>
              <a:t>CPU Baseline thực tế</a:t>
            </a:r>
            <a:endParaRPr lang="en-US" sz="3909" b="0" u="none" strike="noStrike">
              <a:solidFill>
                <a:srgbClr val="000000"/>
              </a:solidFill>
              <a:effectLst/>
              <a:uFillTx/>
              <a:latin typeface="Arial"/>
            </a:endParaRPr>
          </a:p>
          <a:p>
            <a:pPr defTabSz="914400">
              <a:lnSpc>
                <a:spcPts val="5485"/>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4" name="Group 2"/>
          <p:cNvGrpSpPr/>
          <p:nvPr/>
        </p:nvGrpSpPr>
        <p:grpSpPr>
          <a:xfrm>
            <a:off x="0" y="0"/>
            <a:ext cx="18287640" cy="2978280"/>
            <a:chOff x="0" y="0"/>
            <a:chExt cx="18287640" cy="2978280"/>
          </a:xfrm>
        </p:grpSpPr>
        <p:sp>
          <p:nvSpPr>
            <p:cNvPr id="85" name="Freeform 3"/>
            <p:cNvSpPr/>
            <p:nvPr/>
          </p:nvSpPr>
          <p:spPr>
            <a:xfrm>
              <a:off x="0" y="0"/>
              <a:ext cx="18287640" cy="2978280"/>
            </a:xfrm>
            <a:custGeom>
              <a:avLst/>
              <a:gdLst>
                <a:gd name="textAreaLeft" fmla="*/ 0 w 18287640"/>
                <a:gd name="textAreaRight" fmla="*/ 18288000 w 18287640"/>
                <a:gd name="textAreaTop" fmla="*/ 0 h 2978280"/>
                <a:gd name="textAreaBottom" fmla="*/ 2978640 h 2978280"/>
              </a:gdLst>
              <a:ahLst/>
              <a:cxnLst/>
              <a:rect l="textAreaLeft" t="textAreaTop" r="textAreaRight" b="textAreaBottom"/>
              <a:pathLst>
                <a:path w="6186311" h="1007643">
                  <a:moveTo>
                    <a:pt x="0" y="0"/>
                  </a:moveTo>
                  <a:lnTo>
                    <a:pt x="6186311" y="0"/>
                  </a:lnTo>
                  <a:lnTo>
                    <a:pt x="6186311" y="1007643"/>
                  </a:lnTo>
                  <a:lnTo>
                    <a:pt x="0" y="1007643"/>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86" name="TextBox 4"/>
          <p:cNvSpPr/>
          <p:nvPr/>
        </p:nvSpPr>
        <p:spPr>
          <a:xfrm>
            <a:off x="740160" y="905040"/>
            <a:ext cx="11194920" cy="1803240"/>
          </a:xfrm>
          <a:prstGeom prst="rect">
            <a:avLst/>
          </a:prstGeom>
          <a:noFill/>
          <a:ln w="0">
            <a:noFill/>
          </a:ln>
        </p:spPr>
        <p:style>
          <a:lnRef idx="0"/>
          <a:fillRef idx="0"/>
          <a:effectRef idx="0"/>
          <a:fontRef idx="minor"/>
        </p:style>
        <p:txBody>
          <a:bodyPr lIns="0" tIns="0" rIns="0" bIns="0" anchor="t">
            <a:spAutoFit/>
          </a:bodyPr>
          <a:p>
            <a:pPr defTabSz="914400">
              <a:lnSpc>
                <a:spcPts val="8844"/>
              </a:lnSpc>
            </a:pPr>
            <a:r>
              <a:rPr lang="en-US" sz="6320" b="0" u="none" strike="noStrike">
                <a:solidFill>
                  <a:srgbClr val="000000"/>
                </a:solidFill>
                <a:effectLst/>
                <a:uFillTx/>
                <a:latin typeface="Be Vietnam"/>
                <a:ea typeface="Be Vietnam"/>
              </a:rPr>
              <a:t>Thách Thức</a:t>
            </a:r>
            <a:endParaRPr lang="en-US" sz="6320" b="0" u="none" strike="noStrike">
              <a:solidFill>
                <a:srgbClr val="000000"/>
              </a:solidFill>
              <a:effectLst/>
              <a:uFillTx/>
              <a:latin typeface="Arial"/>
            </a:endParaRPr>
          </a:p>
          <a:p>
            <a:pPr defTabSz="914400">
              <a:lnSpc>
                <a:spcPts val="5485"/>
              </a:lnSpc>
              <a:tabLst>
                <a:tab pos="0" algn="l"/>
              </a:tabLst>
            </a:pPr>
            <a:endParaRPr lang="en-US" sz="1800" b="0" u="none" strike="noStrike">
              <a:solidFill>
                <a:srgbClr val="000000"/>
              </a:solidFill>
              <a:effectLst/>
              <a:uFillTx/>
              <a:latin typeface="Arial"/>
            </a:endParaRPr>
          </a:p>
        </p:txBody>
      </p:sp>
      <p:sp>
        <p:nvSpPr>
          <p:cNvPr id="87" name="TextBox 5"/>
          <p:cNvSpPr/>
          <p:nvPr/>
        </p:nvSpPr>
        <p:spPr>
          <a:xfrm>
            <a:off x="1041480" y="3200400"/>
            <a:ext cx="12497040" cy="2527200"/>
          </a:xfrm>
          <a:prstGeom prst="rect">
            <a:avLst/>
          </a:prstGeom>
          <a:noFill/>
          <a:ln w="0">
            <a:noFill/>
          </a:ln>
        </p:spPr>
        <p:style>
          <a:lnRef idx="0"/>
          <a:fillRef idx="0"/>
          <a:effectRef idx="0"/>
          <a:fontRef idx="minor"/>
        </p:style>
        <p:txBody>
          <a:bodyPr lIns="0" tIns="0" rIns="0" bIns="0" anchor="t">
            <a:spAutoFit/>
          </a:bodyPr>
          <a:p>
            <a:pPr defTabSz="914400">
              <a:lnSpc>
                <a:spcPts val="5063"/>
              </a:lnSpc>
              <a:tabLst>
                <a:tab pos="0" algn="l"/>
              </a:tabLst>
            </a:pPr>
            <a:r>
              <a:rPr lang="en-US" sz="3609" b="0" u="none" strike="noStrike">
                <a:solidFill>
                  <a:srgbClr val="000000"/>
                </a:solidFill>
                <a:effectLst/>
                <a:uFillTx/>
                <a:latin typeface="Be Vietnam"/>
                <a:ea typeface="Be Vietnam"/>
              </a:rPr>
              <a:t> Bước quyết định triệt tiêu (suppression) mang tính tuần tự nghiêm ngặt. Hộp B có được giữ lại hay không phụ thuộc trực tiếp vào việc một hộp A có điểm cao hơn trước đó đã bị xóa hay được giữ</a:t>
            </a:r>
            <a:endParaRPr lang="en-US" sz="360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8" name="Group 2"/>
          <p:cNvGrpSpPr/>
          <p:nvPr/>
        </p:nvGrpSpPr>
        <p:grpSpPr>
          <a:xfrm>
            <a:off x="0" y="0"/>
            <a:ext cx="18287640" cy="5302800"/>
            <a:chOff x="0" y="0"/>
            <a:chExt cx="18287640" cy="5302800"/>
          </a:xfrm>
        </p:grpSpPr>
        <p:sp>
          <p:nvSpPr>
            <p:cNvPr id="89" name="Freeform 3"/>
            <p:cNvSpPr/>
            <p:nvPr/>
          </p:nvSpPr>
          <p:spPr>
            <a:xfrm>
              <a:off x="0" y="0"/>
              <a:ext cx="18287640" cy="5302800"/>
            </a:xfrm>
            <a:custGeom>
              <a:avLst/>
              <a:gdLst>
                <a:gd name="textAreaLeft" fmla="*/ 0 w 18287640"/>
                <a:gd name="textAreaRight" fmla="*/ 18288000 w 18287640"/>
                <a:gd name="textAreaTop" fmla="*/ 0 h 5302800"/>
                <a:gd name="textAreaBottom" fmla="*/ 5303160 h 5302800"/>
              </a:gdLst>
              <a:ahLst/>
              <a:cxnLst/>
              <a:rect l="textAreaLeft" t="textAreaTop" r="textAreaRight" b="textAreaBottom"/>
              <a:pathLst>
                <a:path w="6186311" h="1793876">
                  <a:moveTo>
                    <a:pt x="0" y="0"/>
                  </a:moveTo>
                  <a:lnTo>
                    <a:pt x="6186311" y="0"/>
                  </a:lnTo>
                  <a:lnTo>
                    <a:pt x="6186311" y="1793876"/>
                  </a:lnTo>
                  <a:lnTo>
                    <a:pt x="0" y="1793876"/>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90" name="Freeform 4"/>
          <p:cNvSpPr/>
          <p:nvPr/>
        </p:nvSpPr>
        <p:spPr>
          <a:xfrm>
            <a:off x="2267280" y="1275480"/>
            <a:ext cx="13753080" cy="7736040"/>
          </a:xfrm>
          <a:custGeom>
            <a:avLst/>
            <a:gdLst>
              <a:gd name="textAreaLeft" fmla="*/ 0 w 13753080"/>
              <a:gd name="textAreaRight" fmla="*/ 13753440 w 13753080"/>
              <a:gd name="textAreaTop" fmla="*/ 0 h 7736040"/>
              <a:gd name="textAreaBottom" fmla="*/ 7736400 h 7736040"/>
            </a:gdLst>
            <a:ahLst/>
            <a:cxnLst/>
            <a:rect l="textAreaLeft" t="textAreaTop" r="textAreaRight" b="textAreaBottom"/>
            <a:pathLst>
              <a:path w="13753488" h="7736337">
                <a:moveTo>
                  <a:pt x="0" y="0"/>
                </a:moveTo>
                <a:lnTo>
                  <a:pt x="13753488" y="0"/>
                </a:lnTo>
                <a:lnTo>
                  <a:pt x="13753488" y="7736338"/>
                </a:lnTo>
                <a:lnTo>
                  <a:pt x="0" y="7736338"/>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1" name="Group 2"/>
          <p:cNvGrpSpPr/>
          <p:nvPr/>
        </p:nvGrpSpPr>
        <p:grpSpPr>
          <a:xfrm>
            <a:off x="6482160" y="0"/>
            <a:ext cx="11805480" cy="10286640"/>
            <a:chOff x="6482160" y="0"/>
            <a:chExt cx="11805480" cy="10286640"/>
          </a:xfrm>
        </p:grpSpPr>
        <p:sp>
          <p:nvSpPr>
            <p:cNvPr id="92" name="Freeform 3"/>
            <p:cNvSpPr/>
            <p:nvPr/>
          </p:nvSpPr>
          <p:spPr>
            <a:xfrm>
              <a:off x="6482160" y="0"/>
              <a:ext cx="11805480" cy="10286640"/>
            </a:xfrm>
            <a:custGeom>
              <a:avLst/>
              <a:gdLst>
                <a:gd name="textAreaLeft" fmla="*/ 0 w 11805480"/>
                <a:gd name="textAreaRight" fmla="*/ 11805840 w 11805480"/>
                <a:gd name="textAreaTop" fmla="*/ 0 h 10286640"/>
                <a:gd name="textAreaBottom" fmla="*/ 10287000 h 10286640"/>
              </a:gdLst>
              <a:ahLst/>
              <a:cxnLst/>
              <a:rect l="textAreaLeft" t="textAreaTop" r="textAreaRight" b="textAreaBottom"/>
              <a:pathLst>
                <a:path w="3993541" h="3479800">
                  <a:moveTo>
                    <a:pt x="0" y="0"/>
                  </a:moveTo>
                  <a:lnTo>
                    <a:pt x="3993541" y="0"/>
                  </a:lnTo>
                  <a:lnTo>
                    <a:pt x="3993541" y="3479800"/>
                  </a:lnTo>
                  <a:lnTo>
                    <a:pt x="0" y="3479800"/>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93" name="TextBox 4"/>
          <p:cNvSpPr/>
          <p:nvPr/>
        </p:nvSpPr>
        <p:spPr>
          <a:xfrm>
            <a:off x="9781200" y="452880"/>
            <a:ext cx="5810400" cy="1099440"/>
          </a:xfrm>
          <a:prstGeom prst="rect">
            <a:avLst/>
          </a:prstGeom>
          <a:noFill/>
          <a:ln w="0">
            <a:noFill/>
          </a:ln>
        </p:spPr>
        <p:style>
          <a:lnRef idx="0"/>
          <a:fillRef idx="0"/>
          <a:effectRef idx="0"/>
          <a:fontRef idx="minor"/>
        </p:style>
        <p:txBody>
          <a:bodyPr lIns="0" tIns="0" rIns="0" bIns="0" anchor="t">
            <a:spAutoFit/>
          </a:bodyPr>
          <a:p>
            <a:pPr defTabSz="914400">
              <a:lnSpc>
                <a:spcPts val="4479"/>
              </a:lnSpc>
            </a:pPr>
            <a:r>
              <a:rPr lang="en-US" sz="3200" b="1" u="none" strike="noStrike">
                <a:solidFill>
                  <a:srgbClr val="000000"/>
                </a:solidFill>
                <a:effectLst/>
                <a:uFillTx/>
                <a:latin typeface="Be Vietnam Medium"/>
                <a:ea typeface="Be Vietnam Medium"/>
              </a:rPr>
              <a:t>Phép Toán IoU Độc Lập</a:t>
            </a:r>
            <a:endParaRPr lang="en-US" sz="3200" b="0" u="none" strike="noStrike">
              <a:solidFill>
                <a:srgbClr val="000000"/>
              </a:solidFill>
              <a:effectLst/>
              <a:uFillTx/>
              <a:latin typeface="Arial"/>
            </a:endParaRPr>
          </a:p>
          <a:p>
            <a:pPr defTabSz="914400">
              <a:lnSpc>
                <a:spcPts val="4479"/>
              </a:lnSpc>
              <a:tabLst>
                <a:tab pos="0" algn="l"/>
              </a:tabLst>
            </a:pPr>
            <a:endParaRPr lang="en-US" sz="1800" b="0" u="none" strike="noStrike">
              <a:solidFill>
                <a:srgbClr val="000000"/>
              </a:solidFill>
              <a:effectLst/>
              <a:uFillTx/>
              <a:latin typeface="Arial"/>
            </a:endParaRPr>
          </a:p>
        </p:txBody>
      </p:sp>
      <p:sp>
        <p:nvSpPr>
          <p:cNvPr id="94" name="TextBox 5"/>
          <p:cNvSpPr/>
          <p:nvPr/>
        </p:nvSpPr>
        <p:spPr>
          <a:xfrm>
            <a:off x="9781200" y="3374280"/>
            <a:ext cx="5810400" cy="1099440"/>
          </a:xfrm>
          <a:prstGeom prst="rect">
            <a:avLst/>
          </a:prstGeom>
          <a:noFill/>
          <a:ln w="0">
            <a:noFill/>
          </a:ln>
        </p:spPr>
        <p:style>
          <a:lnRef idx="0"/>
          <a:fillRef idx="0"/>
          <a:effectRef idx="0"/>
          <a:fontRef idx="minor"/>
        </p:style>
        <p:txBody>
          <a:bodyPr lIns="0" tIns="0" rIns="0" bIns="0" anchor="t">
            <a:spAutoFit/>
          </a:bodyPr>
          <a:p>
            <a:pPr defTabSz="914400">
              <a:lnSpc>
                <a:spcPts val="4479"/>
              </a:lnSpc>
            </a:pPr>
            <a:r>
              <a:rPr lang="en-US" sz="3200" b="1" u="none" strike="noStrike">
                <a:solidFill>
                  <a:srgbClr val="000000"/>
                </a:solidFill>
                <a:effectLst/>
                <a:uFillTx/>
                <a:latin typeface="Be Vietnam Medium"/>
                <a:ea typeface="Be Vietnam Medium"/>
              </a:rPr>
              <a:t>Số Lượng Thread Khổng Lồ</a:t>
            </a:r>
            <a:endParaRPr lang="en-US" sz="3200" b="0" u="none" strike="noStrike">
              <a:solidFill>
                <a:srgbClr val="000000"/>
              </a:solidFill>
              <a:effectLst/>
              <a:uFillTx/>
              <a:latin typeface="Arial"/>
            </a:endParaRPr>
          </a:p>
          <a:p>
            <a:pPr defTabSz="914400">
              <a:lnSpc>
                <a:spcPts val="4479"/>
              </a:lnSpc>
              <a:tabLst>
                <a:tab pos="0" algn="l"/>
              </a:tabLst>
            </a:pPr>
            <a:endParaRPr lang="en-US" sz="1800" b="0" u="none" strike="noStrike">
              <a:solidFill>
                <a:srgbClr val="000000"/>
              </a:solidFill>
              <a:effectLst/>
              <a:uFillTx/>
              <a:latin typeface="Arial"/>
            </a:endParaRPr>
          </a:p>
        </p:txBody>
      </p:sp>
      <p:sp>
        <p:nvSpPr>
          <p:cNvPr id="95" name="TextBox 6"/>
          <p:cNvSpPr/>
          <p:nvPr/>
        </p:nvSpPr>
        <p:spPr>
          <a:xfrm>
            <a:off x="9781200" y="6596640"/>
            <a:ext cx="5810400" cy="1099440"/>
          </a:xfrm>
          <a:prstGeom prst="rect">
            <a:avLst/>
          </a:prstGeom>
          <a:noFill/>
          <a:ln w="0">
            <a:noFill/>
          </a:ln>
        </p:spPr>
        <p:style>
          <a:lnRef idx="0"/>
          <a:fillRef idx="0"/>
          <a:effectRef idx="0"/>
          <a:fontRef idx="minor"/>
        </p:style>
        <p:txBody>
          <a:bodyPr lIns="0" tIns="0" rIns="0" bIns="0" anchor="t">
            <a:spAutoFit/>
          </a:bodyPr>
          <a:p>
            <a:pPr defTabSz="914400">
              <a:lnSpc>
                <a:spcPts val="4479"/>
              </a:lnSpc>
            </a:pPr>
            <a:r>
              <a:rPr lang="en-US" sz="3200" b="1" u="none" strike="noStrike">
                <a:solidFill>
                  <a:srgbClr val="000000"/>
                </a:solidFill>
                <a:effectLst/>
                <a:uFillTx/>
                <a:latin typeface="Be Vietnam Medium"/>
                <a:ea typeface="Be Vietnam Medium"/>
              </a:rPr>
              <a:t>Độ Song Song Cực Đại</a:t>
            </a:r>
            <a:endParaRPr lang="en-US" sz="3200" b="0" u="none" strike="noStrike">
              <a:solidFill>
                <a:srgbClr val="000000"/>
              </a:solidFill>
              <a:effectLst/>
              <a:uFillTx/>
              <a:latin typeface="Arial"/>
            </a:endParaRPr>
          </a:p>
          <a:p>
            <a:pPr defTabSz="914400">
              <a:lnSpc>
                <a:spcPts val="4479"/>
              </a:lnSpc>
              <a:tabLst>
                <a:tab pos="0" algn="l"/>
              </a:tabLst>
            </a:pPr>
            <a:endParaRPr lang="en-US" sz="1800" b="0" u="none" strike="noStrike">
              <a:solidFill>
                <a:srgbClr val="000000"/>
              </a:solidFill>
              <a:effectLst/>
              <a:uFillTx/>
              <a:latin typeface="Arial"/>
            </a:endParaRPr>
          </a:p>
        </p:txBody>
      </p:sp>
      <p:sp>
        <p:nvSpPr>
          <p:cNvPr id="96" name="TextBox 7"/>
          <p:cNvSpPr/>
          <p:nvPr/>
        </p:nvSpPr>
        <p:spPr>
          <a:xfrm>
            <a:off x="9781200" y="971640"/>
            <a:ext cx="7477920" cy="1967040"/>
          </a:xfrm>
          <a:prstGeom prst="rect">
            <a:avLst/>
          </a:prstGeom>
          <a:noFill/>
          <a:ln w="0">
            <a:noFill/>
          </a:ln>
        </p:spPr>
        <p:style>
          <a:lnRef idx="0"/>
          <a:fillRef idx="0"/>
          <a:effectRef idx="0"/>
          <a:fontRef idx="minor"/>
        </p:style>
        <p:txBody>
          <a:bodyPr lIns="0" tIns="0" rIns="0" bIns="0" anchor="t">
            <a:spAutoFit/>
          </a:bodyPr>
          <a:p>
            <a:pPr defTabSz="914400">
              <a:lnSpc>
                <a:spcPts val="3920"/>
              </a:lnSpc>
              <a:tabLst>
                <a:tab pos="0" algn="l"/>
              </a:tabLst>
            </a:pPr>
            <a:r>
              <a:rPr lang="en-US" sz="2800" b="0" u="none" strike="noStrike">
                <a:solidFill>
                  <a:srgbClr val="000000"/>
                </a:solidFill>
                <a:effectLst/>
                <a:uFillTx/>
                <a:latin typeface="Be Vietnam Thin"/>
                <a:ea typeface="Be Vietnam Thin"/>
              </a:rPr>
              <a:t>Việc tính toán mức độ giao nhau giữa từng cặp hộp (box_i, box_j) hoàn toàn độc lập với nhau. Không có bất kỳ sự ràng buộc dữ liệu chéo nào ở bước tính IoU này.</a:t>
            </a:r>
            <a:endParaRPr lang="en-US" sz="2800" b="0" u="none" strike="noStrike">
              <a:solidFill>
                <a:srgbClr val="000000"/>
              </a:solidFill>
              <a:effectLst/>
              <a:uFillTx/>
              <a:latin typeface="Arial"/>
            </a:endParaRPr>
          </a:p>
        </p:txBody>
      </p:sp>
      <p:sp>
        <p:nvSpPr>
          <p:cNvPr id="97" name="TextBox 8"/>
          <p:cNvSpPr/>
          <p:nvPr/>
        </p:nvSpPr>
        <p:spPr>
          <a:xfrm>
            <a:off x="9781200" y="3854880"/>
            <a:ext cx="7326360" cy="1967040"/>
          </a:xfrm>
          <a:prstGeom prst="rect">
            <a:avLst/>
          </a:prstGeom>
          <a:noFill/>
          <a:ln w="0">
            <a:noFill/>
          </a:ln>
        </p:spPr>
        <p:style>
          <a:lnRef idx="0"/>
          <a:fillRef idx="0"/>
          <a:effectRef idx="0"/>
          <a:fontRef idx="minor"/>
        </p:style>
        <p:txBody>
          <a:bodyPr lIns="0" tIns="0" rIns="0" bIns="0" anchor="t">
            <a:spAutoFit/>
          </a:bodyPr>
          <a:p>
            <a:pPr defTabSz="914400">
              <a:lnSpc>
                <a:spcPts val="3920"/>
              </a:lnSpc>
              <a:tabLst>
                <a:tab pos="0" algn="l"/>
              </a:tabLst>
            </a:pPr>
            <a:r>
              <a:rPr lang="en-US" sz="2800" b="0" u="none" strike="noStrike">
                <a:solidFill>
                  <a:srgbClr val="000000"/>
                </a:solidFill>
                <a:effectLst/>
                <a:uFillTx/>
                <a:latin typeface="Be Vietnam Thin"/>
                <a:ea typeface="Be Vietnam Thin"/>
              </a:rPr>
              <a:t>Với N hộp ứng viên, chúng ta có thể phân bổ một luồng GPU cho mỗi cặp hộp, tạo ra hệ thống tính toán đồng thời N2 luồng song song mượt mà.</a:t>
            </a:r>
            <a:endParaRPr lang="en-US" sz="2800" b="0" u="none" strike="noStrike">
              <a:solidFill>
                <a:srgbClr val="000000"/>
              </a:solidFill>
              <a:effectLst/>
              <a:uFillTx/>
              <a:latin typeface="Arial"/>
            </a:endParaRPr>
          </a:p>
        </p:txBody>
      </p:sp>
      <p:sp>
        <p:nvSpPr>
          <p:cNvPr id="98" name="TextBox 9"/>
          <p:cNvSpPr/>
          <p:nvPr/>
        </p:nvSpPr>
        <p:spPr>
          <a:xfrm>
            <a:off x="9781200" y="7077240"/>
            <a:ext cx="7326360" cy="1967040"/>
          </a:xfrm>
          <a:prstGeom prst="rect">
            <a:avLst/>
          </a:prstGeom>
          <a:noFill/>
          <a:ln w="0">
            <a:noFill/>
          </a:ln>
        </p:spPr>
        <p:style>
          <a:lnRef idx="0"/>
          <a:fillRef idx="0"/>
          <a:effectRef idx="0"/>
          <a:fontRef idx="minor"/>
        </p:style>
        <p:txBody>
          <a:bodyPr lIns="0" tIns="0" rIns="0" bIns="0" anchor="t">
            <a:spAutoFit/>
          </a:bodyPr>
          <a:p>
            <a:pPr defTabSz="914400">
              <a:lnSpc>
                <a:spcPts val="3920"/>
              </a:lnSpc>
              <a:tabLst>
                <a:tab pos="0" algn="l"/>
              </a:tabLst>
            </a:pPr>
            <a:r>
              <a:rPr lang="en-US" sz="2800" b="0" u="none" strike="noStrike">
                <a:solidFill>
                  <a:srgbClr val="000000"/>
                </a:solidFill>
                <a:effectLst/>
                <a:uFillTx/>
                <a:latin typeface="Be Vietnam Thin"/>
                <a:ea typeface="Be Vietnam Thin"/>
              </a:rPr>
              <a:t>Đây là một bài toán song song hóa điển hình (embarrassingly parallel), cực kỳ phù hợp với kiến trúc hàng nghìn nhân tính toán hiệu năng cao của GPU.</a:t>
            </a:r>
            <a:endParaRPr lang="en-US" sz="2800" b="0" u="none" strike="noStrike">
              <a:solidFill>
                <a:srgbClr val="000000"/>
              </a:solidFill>
              <a:effectLst/>
              <a:uFillTx/>
              <a:latin typeface="Arial"/>
            </a:endParaRPr>
          </a:p>
        </p:txBody>
      </p:sp>
      <p:sp>
        <p:nvSpPr>
          <p:cNvPr id="99" name="TextBox 10"/>
          <p:cNvSpPr/>
          <p:nvPr/>
        </p:nvSpPr>
        <p:spPr>
          <a:xfrm>
            <a:off x="1202400" y="4379400"/>
            <a:ext cx="4575960" cy="1234800"/>
          </a:xfrm>
          <a:prstGeom prst="rect">
            <a:avLst/>
          </a:prstGeom>
          <a:noFill/>
          <a:ln w="0">
            <a:noFill/>
          </a:ln>
        </p:spPr>
        <p:style>
          <a:lnRef idx="0"/>
          <a:fillRef idx="0"/>
          <a:effectRef idx="0"/>
          <a:fontRef idx="minor"/>
        </p:style>
        <p:txBody>
          <a:bodyPr lIns="0" tIns="0" rIns="0" bIns="0" anchor="t">
            <a:spAutoFit/>
          </a:bodyPr>
          <a:p>
            <a:pPr defTabSz="914400">
              <a:lnSpc>
                <a:spcPts val="10174"/>
              </a:lnSpc>
              <a:tabLst>
                <a:tab pos="0" algn="l"/>
              </a:tabLst>
            </a:pPr>
            <a:r>
              <a:rPr lang="en-US" sz="7269" b="0" u="none" strike="noStrike">
                <a:solidFill>
                  <a:srgbClr val="000000"/>
                </a:solidFill>
                <a:effectLst/>
                <a:uFillTx/>
                <a:latin typeface="Be Vietnam Thin"/>
                <a:ea typeface="Be Vietnam Thin"/>
              </a:rPr>
              <a:t>Why GPU?</a:t>
            </a:r>
            <a:endParaRPr lang="en-US" sz="726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0" name="Group 2"/>
          <p:cNvGrpSpPr/>
          <p:nvPr/>
        </p:nvGrpSpPr>
        <p:grpSpPr>
          <a:xfrm>
            <a:off x="-62640" y="-41400"/>
            <a:ext cx="18287640" cy="2978280"/>
            <a:chOff x="-62640" y="-41400"/>
            <a:chExt cx="18287640" cy="2978280"/>
          </a:xfrm>
        </p:grpSpPr>
        <p:sp>
          <p:nvSpPr>
            <p:cNvPr id="101" name="Freeform 3"/>
            <p:cNvSpPr/>
            <p:nvPr/>
          </p:nvSpPr>
          <p:spPr>
            <a:xfrm>
              <a:off x="-62640" y="-41400"/>
              <a:ext cx="18287640" cy="2978280"/>
            </a:xfrm>
            <a:custGeom>
              <a:avLst/>
              <a:gdLst>
                <a:gd name="textAreaLeft" fmla="*/ 0 w 18287640"/>
                <a:gd name="textAreaRight" fmla="*/ 18288000 w 18287640"/>
                <a:gd name="textAreaTop" fmla="*/ 0 h 2978280"/>
                <a:gd name="textAreaBottom" fmla="*/ 2978640 h 2978280"/>
              </a:gdLst>
              <a:ahLst/>
              <a:cxnLst/>
              <a:rect l="textAreaLeft" t="textAreaTop" r="textAreaRight" b="textAreaBottom"/>
              <a:pathLst>
                <a:path w="6186311" h="1007643">
                  <a:moveTo>
                    <a:pt x="0" y="0"/>
                  </a:moveTo>
                  <a:lnTo>
                    <a:pt x="6186311" y="0"/>
                  </a:lnTo>
                  <a:lnTo>
                    <a:pt x="6186311" y="1007643"/>
                  </a:lnTo>
                  <a:lnTo>
                    <a:pt x="0" y="1007643"/>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02" name="Freeform 4"/>
          <p:cNvSpPr/>
          <p:nvPr/>
        </p:nvSpPr>
        <p:spPr>
          <a:xfrm>
            <a:off x="4043520" y="2937600"/>
            <a:ext cx="10074960" cy="6716520"/>
          </a:xfrm>
          <a:custGeom>
            <a:avLst/>
            <a:gdLst>
              <a:gd name="textAreaLeft" fmla="*/ 0 w 10074960"/>
              <a:gd name="textAreaRight" fmla="*/ 10075320 w 10074960"/>
              <a:gd name="textAreaTop" fmla="*/ 0 h 6716520"/>
              <a:gd name="textAreaBottom" fmla="*/ 6716880 h 6716520"/>
            </a:gdLst>
            <a:ahLst/>
            <a:cxnLst/>
            <a:rect l="textAreaLeft" t="textAreaTop" r="textAreaRight" b="textAreaBottom"/>
            <a:pathLst>
              <a:path w="10075289" h="6716860">
                <a:moveTo>
                  <a:pt x="0" y="0"/>
                </a:moveTo>
                <a:lnTo>
                  <a:pt x="10075290" y="0"/>
                </a:lnTo>
                <a:lnTo>
                  <a:pt x="10075290" y="6716860"/>
                </a:lnTo>
                <a:lnTo>
                  <a:pt x="0" y="6716860"/>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TextBox 5"/>
          <p:cNvSpPr/>
          <p:nvPr/>
        </p:nvSpPr>
        <p:spPr>
          <a:xfrm>
            <a:off x="1636200" y="775800"/>
            <a:ext cx="16651440" cy="2940120"/>
          </a:xfrm>
          <a:prstGeom prst="rect">
            <a:avLst/>
          </a:prstGeom>
          <a:noFill/>
          <a:ln w="0">
            <a:noFill/>
          </a:ln>
        </p:spPr>
        <p:style>
          <a:lnRef idx="0"/>
          <a:fillRef idx="0"/>
          <a:effectRef idx="0"/>
          <a:fontRef idx="minor"/>
        </p:style>
        <p:txBody>
          <a:bodyPr lIns="0" tIns="0" rIns="0" bIns="0" anchor="t">
            <a:spAutoFit/>
          </a:bodyPr>
          <a:p>
            <a:pPr defTabSz="914400">
              <a:lnSpc>
                <a:spcPts val="8915"/>
              </a:lnSpc>
            </a:pPr>
            <a:r>
              <a:rPr lang="en-US" sz="6360" b="0" u="none" strike="noStrike">
                <a:solidFill>
                  <a:srgbClr val="000000"/>
                </a:solidFill>
                <a:effectLst/>
                <a:uFillTx/>
                <a:latin typeface="Be Vietnam"/>
                <a:ea typeface="Be Vietnam"/>
              </a:rPr>
              <a:t>GPU V1: Naive Parallel IoU Matrix Kernel</a:t>
            </a:r>
            <a:endParaRPr lang="en-US" sz="6360" b="0" u="none" strike="noStrike">
              <a:solidFill>
                <a:srgbClr val="000000"/>
              </a:solidFill>
              <a:effectLst/>
              <a:uFillTx/>
              <a:latin typeface="Arial"/>
            </a:endParaRPr>
          </a:p>
          <a:p>
            <a:pPr defTabSz="914400">
              <a:lnSpc>
                <a:spcPts val="8915"/>
              </a:lnSpc>
            </a:pPr>
            <a:endParaRPr lang="en-US" sz="1800" b="0" u="none" strike="noStrike">
              <a:solidFill>
                <a:srgbClr val="000000"/>
              </a:solidFill>
              <a:effectLst/>
              <a:uFillTx/>
              <a:latin typeface="Arial"/>
            </a:endParaRPr>
          </a:p>
          <a:p>
            <a:pPr defTabSz="914400">
              <a:lnSpc>
                <a:spcPts val="5528"/>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Freeform 2"/>
          <p:cNvSpPr/>
          <p:nvPr/>
        </p:nvSpPr>
        <p:spPr>
          <a:xfrm>
            <a:off x="4106520" y="80640"/>
            <a:ext cx="10074960" cy="6716520"/>
          </a:xfrm>
          <a:custGeom>
            <a:avLst/>
            <a:gdLst>
              <a:gd name="textAreaLeft" fmla="*/ 0 w 10074960"/>
              <a:gd name="textAreaRight" fmla="*/ 10075320 w 10074960"/>
              <a:gd name="textAreaTop" fmla="*/ 0 h 6716520"/>
              <a:gd name="textAreaBottom" fmla="*/ 6716880 h 6716520"/>
            </a:gdLst>
            <a:ahLst/>
            <a:cxnLst/>
            <a:rect l="textAreaLeft" t="textAreaTop" r="textAreaRight" b="textAreaBottom"/>
            <a:pathLst>
              <a:path w="10075289" h="6716860">
                <a:moveTo>
                  <a:pt x="0" y="0"/>
                </a:moveTo>
                <a:lnTo>
                  <a:pt x="10075290" y="0"/>
                </a:lnTo>
                <a:lnTo>
                  <a:pt x="10075290" y="6716859"/>
                </a:lnTo>
                <a:lnTo>
                  <a:pt x="0" y="6716859"/>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TextBox 3"/>
          <p:cNvSpPr/>
          <p:nvPr/>
        </p:nvSpPr>
        <p:spPr>
          <a:xfrm>
            <a:off x="2905920" y="6730920"/>
            <a:ext cx="12475440" cy="1250640"/>
          </a:xfrm>
          <a:prstGeom prst="rect">
            <a:avLst/>
          </a:prstGeom>
          <a:noFill/>
          <a:ln w="0">
            <a:noFill/>
          </a:ln>
        </p:spPr>
        <p:style>
          <a:lnRef idx="0"/>
          <a:fillRef idx="0"/>
          <a:effectRef idx="0"/>
          <a:fontRef idx="minor"/>
        </p:style>
        <p:txBody>
          <a:bodyPr lIns="0" tIns="0" rIns="0" bIns="0" anchor="t">
            <a:spAutoFit/>
          </a:bodyPr>
          <a:p>
            <a:pPr defTabSz="914400">
              <a:lnSpc>
                <a:spcPts val="5063"/>
              </a:lnSpc>
              <a:tabLst>
                <a:tab pos="0" algn="l"/>
              </a:tabLst>
            </a:pPr>
            <a:r>
              <a:rPr lang="en-US" sz="3609" b="0" u="none" strike="noStrike">
                <a:solidFill>
                  <a:srgbClr val="000000"/>
                </a:solidFill>
                <a:effectLst/>
                <a:uFillTx/>
                <a:latin typeface="Be Vietnam"/>
                <a:ea typeface="Be Vietnam"/>
              </a:rPr>
              <a:t>=&gt; Cần tiếp tục cải tiến với GPU v2: Batched NMS &amp; Hardware Optimization</a:t>
            </a:r>
            <a:endParaRPr lang="en-US" sz="360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6" name="Group 2"/>
          <p:cNvGrpSpPr/>
          <p:nvPr/>
        </p:nvGrpSpPr>
        <p:grpSpPr>
          <a:xfrm>
            <a:off x="-62640" y="-41400"/>
            <a:ext cx="18287640" cy="2978280"/>
            <a:chOff x="-62640" y="-41400"/>
            <a:chExt cx="18287640" cy="2978280"/>
          </a:xfrm>
        </p:grpSpPr>
        <p:sp>
          <p:nvSpPr>
            <p:cNvPr id="107" name="Freeform 3"/>
            <p:cNvSpPr/>
            <p:nvPr/>
          </p:nvSpPr>
          <p:spPr>
            <a:xfrm>
              <a:off x="-62640" y="-41400"/>
              <a:ext cx="18287640" cy="2978280"/>
            </a:xfrm>
            <a:custGeom>
              <a:avLst/>
              <a:gdLst>
                <a:gd name="textAreaLeft" fmla="*/ 0 w 18287640"/>
                <a:gd name="textAreaRight" fmla="*/ 18288000 w 18287640"/>
                <a:gd name="textAreaTop" fmla="*/ 0 h 2978280"/>
                <a:gd name="textAreaBottom" fmla="*/ 2978640 h 2978280"/>
              </a:gdLst>
              <a:ahLst/>
              <a:cxnLst/>
              <a:rect l="textAreaLeft" t="textAreaTop" r="textAreaRight" b="textAreaBottom"/>
              <a:pathLst>
                <a:path w="6186311" h="1007643">
                  <a:moveTo>
                    <a:pt x="0" y="0"/>
                  </a:moveTo>
                  <a:lnTo>
                    <a:pt x="6186311" y="0"/>
                  </a:lnTo>
                  <a:lnTo>
                    <a:pt x="6186311" y="1007643"/>
                  </a:lnTo>
                  <a:lnTo>
                    <a:pt x="0" y="1007643"/>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08" name="Freeform 4"/>
          <p:cNvSpPr/>
          <p:nvPr/>
        </p:nvSpPr>
        <p:spPr>
          <a:xfrm>
            <a:off x="4043520" y="3097800"/>
            <a:ext cx="10074960" cy="6716520"/>
          </a:xfrm>
          <a:custGeom>
            <a:avLst/>
            <a:gdLst>
              <a:gd name="textAreaLeft" fmla="*/ 0 w 10074960"/>
              <a:gd name="textAreaRight" fmla="*/ 10075320 w 10074960"/>
              <a:gd name="textAreaTop" fmla="*/ 0 h 6716520"/>
              <a:gd name="textAreaBottom" fmla="*/ 6716880 h 6716520"/>
            </a:gdLst>
            <a:ahLst/>
            <a:cxnLst/>
            <a:rect l="textAreaLeft" t="textAreaTop" r="textAreaRight" b="textAreaBottom"/>
            <a:pathLst>
              <a:path w="10075289" h="6716860">
                <a:moveTo>
                  <a:pt x="0" y="0"/>
                </a:moveTo>
                <a:lnTo>
                  <a:pt x="10075290" y="0"/>
                </a:lnTo>
                <a:lnTo>
                  <a:pt x="10075290" y="6716859"/>
                </a:lnTo>
                <a:lnTo>
                  <a:pt x="0" y="6716859"/>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TextBox 5"/>
          <p:cNvSpPr/>
          <p:nvPr/>
        </p:nvSpPr>
        <p:spPr>
          <a:xfrm>
            <a:off x="129960" y="843120"/>
            <a:ext cx="18416160" cy="1085760"/>
          </a:xfrm>
          <a:prstGeom prst="rect">
            <a:avLst/>
          </a:prstGeom>
          <a:noFill/>
          <a:ln w="0">
            <a:noFill/>
          </a:ln>
        </p:spPr>
        <p:style>
          <a:lnRef idx="0"/>
          <a:fillRef idx="0"/>
          <a:effectRef idx="0"/>
          <a:fontRef idx="minor"/>
        </p:style>
        <p:txBody>
          <a:bodyPr lIns="0" tIns="0" rIns="0" bIns="0" anchor="t">
            <a:spAutoFit/>
          </a:bodyPr>
          <a:p>
            <a:pPr defTabSz="914400">
              <a:lnSpc>
                <a:spcPts val="8918"/>
              </a:lnSpc>
              <a:tabLst>
                <a:tab pos="0" algn="l"/>
              </a:tabLst>
            </a:pPr>
            <a:r>
              <a:rPr lang="en-US" sz="6370" b="0" u="none" strike="noStrike">
                <a:solidFill>
                  <a:srgbClr val="000000"/>
                </a:solidFill>
                <a:effectLst/>
                <a:uFillTx/>
                <a:latin typeface="Be Vietnam"/>
                <a:ea typeface="Be Vietnam"/>
              </a:rPr>
              <a:t>GPU v2: Batched NMS &amp; Hardware Optimization</a:t>
            </a:r>
            <a:endParaRPr lang="en-US" sz="63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Freeform 2"/>
          <p:cNvSpPr/>
          <p:nvPr/>
        </p:nvSpPr>
        <p:spPr>
          <a:xfrm>
            <a:off x="2867400" y="889200"/>
            <a:ext cx="12553200" cy="8368560"/>
          </a:xfrm>
          <a:custGeom>
            <a:avLst/>
            <a:gdLst>
              <a:gd name="textAreaLeft" fmla="*/ 0 w 12553200"/>
              <a:gd name="textAreaRight" fmla="*/ 12553560 w 12553200"/>
              <a:gd name="textAreaTop" fmla="*/ 0 h 8368560"/>
              <a:gd name="textAreaBottom" fmla="*/ 8368920 h 8368560"/>
            </a:gdLst>
            <a:ahLst/>
            <a:cxnLst/>
            <a:rect l="textAreaLeft" t="textAreaTop" r="textAreaRight" b="textAreaBottom"/>
            <a:pathLst>
              <a:path w="12553514" h="8369009">
                <a:moveTo>
                  <a:pt x="0" y="0"/>
                </a:moveTo>
                <a:lnTo>
                  <a:pt x="12553514" y="0"/>
                </a:lnTo>
                <a:lnTo>
                  <a:pt x="12553514" y="8369009"/>
                </a:lnTo>
                <a:lnTo>
                  <a:pt x="0" y="8369009"/>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1" name="Group 2"/>
          <p:cNvGrpSpPr/>
          <p:nvPr/>
        </p:nvGrpSpPr>
        <p:grpSpPr>
          <a:xfrm>
            <a:off x="0" y="0"/>
            <a:ext cx="18287640" cy="2978280"/>
            <a:chOff x="0" y="0"/>
            <a:chExt cx="18287640" cy="2978280"/>
          </a:xfrm>
        </p:grpSpPr>
        <p:sp>
          <p:nvSpPr>
            <p:cNvPr id="112" name="Freeform 3"/>
            <p:cNvSpPr/>
            <p:nvPr/>
          </p:nvSpPr>
          <p:spPr>
            <a:xfrm>
              <a:off x="0" y="0"/>
              <a:ext cx="18287640" cy="2978280"/>
            </a:xfrm>
            <a:custGeom>
              <a:avLst/>
              <a:gdLst>
                <a:gd name="textAreaLeft" fmla="*/ 0 w 18287640"/>
                <a:gd name="textAreaRight" fmla="*/ 18288000 w 18287640"/>
                <a:gd name="textAreaTop" fmla="*/ 0 h 2978280"/>
                <a:gd name="textAreaBottom" fmla="*/ 2978640 h 2978280"/>
              </a:gdLst>
              <a:ahLst/>
              <a:cxnLst/>
              <a:rect l="textAreaLeft" t="textAreaTop" r="textAreaRight" b="textAreaBottom"/>
              <a:pathLst>
                <a:path w="6186311" h="1007643">
                  <a:moveTo>
                    <a:pt x="0" y="0"/>
                  </a:moveTo>
                  <a:lnTo>
                    <a:pt x="6186311" y="0"/>
                  </a:lnTo>
                  <a:lnTo>
                    <a:pt x="6186311" y="1007643"/>
                  </a:lnTo>
                  <a:lnTo>
                    <a:pt x="0" y="1007643"/>
                  </a:lnTo>
                  <a:close/>
                </a:path>
              </a:pathLst>
            </a:custGeom>
            <a:solidFill>
              <a:srgbClr val="D8EDE7"/>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pSp>
      <p:sp>
        <p:nvSpPr>
          <p:cNvPr id="113" name="Freeform 4"/>
          <p:cNvSpPr/>
          <p:nvPr/>
        </p:nvSpPr>
        <p:spPr>
          <a:xfrm>
            <a:off x="8464680" y="3686400"/>
            <a:ext cx="8449560" cy="5632920"/>
          </a:xfrm>
          <a:custGeom>
            <a:avLst/>
            <a:gdLst>
              <a:gd name="textAreaLeft" fmla="*/ 0 w 8449560"/>
              <a:gd name="textAreaRight" fmla="*/ 8449920 w 8449560"/>
              <a:gd name="textAreaTop" fmla="*/ 0 h 5632920"/>
              <a:gd name="textAreaBottom" fmla="*/ 5633280 h 5632920"/>
            </a:gdLst>
            <a:ahLst/>
            <a:cxnLst/>
            <a:rect l="textAreaLeft" t="textAreaTop" r="textAreaRight" b="textAreaBottom"/>
            <a:pathLst>
              <a:path w="8450086" h="5633391">
                <a:moveTo>
                  <a:pt x="0" y="0"/>
                </a:moveTo>
                <a:lnTo>
                  <a:pt x="8450086" y="0"/>
                </a:lnTo>
                <a:lnTo>
                  <a:pt x="8450086" y="5633390"/>
                </a:lnTo>
                <a:lnTo>
                  <a:pt x="0" y="5633390"/>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4" name="TextBox 5"/>
          <p:cNvSpPr/>
          <p:nvPr/>
        </p:nvSpPr>
        <p:spPr>
          <a:xfrm>
            <a:off x="1495080" y="3570120"/>
            <a:ext cx="5863680" cy="4170600"/>
          </a:xfrm>
          <a:prstGeom prst="rect">
            <a:avLst/>
          </a:prstGeom>
          <a:noFill/>
          <a:ln w="0">
            <a:noFill/>
          </a:ln>
        </p:spPr>
        <p:style>
          <a:lnRef idx="0"/>
          <a:fillRef idx="0"/>
          <a:effectRef idx="0"/>
          <a:fontRef idx="minor"/>
        </p:style>
        <p:txBody>
          <a:bodyPr lIns="0" tIns="0" rIns="0" bIns="0" anchor="t">
            <a:spAutoFit/>
          </a:bodyPr>
          <a:p>
            <a:pPr defTabSz="914400">
              <a:lnSpc>
                <a:spcPts val="5547"/>
              </a:lnSpc>
              <a:tabLst>
                <a:tab pos="0" algn="l"/>
              </a:tabLst>
            </a:pPr>
            <a:r>
              <a:rPr lang="en-US" sz="3970" b="0" u="none" strike="noStrike">
                <a:solidFill>
                  <a:srgbClr val="000000"/>
                </a:solidFill>
                <a:effectLst/>
                <a:uFillTx/>
                <a:latin typeface="Be Vietnam"/>
                <a:ea typeface="Be Vietnam"/>
              </a:rPr>
              <a:t>Giải pháp này chuyển đổi việc triệt tiêu cứng tuần tự thành cơ chế tính toán độ suy giảm mềm (soft decay) song song hoàn toàn.</a:t>
            </a:r>
            <a:endParaRPr lang="en-US" sz="3970" b="0" u="none" strike="noStrike">
              <a:solidFill>
                <a:srgbClr val="000000"/>
              </a:solidFill>
              <a:effectLst/>
              <a:uFillTx/>
              <a:latin typeface="Arial"/>
            </a:endParaRPr>
          </a:p>
        </p:txBody>
      </p:sp>
      <p:sp>
        <p:nvSpPr>
          <p:cNvPr id="115" name="TextBox 6"/>
          <p:cNvSpPr/>
          <p:nvPr/>
        </p:nvSpPr>
        <p:spPr>
          <a:xfrm>
            <a:off x="740160" y="905040"/>
            <a:ext cx="11194920" cy="1803240"/>
          </a:xfrm>
          <a:prstGeom prst="rect">
            <a:avLst/>
          </a:prstGeom>
          <a:noFill/>
          <a:ln w="0">
            <a:noFill/>
          </a:ln>
        </p:spPr>
        <p:style>
          <a:lnRef idx="0"/>
          <a:fillRef idx="0"/>
          <a:effectRef idx="0"/>
          <a:fontRef idx="minor"/>
        </p:style>
        <p:txBody>
          <a:bodyPr lIns="0" tIns="0" rIns="0" bIns="0" anchor="t">
            <a:spAutoFit/>
          </a:bodyPr>
          <a:p>
            <a:pPr defTabSz="914400">
              <a:lnSpc>
                <a:spcPts val="8844"/>
              </a:lnSpc>
            </a:pPr>
            <a:r>
              <a:rPr lang="en-US" sz="6320" b="0" u="none" strike="noStrike">
                <a:solidFill>
                  <a:srgbClr val="000000"/>
                </a:solidFill>
                <a:effectLst/>
                <a:uFillTx/>
                <a:latin typeface="Be Vietnam"/>
                <a:ea typeface="Be Vietnam"/>
              </a:rPr>
              <a:t>GPU v3</a:t>
            </a:r>
            <a:endParaRPr lang="en-US" sz="6320" b="0" u="none" strike="noStrike">
              <a:solidFill>
                <a:srgbClr val="000000"/>
              </a:solidFill>
              <a:effectLst/>
              <a:uFillTx/>
              <a:latin typeface="Arial"/>
            </a:endParaRPr>
          </a:p>
          <a:p>
            <a:pPr defTabSz="914400">
              <a:lnSpc>
                <a:spcPts val="5485"/>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Freeform 2"/>
          <p:cNvSpPr/>
          <p:nvPr/>
        </p:nvSpPr>
        <p:spPr>
          <a:xfrm>
            <a:off x="3398760" y="383040"/>
            <a:ext cx="11490480" cy="7660080"/>
          </a:xfrm>
          <a:custGeom>
            <a:avLst/>
            <a:gdLst>
              <a:gd name="textAreaLeft" fmla="*/ 0 w 11490480"/>
              <a:gd name="textAreaRight" fmla="*/ 11490840 w 11490480"/>
              <a:gd name="textAreaTop" fmla="*/ 0 h 7660080"/>
              <a:gd name="textAreaBottom" fmla="*/ 7660440 h 7660080"/>
            </a:gdLst>
            <a:ahLst/>
            <a:cxnLst/>
            <a:rect l="textAreaLeft" t="textAreaTop" r="textAreaRight" b="textAreaBottom"/>
            <a:pathLst>
              <a:path w="11490708" h="7660472">
                <a:moveTo>
                  <a:pt x="0" y="0"/>
                </a:moveTo>
                <a:lnTo>
                  <a:pt x="11490708" y="0"/>
                </a:lnTo>
                <a:lnTo>
                  <a:pt x="11490708" y="7660472"/>
                </a:lnTo>
                <a:lnTo>
                  <a:pt x="0" y="7660472"/>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7" name="TextBox 3"/>
          <p:cNvSpPr/>
          <p:nvPr/>
        </p:nvSpPr>
        <p:spPr>
          <a:xfrm>
            <a:off x="3036960" y="8217360"/>
            <a:ext cx="12475440" cy="1250640"/>
          </a:xfrm>
          <a:prstGeom prst="rect">
            <a:avLst/>
          </a:prstGeom>
          <a:noFill/>
          <a:ln w="0">
            <a:noFill/>
          </a:ln>
        </p:spPr>
        <p:style>
          <a:lnRef idx="0"/>
          <a:fillRef idx="0"/>
          <a:effectRef idx="0"/>
          <a:fontRef idx="minor"/>
        </p:style>
        <p:txBody>
          <a:bodyPr lIns="0" tIns="0" rIns="0" bIns="0" anchor="t">
            <a:spAutoFit/>
          </a:bodyPr>
          <a:p>
            <a:pPr defTabSz="914400">
              <a:lnSpc>
                <a:spcPts val="5063"/>
              </a:lnSpc>
              <a:tabLst>
                <a:tab pos="0" algn="l"/>
              </a:tabLst>
            </a:pPr>
            <a:r>
              <a:rPr lang="en-US" sz="3609" b="0" u="none" strike="noStrike">
                <a:solidFill>
                  <a:srgbClr val="000000"/>
                </a:solidFill>
                <a:effectLst/>
                <a:uFillTx/>
                <a:latin typeface="Be Vietnam"/>
                <a:ea typeface="Be Vietnam"/>
              </a:rPr>
              <a:t>=&gt; Giải quyết được bài toán 2 vật thể đứng quá sát nhau dẫn tới đồ chồng lấn( IoU ) cao  và bị xóa</a:t>
            </a:r>
            <a:endParaRPr lang="en-US" sz="360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Freeform 2"/>
          <p:cNvSpPr/>
          <p:nvPr/>
        </p:nvSpPr>
        <p:spPr>
          <a:xfrm>
            <a:off x="2296080" y="578160"/>
            <a:ext cx="13695480" cy="9130320"/>
          </a:xfrm>
          <a:custGeom>
            <a:avLst/>
            <a:gdLst>
              <a:gd name="textAreaLeft" fmla="*/ 0 w 13695480"/>
              <a:gd name="textAreaRight" fmla="*/ 13695840 w 13695480"/>
              <a:gd name="textAreaTop" fmla="*/ 0 h 9130320"/>
              <a:gd name="textAreaBottom" fmla="*/ 9130680 h 9130320"/>
            </a:gdLst>
            <a:ahLst/>
            <a:cxnLst/>
            <a:rect l="textAreaLeft" t="textAreaTop" r="textAreaRight" b="textAreaBottom"/>
            <a:pathLst>
              <a:path w="13695782" h="9130521">
                <a:moveTo>
                  <a:pt x="0" y="0"/>
                </a:moveTo>
                <a:lnTo>
                  <a:pt x="13695782" y="0"/>
                </a:lnTo>
                <a:lnTo>
                  <a:pt x="13695782" y="9130522"/>
                </a:lnTo>
                <a:lnTo>
                  <a:pt x="0" y="9130522"/>
                </a:lnTo>
                <a:lnTo>
                  <a:pt x="0" y="0"/>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9" name="Group 2"/>
          <p:cNvGrpSpPr/>
          <p:nvPr/>
        </p:nvGrpSpPr>
        <p:grpSpPr>
          <a:xfrm>
            <a:off x="0" y="0"/>
            <a:ext cx="18287640" cy="10286640"/>
            <a:chOff x="0" y="0"/>
            <a:chExt cx="18287640" cy="10286640"/>
          </a:xfrm>
        </p:grpSpPr>
        <p:pic>
          <p:nvPicPr>
            <p:cNvPr id="120" name="Picture 3"/>
            <p:cNvPicPr/>
            <p:nvPr/>
          </p:nvPicPr>
          <p:blipFill>
            <a:blip r:embed="rId1"/>
            <a:srcRect l="0" t="2499" r="0" b="13122"/>
            <a:stretch/>
          </p:blipFill>
          <p:spPr>
            <a:xfrm>
              <a:off x="0" y="0"/>
              <a:ext cx="18287640" cy="10286640"/>
            </a:xfrm>
            <a:prstGeom prst="rect">
              <a:avLst/>
            </a:prstGeom>
            <a:noFill/>
            <a:ln w="0">
              <a:noFill/>
            </a:ln>
          </p:spPr>
        </p:pic>
      </p:grpSp>
      <p:sp>
        <p:nvSpPr>
          <p:cNvPr id="121" name="TextBox 4"/>
          <p:cNvSpPr/>
          <p:nvPr/>
        </p:nvSpPr>
        <p:spPr>
          <a:xfrm>
            <a:off x="1024200" y="4800600"/>
            <a:ext cx="6976800" cy="537480"/>
          </a:xfrm>
          <a:prstGeom prst="rect">
            <a:avLst/>
          </a:prstGeom>
          <a:noFill/>
          <a:ln w="0">
            <a:noFill/>
          </a:ln>
        </p:spPr>
        <p:style>
          <a:lnRef idx="0"/>
          <a:fillRef idx="0"/>
          <a:effectRef idx="0"/>
          <a:fontRef idx="minor"/>
        </p:style>
        <p:txBody>
          <a:bodyPr lIns="0" tIns="0" rIns="0" bIns="0" anchor="t">
            <a:spAutoFit/>
          </a:bodyPr>
          <a:p>
            <a:pPr defTabSz="914400">
              <a:lnSpc>
                <a:spcPts val="4479"/>
              </a:lnSpc>
              <a:tabLst>
                <a:tab pos="0" algn="l"/>
              </a:tabLst>
            </a:pPr>
            <a:r>
              <a:rPr lang="en-US" sz="3200" b="0" u="none" strike="noStrike">
                <a:solidFill>
                  <a:srgbClr val="000000"/>
                </a:solidFill>
                <a:effectLst/>
                <a:uFillTx/>
                <a:latin typeface="Be Vietnam Thin"/>
                <a:ea typeface="Be Vietnam Thin"/>
              </a:rPr>
              <a:t>-Lê Quang Tân, Phùng Quốc Tuấn-</a:t>
            </a:r>
            <a:endParaRPr lang="en-US" sz="3200" b="0" u="none" strike="noStrike">
              <a:solidFill>
                <a:srgbClr val="000000"/>
              </a:solidFill>
              <a:effectLst/>
              <a:uFillTx/>
              <a:latin typeface="Arial"/>
            </a:endParaRPr>
          </a:p>
        </p:txBody>
      </p:sp>
      <p:sp>
        <p:nvSpPr>
          <p:cNvPr id="122" name="TextBox 5"/>
          <p:cNvSpPr/>
          <p:nvPr/>
        </p:nvSpPr>
        <p:spPr>
          <a:xfrm>
            <a:off x="1028880" y="2338560"/>
            <a:ext cx="10149480" cy="1152360"/>
          </a:xfrm>
          <a:prstGeom prst="rect">
            <a:avLst/>
          </a:prstGeom>
          <a:noFill/>
          <a:ln w="0">
            <a:noFill/>
          </a:ln>
        </p:spPr>
        <p:style>
          <a:lnRef idx="0"/>
          <a:fillRef idx="0"/>
          <a:effectRef idx="0"/>
          <a:fontRef idx="minor"/>
        </p:style>
        <p:txBody>
          <a:bodyPr lIns="0" tIns="0" rIns="0" bIns="0" anchor="t">
            <a:spAutoFit/>
          </a:bodyPr>
          <a:p>
            <a:pPr defTabSz="914400">
              <a:lnSpc>
                <a:spcPts val="9403"/>
              </a:lnSpc>
              <a:tabLst>
                <a:tab pos="0" algn="l"/>
              </a:tabLst>
            </a:pPr>
            <a:r>
              <a:rPr lang="en-US" sz="6719" b="0" u="none" strike="noStrike">
                <a:solidFill>
                  <a:srgbClr val="000000"/>
                </a:solidFill>
                <a:effectLst/>
                <a:uFillTx/>
                <a:latin typeface="Be Vietnam Thin"/>
                <a:ea typeface="Be Vietnam Thin"/>
              </a:rPr>
              <a:t>Thanks for your listening</a:t>
            </a:r>
            <a:endParaRPr lang="en-US" sz="671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LibreOffice/26.2.4.2$Windows_X86_64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DAGUR60z378</dc:identifier>
  <dc:language>en-US</dc:language>
  <cp:lastModifiedBy/>
  <dcterms:modified xsi:type="dcterms:W3CDTF">2026-07-16T22:30:12Z</dcterms:modified>
  <cp:revision>3</cp:revision>
  <dc:subject/>
  <dc:title>QoS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